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AI appropriately
as you grow at Purdue.
Planned time: 90 seconds. The PowerPoint shows complete diagrams; progressive reveals are in the React deck.
DELIVERY CUE
Read the four questions on the right, one line each. Point out that later slides label the question they take up (top right) and that the closing slide answers all four.
TRANSCRIPT
This talk is about using AI appropriately as you develop at Purdue. You will meet it in your courses, in projects and research, and later in your career. The help that fits one activity may not fit another, and your use should change as your understanding grows.
Before each use of AI, ask four questions. What is the purpose? Name what you want to learn or accomplish. What is allowed? Check the rules for assistance and for sharing data. What must I do myself? Protect the reasoning you need to learn. How will I check it? Verify the result, and be able to explain your contribution. These questions apply both when you are learning a new concept and when you are using familiar knowledge to produce something useful.
Your statistics, mathematics, computing, and communication courses help you answer them, and so do independent practice and feedback from instructors, teammates, and mentors. Each part of this talk takes up one or two of these questions; the labels at the top of each slide show which. The last slide answers all four. The aim is to use powerful tools in ways that support your education and build your ability to understand, explain, and improve the work.
TRANSITION
Capable tools make these choices important from the beginning of your education.
Evidence and service collection: September 10, 2026; sources added or rechecked through October 13, 2026. Foundations and course review: September 20, 2026. Slides, figures, and transcript revised October 13, 2026 for one flow across the four opening questions; appropriate AI use throughout Purdue remains the theme. Numerical citations were checked against the saved primary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 to use AI as part of your Purdue education.
Planned time: 100 seconds. The PowerPoint shows complete diagrams; progressive reveals are in the React deck.
DELIVERY CUE
Follow the numbers: (1) what AI can do, from provider reports; (2) the employer figure, 35%; (3) Stanford and Yale, a separate question. Then Purdue's AI competency requirement and the takeaway.
TRANSCRIPT
First, what capable AI can do now: plan an analysis, write and test a program, compare results and revise the work, and draft an account of the evidence. OpenAI's report on GPT-6 Astra and Anthropic's on Claude Fable describe this kind of work. These are provider reports, so any particular use still has to be checked with its own data and requirements. AI-assisted work can be excellent.
Second, what employers expect. In NACE's spring 2026 survey, employers reported AI skill requirements for 35 percent of their entry-level jobs, and they also rated communication, teamwork, and critical thinking highly.
Third, what employment data show, which is a separate question. Stanford's August payroll analysis finds that employment for young workers lagged in jobs where AI can do more of the tasks. That is descriptive, not proof that AI caused it, and I will come back to it. Yale's broader analyses find no clear overall effect; their populations and methods differ.
Purdue is responding: beginning with your class, every undergraduate completes an AI working competency to graduate, with an emphasis on judgment and responsible use rather than any one tool.
I cannot predict your job market at graduation. The practical takeaway is to learn to use capable tools while building the knowledge, communication, and judgment to use them well.
TRANSITION
We start with the fourth question, how will I check it? Even careful analyses of the same data can disagree.
CAVEATS
Capability workflow is schematic. NACE: 185 respondents overall, varying item denominators; 35% concerns their reported jobs. Stanford's August 2026 headline is a 19% kept-pace shortfall for ages 22–25, not 19% of jobs eliminated by AI; no economy-wide displacement or causal identification established. Do not combine it with earlier regression headlines. Yale's broader samples/designs do not directly replicate Stanford. No graduation-date forecast.
SOURCES
OpenAI, GPT-6 Astra release article
https://openai.com/index/gpt-6-astra/
Release article saved as plain text; figures and interactive examples remain online. Provider-reported scientific, coding, document and computer-use capabilities; benchmark results depend on configuration and evaluation design.
Anthropic, Claude Fable
https://www.anthropic.com/claude/fable
Contemporary provider capability report, checked September 10, 2026. Not an independent comparison or a classroom experiment.
NACE, Job Outlook 2026: Spring Update
https://naceweb.org/docs/default-source/default-document-library/2026/publication/research-report/2026-job-outlook-report-spring-update.pdf
Employer survey; see report slides on AI skills and career readiness. 185 respondents overall; item denominators vary.
Brynjolfsson, Chandar and Chen, Canaries — August 2026 revision
https://digitaleconomy.stanford.edu/publication/canaries-in-the-coal-mine-six-facts-about-the-recent-employment-effects-of-artificial-intelligence/
ADP payroll through June 2026. Ages 22–25 in highly exposed occupations: 19% below a kept-pace comparison with less-exposed peers, not a causal estimate of jobs eliminated. Sample composition, education, pretrends and specification sensitivity matter. Earlier 13%/16% headlines use different estimators.
Yale Budget Lab (May 2026), AI and labor-market identification
https://budgetlab.yale.edu/research/what-we-do-and-dont-know-about-how-ai-affecting-labor-market
Synthetic comparison design finds no clear broad employment/wage effect. National-survey coverage, age groups and exposure definitions differ from Stanford; averages can conceal heterogeneous effects.
Yale Budget Lab, tracker updated August 19, 2026
https://budgetlab.yale.edu/research/tracking-impact-ai-labor-market
No clear broad labor-market footprint reported. Local copy preserves landing-page text, not the interactive application. No forecast for this audience's graduation year.
Purdue (August 19, 2026), AI competency graduation requirement
https://www.purdue.edu/newsroom/2026/Q3/purdues-ai-competency-graduation-requirement-begins-in-every-undergraduate-degree-program/
Beginning with the fall 2026 incoming class, every undergraduate completes an AI working competency in the core curriculum. Emphasizes critical thinking, responsible use and deciding whether AI fits a task, not operating particular tools.
Evidence and service collection: September 10, 2026; sources added or rechecked through October 13, 2026. Foundations and course review: September 20, 2026. Slides, figures, and transcript revised October 13, 2026 for one flow across the four opening questions; appropriate AI use throughout Purdue remains the theme. Numerical citations were checked against the saved primary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Human teams and AI analysts split on the same data.
Planned time: 70 seconds. The PowerPoint shows complete diagrams; progressive reveals are in the React deck.
DELIVERY CUE
Read the bars top to bottom: human teams split, clean AI runs split, flagged AI runs split. The point is dispersion, not which group is right. Mention the memorization caution.
STUDY DETAILS
• Models: Claude Sonnet 4.5, Claude Haiku 4.5, Qwen3 Coder 480B, Qwen3 235B.
• Design: 4 models × 5 prompt framings × 3 datasets; 4,946 runs in total.
• Every run got the same data, hypothesis, and prespecified estimand.
• Tools: Python session, shell, file editor, code submission, and a planning (“think”) tool.
• Each agent wrote and ran its own analysis code on the real data.
• No internet: networking was off in the sandbox; only the data and preinstalled libraries.
• Limits: 250 messages or 60 minutes per run; temperature 1.0 for varied outputs.
• An AI auditor (Claude Sonnet 4.5) read each full transcript, including every tool call.
• Pilot runs: some reports had fabricated results or recalled published findings.
• Soccer: any recall would have come from training data, not browsing.
• The no-internet setting is in the authors' code (preprint version); the paper lists the same tools.
TRANSCRIPT
Many analysts, one dataset is not a new problem. In a well-known study, twenty-nine human teams analyzed the same soccer data: about two thousand players in the top men's leagues of England, Germany, France, and Spain in the 2012–13 season, paired with every referee they had played under. Are referees more likely to give red cards to players with darker skin? Twenty teams found significant evidence of bias; nine did not.
This year's PNAS study gave AI analysts the same data and question. Each one chose its own analysis. Among runs the auditor found no issues with, about a third found significant evidence of bias and two-thirds did not; runs with minor issues split about evenly. Defensible choices accumulate, for people and for AI.
One caution: the agents had no internet access, but this result is widely published, so a model may have recalled it from its training data rather than discovered it.
TRANSITION
So the authors also asked a question the models were unlikely to have memorized, and varied how they asked it.
CAVEATS
Data: 2,053 players in the first male divisions of England, Germany, France, and Spain (2012–13 season) and all 3,147 referees they played under in their careers; 146,028 player–referee pairs; skin tone rated from photos by two blind raters (codebook). Human comparison: Silberzahn et al. (2018), as reported by Bertran, Fogliato and Wu (PNAS 2026). Bar percentages: 20 of 29 teams (69%), 35 of 95 no-issue AI runs (37%), 281 of 516 minor-issue runs (54%). AI counts come from the authors' released runs (arXiv-version experiments; SHA-256 verified): soccer runs with a numeric estimate and p-value and no extraction warning, rated Compliant (95) or Minor issues (516) by the Claude Sonnet 4.5 auditor. To match the human count, an AI run “found significant bias” when its two-sided p &lt; .05 with a positive risk difference: 35 of 95 and 281 of 516. The agents' own Supported verdicts (which the prompt tied to magnitude, uncertainty, and direction at alpha = .05, with inconclusive counted as Not Supported) nearly match: 34 and 283. The paper treats soccer as its high-contamination task because the data and conclusions are widely published. The released estimates mix proportion and percentage-point units, so the slide compares verdicts rather than effect sizes.
SOURCES
Bertran, Fogliato and Wu, PNAS (July 2026), Many AI analysts
https://doi.org/10.1073/pnas.2606495123
Published main text saved here; the published PNAS PDF supplied by the user on October 12, 2026 is resources/bertran-et-al-2026-many-ai-analysts-one-dataset-navigating-the-agentic-data-science-multiverse.pdf (source of the slide figure). 4,946 runs, 3,303 compliant; three datasets, four models, five personas. Defensible choices yield divergent conclusions; confirmation-seeking framing shifts support rates by 34–66 points. AI auditing narrows but does not remove dispersion; disagreement alone is not an error.
Bertran, Fogliato and Wu: released run-level results (GitHub, commit d489f03)
https://github.com/amazon-science/agentic-forking-path/tree/d489f03b143fcaa9befb8cc443594ff63ec61eaa/experiment_data
Authors' public release of the arXiv-version experiments (4,194 runs with final analyses; SHA-256 verified; README, LICENSE, and NOTICE saved alongside). The slide plots the 688 anes-views runs the AI auditor rated Compliant or Minor issues. Each run's code, report, and transcript are in experiment_data/workspaces.
Silberzahn et al., crowdsourced soccer data and codebook (OSF)
https://osf.io/fv8c3/
Original many-analyst dataset: all 2,053 players in the first male divisions of England, Germany, France, and Spain in the 2012–13 season; all 3,147 referees they played under in their professional careers; 146,028 player–referee dyads with matches together and red cards; skin tone rated from profile photos (1,586 players) by two raters blind to the question on a 5-point scale. Codebook copy from the Bertran, Fogliato and Wu repository (commit d489f03).
Evidence and service collection: September 10, 2026; sources added or rechecked through October 13, 2026. Foundations and course review: September 20, 2026. Slides, figures, and transcript revised October 13, 2026 for one flow across the four opening questions; appropriate AI use throughout Purdue remains the theme. Numerical citations were checked against the saved primary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what drives an AI analysis’s verdict.
Planned time: 80 seconds. The PowerPoint shows complete diagrams; progressive reveals are in the React deck.
DELIVERY CUE
Point to one dot, then the zero line: estimates on both sides. Then solid versus hollow: the auditor flagged minor issues in most runs. Then the framing gap and the audit. Action: don’t lead the AI (a find-support prompt works like a leading survey question); test the claim, try other reasonable analyses, report all results with the prompt.
SYMBOLIC IDEOLOGY
• Symbolic ideology: the label people give themselves, e.g., the ANES 7-point liberal–conservative self-placement.
• Operational ideology: the positions people take on specific issues.
• Issues fall on at least two dimensions: economic (taxes, spending, health insurance) and social (abortion, religion, same-sex marriage).
• One label can reflect either: someone may call themselves conservative for social or religious reasons while favoring more government spending.
• So “misalignment” depends on which issues enter the policy index: economic items can make that person look misaligned; social items may not.
• The agents built different indexes (e.g., government spending, health insurance, defense, racial policy, abortion), so they measured different things: one source of the spread.
• A tighter link means a smaller gap, so the hypothesis predicts a negative effect of TV news: left of zero on the slide.
• The auditor flagged indexes built from feelings toward liberals and conservatives: that is symbolic ideology again.
STUDY DETAILS
• Models: Claude Sonnet 4.5, Claude Haiku 4.5, Qwen3 Coder 480B, Qwen3 235B.
• Design: 4 models × 5 prompt framings × 3 datasets; 4,946 runs in total.
• Every run got the same data, hypothesis, and prespecified estimand.
• Tools: Python session, shell, file editor, code submission, and a planning (“think”) tool.
• Each agent wrote and ran its own analysis code on the real data.
• No internet: networking was off in the sandbox; only the data and preinstalled libraries.
• Limits: 250 messages or 60 minutes per run; temperature 1.0 for varied outputs.
• An AI auditor (Claude Sonnet 4.5) read each full transcript, including every tool call.
• Pilot runs: some reports had fabricated results or recalled published findings.
• Soccer: any recall would have come from training data, not browsing.
• The no-internet setting is in the authors' code (preprint version); the paper lists the same tools.
TRANSCRIPT
The question: does watching more TV news tighten the link between people's ideology and their policy views? Each dot is one AI analysis of the same national survey; left of zero means a tighter link, as hypothesized. All 688 got an acceptable rating from an AI auditor, solid dots with no issues and hollow dots with minor ones. Yet their estimates fall on both sides of zero.
Framing mattered too. A prompt pushing the agent to find support produced "supported" verdicts in 43 percent of runs, versus 13 percent with a prompt calling the hypothesis implausible. The auditor flagged major problems in 45 percent of runs, removing most of that steering, but the acceptable analyses still disagree.
So don't lead the AI: a find-support prompt works like a leading survey question. Ask it to test the claim, try other reasonable analyses, and report all results with your prompt.
TRANSITION
Checking applies to your own use of AI, too.
CAVEATS
Published PNAS version, July 14, 2026 (user-supplied PDF, read October 12). Direction labels count the 688 plotted estimates: 334 below zero (a tighter link, as hypothesized), 352 above, and 2 exactly zero. Of 4,946 runs, 3,303 (67%) passed auditor screening; three datasets, four models (Claude Sonnet 4.5, Claude Haiku 4.5, Qwen3 Coder 480B, Qwen3 235B A22B), five personas; about 30 compliant runs per dataset-model-persona cell. Card numbers are for this question, from the released runs: Supported in 31 of 239 Negative-prompt runs (13.0%) vs. 123 of 284 Strong-CS runs (43.3%); the published paper reports a 34-point Negative-to-Strong-CS gap for anes-views (34 to 66 across datasets). The auditor rated 467 runs Major issues and 99 Noncompliant (566 of 1,270, 45%); among acceptable runs, Supported was 13.0% (Negative, 20 of 154) vs. 19.8% (Strong CS, 18 of 91). Across all datasets the paper reports 3,303 of 4,946 runs (67%) passing screening. Strong CS was explicitly encouraged toward P-hacking-style exploration; passive Positive framing produced smaller shifts. The figure is redrawn from the authors' public release (github.com/amazon-science/agentic-forking-path, experiment_data/results.csv; SHA-256 verified; arXiv-version experiments, 4,194 runs with final analyses): anes-views runs the AI auditor rated Compliant (152 runs: 7 supported; estimates 36 below zero, 115 above, 1 at zero) or Minor issues (536 runs: 115 supported), with numeric estimates and no extraction warning. This reproduces the roughly 690 specifications of published Fig. 1; five estimates beyond each axis end are drawn at the ends. The auditor is itself an LLM (Claude Sonnet 4.5) and not always consistent, for example rating unweighted survey analysis critical in one review and minor in another. The AI-generated multiverse need not match a human one. Fully autonomous agents were studied; the authors extend the framing lesson to AI-assisted analysis. Defensible analytic variation is distinct from implementation errors, such as a wrong inclusion rule or unit.
SOURCES
Bertran, Fogliato and Wu, PNAS (July 2026), Many AI analysts
https://doi.org/10.1073/pnas.2606495123
Published main text saved here; the published PNAS PDF supplied by the user on October 12, 2026 is resources/bertran-et-al-2026-many-ai-analysts-one-dataset-navigating-the-agentic-data-science-multiverse.pdf (source of the slide figure). 4,946 runs, 3,303 compliant; three datasets, four models, five personas. Defensible choices yield divergent conclusions; confirmation-seeking framing shifts support rates by 34–66 points. AI auditing narrows but does not remove dispersion; disagreement alone is not an error.
Bertran, Fogliato and Wu: released run-level results (GitHub, commit d489f03)
https://github.com/amazon-science/agentic-forking-path/tree/d489f03b143fcaa9befb8cc443594ff63ec61eaa/experiment_data
Authors' public release of the arXiv-version experiments (4,194 runs with final analyses; SHA-256 verified; README, LICENSE, and NOTICE saved alongside). The slide plots the 688 anes-views runs the AI auditor rated Compliant or Minor issues. Each run's code, report, and transcript are in experiment_data/workspaces.
Evidence and service collection: September 10, 2026; sources added or rechecked through October 13, 2026. Foundations and course review: September 20, 2026. Slides, figures, and transcript revised October 13, 2026 for one flow across the four opening questions; appropriate AI use throughout Purdue remains the theme. Numerical citations were checked against the saved primary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Judge AI’s help by measurement, not impressions.
Planned time: 120 seconds. The PowerPoint shows complete diagrams; progressive reveals are in the React deck.
DELIVERY CUE
Step 1, left to right: expected faster (1), measured slower (2), still believed faster (3). Step 2, the follow-up (4): leans faster, intervals include zero, and the bigger problem is bias: random assignment led developers to leave out the tasks AI helps most. Then the two lessons; bridge to learning.
WHY DEVELOPERS LEFT TASKS OUT (FOR QUESTIONS)
• METR attributes the missing tasks primarily to developers expecting large AI speedups, and partly to lower pay ($50 instead of $150 per hour).
• “I avoid issues like AI can finish things in just 2 hours, but I have to spend 20 hours. I will feel so painful if the task is decided as AI-disallowed.” (a new participant)
• “my head’s going to explode if I try to do too much the old fashioned way because it’s like trying to get across the city walking when all of a sudden I was more used to taking an Uber.” (a new participant)
• Some developers were less likely to finish tasks assigned to no AI, and one finished none of them. METR does not say whether those tasks were beyond their skills or not worth the time.
• These were experienced developers (median 10 years) on their own projects; the quotes describe slow and painful, not impossible.
• For students the risk is different: Shen &amp; Tamkin and Liu found lower unaided performance after relying on AI while learning.
VISUAL STEPS
1. The 2025 trial: expected faster, measured slower, still believed faster.
2. The 2025–26 follow-up: estimates lean faster, are not significant, and are biased because developers left out AI-friendly tasks.
TRANSCRIPT
How would you know whether AI is actually helping you? METR ran randomized trials with experienced open-source developers, assigning each real task to allow or disallow AI tools.
In the early-2025 study, the developers expected AI to cut their time by about a quarter. The measurement went the other way: with AI allowed, tasks took about nineteen percent longer, with a confidence interval from two to thirty-nine percent. Afterward, the developers still believed AI had cut their time by about a fifth.
A year later, with newer tools, METR measured again. The estimates now lean toward speedup: about eighteen percent less time for ten returning developers and four percent for new ones. Both intervals still include zero, so neither result is statistically significant.
The bigger problem is bias, not noise. Each task was randomly assigned to allow or forbid AI, like a coin flip. By then, many developers did not want to risk doing a task without AI when they expected AI to help a lot, so thirty to fifty percent of them left some of those tasks out of the study. The tasks that stayed in were ones where AI matters less, so the comparison understates the speedup. A confidence interval cannot show that kind of error.
Two lessons. How helpful AI feels is not evidence; a measurement is. And check who and what was measured, and when: tools change quickly, and what a study leaves out can bias its result.
TRANSITION
Experienced developers chose not to work without AI; students who learn by delegating may not be able to. The next studies measure exactly that.
CAVEATS
Redrawn from the timeline figure in METR's February 24, 2026 update (CC-BY; the image is saved beside the update's text snapshot as 2026_metr_uplift_timeline.png), with the 2025 paper's forecast (−24%) and post hoc estimate (−20%) added as hollow points. 2025: 16 developers, 246 tasks, February–June 2025; measured +19% (95% CI +2% to +39%, as restated in the update). Follow-up from August 2025: 10 returning developers (137 tasks per the figure), −18% (CI −38% to +9%); 47 new developers (690 tasks per the figure), −4% (CI −15% to +9%). Both intervals include zero. METR calls these unreliable: tasks were randomized to AI-allowed or AI-disallowed, and 30–50% of developers chose not to submit some tasks because they did not want to do them without AI, so tasks with high expected uplift are systematically missing; some developers also declined to participate; pay fell from $150 to $50 per hour, and timing was unreliable for developers running several agents. METR believes the true speedups were higher than observed. Experienced developers on familiar large repositories, not students; productivity, not learning. The METR trial is also one of the three datasets in the many-analysts study.
SOURCES
METR (July 2025), Early-2025 AI and experienced open-source developer productivity
https://metr.org/Early_2025_AI_Experienced_OS_Devs_Study-paper.pdf
Randomized trial: 16 experienced developers, 246 tasks on their own repositories, February–June 2025 tools. Forecast −24% time, post hoc estimate −20%, measured +19%. Experts on familiar projects; productivity, not learning; not current tools.
METR (February 24, 2026), Changing the developer productivity experiment
https://metr.org/blog/2026-02-24-uplift-update/
States the 2025 estimate's confidence interval (+2% to +39%). The new data are unreliable: 30–50% of developers withheld tasks they did not want to do without AI, pay fell, and timing was unreliable for developers running several agents. METR believes developers are likely more sped up in early 2026 but cannot say by how much.
Bertran, Fogliato and Wu, PNAS (July 2026), Many AI analysts
https://doi.org/10.1073/pnas.2606495123
Published main text saved here; the published PNAS PDF supplied by the user on October 12, 2026 is resources/bertran-et-al-2026-many-ai-analysts-one-dataset-navigating-the-agentic-data-science-multiverse.pdf (source of the slide figure). 4,946 runs, 3,303 compliant; three datasets, four models, five personas. Defensible choices yield divergent conclusions; confirmation-seeking framing shifts support rates by 34–66 points. AI auditing narrows but does not remove dispersion; disagreement alone is not an error.
Evidence and service collection: September 10, 2026; sources added or rechecked through October 13, 2026. Foundations and course review: September 20, 2026. Slides, figures, and transcript revised October 13, 2026 for one flow across the four opening questions; appropriate AI use throughout Purdue remains the theme. Numerical citations were checked against the saved primary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 what students can do after AI help.
Planned time: 150 seconds. The PowerPoint shows complete diagrams; progressive reveals are in the React deck.
DELIVERY CUE
Left first: the gold bars rise (homework) while the red bars fall (closed-book exams); then the split — students who kept spending the time learned about as much. Right: less practice time and lower proctored accuracy, each against the graph-problem control. Bottom row: the randomized trials. Land the action: keep the effort; test yourself later, unaided.
STRÖMBERG ET AL. (2026): SECONDARY SCHOOL, 30 MONTHS
• Who: 26,811 students in grades 7–12 at nine schools covering 90% of secondary students in one county in central China (population over 1 million).
• Data: 30 months of school records: homework scores and completion time, monthly closed-book exams, and the high-school (Zhongkao) and college (Gaokao) entrance exams, across nine subjects.
• AI use: a June 2025 survey asked when each student started using generative AI; about 80% had by then. The start month is self-reported and retrospective.
• Design: staggered difference-in-differences comparing students before and after they started using AI with students who had not yet started; standard errors clustered by class.
• Six to ten months after starting: homework +18% of the pre-AI average; homework time 64 → 45 minutes; closed-book monthly exams −20% (about 0.7 SD within a subject).
• Entrance exams: about −7% averaged over all AI users; −18% (Gaokao) and −24% (Zhongkao) for students who started two or more years earlier; weaker identification than the monthly exams.
• Checks: no differences before AI adoption (parallel pre-trends); 2022 entrance exams, taken before AI was available, show no difference.
• Who lost most: the ~80% of AI users whose homework time fell below that of the fastest non-AI students; AI users who spent similar time scored similarly (descriptive, not causal).
• By subject: social sciences −27%, STEM −22%, English −17%, Chinese −9%; larger losses for younger students, boys, and high achievers.
• The penalty for five months of AI use fell from about 25% (early 2023) to 16% (June 2025): students may be adapting.
ALEKS: RISMANCHIAN ET AL. (2026)
• Platform: ALEKS (McGraw Hill) math from grade 5 through College Algebra, 3.2 million learning interactions from 2015 to 2025, plus the ALEKS PPL college placement assessment used at 400+ U.S. institutions.
• Comparison: text word problems whose whole content can be pasted into a chatbot vs. interactive graph problems with no text to copy (the control). The difference is format, not what AI can solve.
• Practice time: college students' time on pasteable problems fell 2.8% per quarter after ChatGPT, 27% over eleven quarters (95% CI −34% to −19%), relative to graph problems.
• Retention: on proctored, randomly assigned retention questions, the odds of a correct answer fell 25% (OR 0.75, 95% CI 0.56–0.98; 6,698 responses across 66 topics).
• Check 1, no AI available: on proctored placement tests the word-versus-graph time gap did not change after ChatGPT; on unproctored tests it fell 11.6% (95% CI −16.3% to −6.5%).
• Check 2, before ChatGPT: fixed differences in format and difficulty are removed by design; college word problems were drifting slower before ChatGPT, the opposite direction, so −27% is conservative.
• Check 3, age: no change in grade 5, a small one in middle school, large ones in high school and college, matching how much each group uses AI.
• Check 4, shuffled labels: randomly reassigning which problems count as pasteable never produced an effect this large (p &lt; 0.001).
• Unproctored retention questions: +85% odds of a correct answer, which mainly shows AI use during unproctored tests; a validity check, not a learning result.
• Limits: no data on which students used AI; not randomized; under review; McGraw Hill co-authors.
MARYLAND TRIAL: LIU, SWEET ET AL. (2026)
• Where: University of Maryland, fall 2025; 2,379 undergraduates and 30 instructors in STEM, social sciences, humanities, and education.
• Design: instructors randomized within blocks of the same or similar courses (34 clusters); results reported for all blocks and for nine same-course blocks.
• Tool: a GPT-4o study assistant on the course website that retrieved instructor-selected course materials, much like a GenAI Studio custom model with a Knowledge Base.
• Use: only about 15% of students with access used it (about four sessions); 74% of requests sought information, explanations, or solutions; 0.7% asked for feedback on their own work.
• Engagement in same-course blocks: participation −0.90 SD, active days −0.51 SD, page views −0.37 SD; similar declines across all blocks.
• Grades in same-course blocks: −4.1 points (−0.37 SD) with controls; letter grades −0.11 GPA points; not significant across all blocks; homework unaffected.
• First-generation students' estimated grade losses were more than twice those of continuing-generation students.
• Limits: course grades rather than a common exam; ChatGPT and Gemini were available to everyone; the authors attribute the effects to changes in AI use and engagement prompted by the tutor, not the tutor alone; few clusters, though randomization inference agrees.
TRANSCRIPT
This is the third question: what must you do yourself? A strong assisted answer and acquired understanding are different outcomes, and this year's studies show why that matters.
On the left is the largest study so far: more than twenty-six thousand secondary-school students in a county of over a million people in central China, followed for thirty months through their school records. After students started using AI, their homework scores rose by about eighteen percent and their homework took about a third less time. But their scores on closed-book monthly exams fell by about twenty percent, and students who had used AI for two years or more scored about eighteen percent lower on the college entrance exam. The losses were concentrated among the roughly eighty percent of AI users whose homework time collapsed, a sign that AI was doing the homework. Students who kept spending the time scored about the same as students without AI.
On the right is college math on the ALEKS platform. After ChatGPT appeared, college students spent about a quarter less time practicing word problems that can be pasted straight into a chatbot, and on proctored tests the odds of answering those problems correctly fell by about a quarter. Interactive graph problems, which have no text to paste, serve as the control: they show what would have happened without easy AI help. Less practice, less retained knowledge.
Neither study was randomized, so the bottom row adds two randomized college trials. At the University of Maryland, adding a course AI tutor reduced students' participation in their courses, and within the same course, final grades were lower. In an online MBA course, a tutor built to make students reason improved their written reasoning compared with free use of ordinary AI. Access alone is not the point; how the AI is used is.
So keep the effort that builds the skill. If AI makes your homework much faster, ask whether you are still doing the thinking, and test yourself later, without help, on a changed problem.
TRANSITION
If access alone is not the point, what does good use look like when AI is allowed?
CAVEATS
Study details, checks, and limits for Strömberg, ALEKS, and Maryland are in the briefs below; the MBA trial (86 students; +6.6 of 55 points on the post-test) is detailed on the next slide. Strömberg and ALEKS are not randomized; the Maryland grade effect holds only within the same course; the MBA trial is small. Liu (GPT-5, arithmetic and reading), Maier (metacognitive feedback, fraction arithmetic), the teacher-led Gemini package, NUMI and Khanmigo are in the linked comparison. Shen and Tamkin's coding study is on the coding-agents slide.
SOURCES
Strömberg, Lei and Wu (June 2026), The generative AI learning penalty
https://papers.ssrn.com/sol3/papers.cfm?abstract_id=6868618
Staggered difference-in-differences; 26,811 grade 7–12 students in one Chinese county; 30 months of administrative homework, exam and entrance-exam records. Homework +18%, homework time 64 to 45 minutes, closed-book exams −20% (6–10 months); entrance exams about −7% on average and −18%/−24% after two or more years (weaker identification). Losses concentrated among students whose homework time collapsed. Self-reported adoption month; one county; secondary school. PDF supplied by the user.
Rismanchian et al. (May 2026), Faster completion, less learning (ALEKS)
https://arxiv.org/abs/2605.21629
Quasi-experimental ALEKS comparison of AI-susceptible and graph-based problems over ten years; proctored retention odds −25% (OR 0.75, 95% CI 0.56–0.98), non-proctored +85%; college time on AI-susceptible problems −26.9%. Under review; McGraw Hill co-authors; no individual AI-use data.
Liu, Sweet et al. (September 2026), Course-integrated AI tutoring RCT (Maryland)
https://doi.org/10.26300/y3f8-vh05
2,379 undergraduates and 30 instructors randomized in fall 2025; GPT-4o course tutor. Participation −0.90 SD and same-course final grades −0.37 SD; full-sample grade effect not significant; course grades; about 15% used the tutor, so effects likely reflect broader AI-use change.
Yang, Van Alstyne and Dellarocas (September 2026), When AI tutors speak
https://arxiv.org/abs/2609.23958
Preregistered RCT, July–August 2026: 86 online MBA students randomized to a GPT-5.4 tutor grounded in course materials that required an attempt before explaining, or to self-study with consumer AI available; 51 took both tests. Post-test total +6.63 of 55 points (95% CI 1.95–11.31; p = .007; covariate-light +3.56, p = .079), mainly in written reasoning; instructor's final +2.6 of 100 in the same direction. Answers scored by a panel of AI graders.
Liu et al. (2026), v4; PDF marked COLM 2026
https://arxiv.org/html/2604.04721v4
GPT-5 supplied with correct solutions. Largest experiment: 585 analyzed; subsequent solve rate .71 vs .77 (p=.020); skipping difference not significant (p=.239). Immediate withdrawal, not long-term skill loss.
Maier et al. (September 2026), Metacognitive feedback reduces cognitive offloading
https://arxiv.org/abs/2609.20143
Preregistered online experiment (N = 704), fraction arithmetic: metacognitive feedback reduced answer offloading (OR 0.47) and improved the unaided test (OR 1.51); an effort reward did not.
LearnLM Team and Fab AI (May 2026), Teaching with Gemini
https://storage.googleapis.com/deepmind-media/LearnLM/learnLM_sierraleone_may26.pdf
Provider-associated technical report. 1,763 assessed at least once; 48 classrooms, 12 Sierra Leone schools; 1,423 in primary adjusted analysis. Teacher-led eight-week package using Gemini 2.5 Pro then 3.0 Pro: +.258 SD, 95% CI [.027,.488], p=.029. No delayed retention test.
Oreopoulos et al. (August 2026), Mastery-based AI math practice
https://www.nber.org/papers/w35621
NBER working paper; over 6,000 middle-school students, factorial randomization and one-week assessment. AI vs the same practice platform without AI. Limited, marginal delayed evidence concentrated on practiced first-exercise material. Exact deployed model not identified in reviewed text.
Oreopoulos and Low (August 2026), Two-year Khanmigo experiment
https://www.nber.org/papers/w35620
NBER working paper; 53 grade-within-school clusters, 18 middle schools, 2024–26 deployment. Combined Khan Academy/Khanmigo program vs existing remedial practice; gains do not isolate the AI component. Tutor engagement limited; non-AI platform comparisons indirect.
Shen and Tamkin (2026), How AI Impacts Skill Formation
https://arxiv.org/abs/2601.20245
Randomized experiments; 52 analyzed participants with Python experience learning the Trio library with or without a GPT-4o assistant that could supply correct code. The AI group scored lower on the immediate quiz (d = 0.74, p = .010) without a significant speedup. Interaction-pattern clusters (n = 2–7) were observed, not randomized: heavy reliance on AI to write or debug code averaged below 40%; conceptual questions or requests for explanations averaged 65% or higher.
Additional research: six questions and talk refinements
12_further_research_and_talk_updates.html
Claim-focused review of 13 supplemental sources. No direct validation found for new post-AI junior-DS screens against later job performance; search is not exhaustive.
Evidence and service collection: September 10, 2026; sources added or rechecked through October 13, 2026. Foundations and course review: September 20, 2026. Slides, figures, and transcript revised October 13, 2026 for one flow across the four opening questions; appropriate AI use throughout Purdue remains the theme. Numerical citations were checked against the saved primary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Attempt first, then ask AI for hints, not answers.
Planned time: 140 seconds. The PowerPoint shows complete diagrams; progressive reveals are in the React deck.
DELIVERY CUE
Panel 1: everyone had AI; only the instructions differed. Panel 2: a current model, a tutor that required attempts; small study. Panel 3: read the prompt, then name the context students must add. Mention that lab studies disagree.
GALLEGOS (2026): TUTOR-MODE PROMPTS IN AN ECONOMETRICS COURSE
• Where: required third-year econometrics, Universidad Adolfo Ibáñez (Chile), seven sections, August–December 2025; preregistered (AEA RCT Registry).
• Tool: a ChatGPT assistant built from ten semesters of the course's materials, open to every student through free ChatGPT; the underlying model is not reported.
• Design: 384 students randomized, 289 analyzed. The guidance group got three emails one to two days before the final: a tutor prompt, a practice-questions-without-solutions prompt, and a check-the-answer prompt.
• Usage: 95% of the control group used some AI to study; the guidance shifted use toward tutor-style interaction.
• Results on the in-person final: +0.22 SD (SE 0.10); +3.5 of 100 points; pass rate +12.8 points (SE 4.9) from 64.6%; open-response +5.0 points, multiple choice not significant.
• Limits: one course; the three prompts were sent together; 35% of the control group also saw the guidance, which biases the estimate toward zero; working paper.
YANG ET AL. (2026): GPT-5.4 TUTOR IN AN ONLINE MBA
• Where: a graduate corporate-finance module in Boston University's online MBA, July–August 2026; preregistered on OSF.
• Tutor: GPT-5.4 grounded in the course materials. Its central rule: require an attempt before explaining; when a student is stuck, give a smaller step or a graduated hint, never simply the answer; close each topic with an unaided transfer problem.
• Comparison: 86 students randomized; the holdout studied as usual, and 21–42% of them used consumer AI (Claude, Gemini, ChatGPT) for coursework in a given week. 51 took both the pre- and post-test.
• Result: post-test total +6.63 of 55 points (95% CI 1.95–11.31; p = .007) in the preregistered primary model; +3.56 (p = .079) with fewer covariates. The gain was mostly in written reasoning.
• Written reasoning: answers that build a connected argument (relational or better) rose from 8% to 49% with the tutor vs. 8% to 27% without (adjusted gap +22 points, 95% CI 2–42).
• Instructor's final (all 86 students): +2.6 of 100 (95% CI 0.1–5.0), on an exam where most students reached the maximum; no difference on the midterm taken before the tutor began.
• Limits: one module of working professionals; 41% did not complete both tests; online tests; short answers scored by a panel of AI graders (a second panel agreed in magnitude).
WHAT COMPLICATES THIS
• Forced waiting: in a Berlin lab (February 2025, GPT-4-based tutor), ten minutes of reading before AI unlocked did not beat AI from the start (+0.13 vs. +0.34 SD over textbook only; difference p = .066). Engage first; a timer is not the point.
• Hint-only tutors in single sessions: in a TUM programming lab (January 2025, GPT-4), knowledge gains were similar with a hint tutor, ChatGPT, or no AI. A small GPT-5.2 lab study (17 per group) found larger immediate gains with unrestricted help than with a Socratic tutor.
• Advice alone: a Nottingham trial (December 2024) that emailed guidance to use AI for explanations found no detectable exam effect (−0.23 points on 15, SE 0.19).
• Earlier evidence: in a 2023 GPT-4 trial in Turkish high schools, answer-giving AI raised practice scores 48% but lowered the unaided exam 17%; a hint-giving tutor avoided the loss (Bastani et al., PNAS 2025).
• Reading the pattern: positive results come from real courses with problem-solving exams; null or negative results mostly come from single lab sessions with immediate tests, where answers can work like worked examples.
TRANSCRIPT
Two randomized trials in real courses from the past year give the same answer.
First, a required econometrics course in Chile last fall. Every student had a ChatGPT assistant built from the course materials, and nearly all of them used AI to study. Before the final, a random half received three short emails with prompts for using it as a tutor. On the in-person final, about sixty-five percent of the other students passed. The pass rate for students who received the prompts was about thirteen points higher, and the gain came on the open-response problems, where you have to reason through a solution.
Second, the online MBA course from the last slide, a finance module run this summer with a current model, GPT-5.4. The tutor required an attempt before it explained anything, and when a student was stuck it offered a smaller step, not the answer. The comparison group studied as usual, with ChatGPT, Claude, and Gemini available. Before the module, eight percent of written answers in each group built a connected argument. Afterwards, forty-nine percent did with the tutor, compared with twenty-seven percent without it. It is a small study, so treat the size of that gap as uncertain.
Here is the prompt the econometrics students received: no final answer, guide me step by step, make me do the next step, then give me a similar exercise. When you use one like it, add your course topic and notation, what you tried, and the precise gap, within the help your course allows.
Not every study agrees: in short lab sessions with an immediate test, hint-only tutors often did no better than plain answers. Studies of real courses favor guided use.
So start with an attempt. The first obstacle is a reason to think further, not an automatic hint. When you ask, ask for the next step, not the finished answer, and later test yourself on a changed problem without help.
TRANSITION
All of this happens within what your course allows, which is the second question: what is allowed?
CAVEATS
Study details and conflicting evidence are in the briefs below. Pass-rate bars: the control-group rate (64.6%) and that rate plus the intention-to-treat effect of the emails (+12.8 points, SE 4.9; 95% CI computed as ±1.96 SE), not a raw treatment-group mean. The MBA panel shows the paper's Figure 9 shares; the +22-point gap and its 95% CI (2 to 42) are the paper's adjusted estimate. The model behind the econometrics assistant is not reported. The routine is an instructional recommendation; course rules govern AI use.
SOURCES
Gallegos (March 2026), Guidance over adoption: experimental evidence on AI-assisted learning
https://docs.iza.org/dp18513.pdf
IZA DP 18513; preregistered. Required third-year econometrics, Universidad Adolfo Ibáñez (Chile), August–December 2025; a course-specific ChatGPT assistant (model not reported) available to all; 384 randomized, 289 analyzed. Three emails with tutor-mode prompts before the in-person final: +0.22 SD (SE 0.10); pass rate +12.8 points (SE 4.9) from 64.6%; open-response +5.0 points, multiple choice not significant. 35% of the control group also reported seeing the guidance.
Yang, Van Alstyne and Dellarocas (September 2026), When AI tutors speak
https://arxiv.org/abs/2609.23958
Preregistered RCT, July–August 2026: 86 online MBA students randomized to a GPT-5.4 tutor grounded in course materials that required an attempt before explaining, or to self-study with consumer AI available; 51 took both tests. Post-test total +6.63 of 55 points (95% CI 1.95–11.31; p = .007; covariate-light +3.56, p = .079), mainly in written reasoning; instructor's final +2.6 of 100 in the same direction. Answers scored by a panel of AI graders.
Fischer, Rau and Rilke (2025), AI tutoring enhances student learning without crowding out reading effort
https://docs.iza.org/dp18338.pdf
IZA DP 18338; TU Berlin lab, February 2025; GPT-4-based tutor grounded in the text; 334 analyzed. Immediate unaided 25-item test vs. textbook only: AI throughout +0.34 SD (SE 0.12); ten minutes of reading first, then AI +0.13 SD (SE 0.12); difference p = .066. A reading task; the read-first arm also had less time with AI.
Bassner et al. (2026), Less stress, better scores, same learning
https://portal.fis.tum.de/de/publications/less-stress-better-scores-same-learning-the-dissociation-of-perfo/
Both interfaces used GPT-4. Management bachelor/master CS1 students; 452 started, 275 analyzed. Exercise scores improved; brief immediate knowledge/comprehension tests detected no group advantage. Null findings do not establish equivalence.
Contractor and Reyes (2026), learning working paper
https://arxiv.org/abs/2607.08849
211 Middlebury students, spring 2025; GPT-4o supplied, other tools allowed. October 2026 version (arXiv 2607.08849v2, saved as 2026_contractor_reyes_learning_v2.pdf): proctored unaided tests +0.29 SD immediately (SE 0.12) and +0.21 SD one week later (SE 0.12, p &lt; .10); gains remained for students who used AI as a tutor and faded for those who had it write (observational split). More test-rule violations in the AI arm complicate interpretation.
Bastani et al., PNAS (2025), author-hosted paper
https://doi.org/10.1073/pnas.2422633122
GPT-4; Turkish high-school mathematics; experiment in fall 2023. Practice and subsequent unaided exam outcomes are distinct.
Dunlosky et al. (2013), learning-technique review
https://journals.sagepub.com/doi/10.1177/1529100612453266
Practice testing with corrective feedback and distributed practice receive high utility ratings; support and timing should fit the learner and task.
Sinha and Kapur (2021), problem solving followed by instruction
https://journals.sagepub.com/doi/10.3102/00346543211019105
Meta-analysis: benefits depend on instructional design, age and domain. Supports purposeful attempts followed by appropriate instruction; no universal waiting time or AI-use prescription.
Leppink et al. (2012), self-explanation in statistics
https://link.springer.com/article/10.1007/s10734-011-9476-1
105 analyzed after 25 timetable cancellations from 130 recruited. Prior knowledge changes what support helps; self-explanation alone is not a substitute for missing prerequisites.
Maier et al. (September 2026), Metacognitive feedback reduces cognitive offloading
https://arxiv.org/abs/2609.20143
Preregistered online experiment (N = 704), fraction arithmetic: metacognitive feedback reduced answer offloading (OR 0.47) and improved the unaided test (OR 1.51); an effort reward did not.
Evidence and service collection: September 10, 2026; sources added or rechecked through October 13, 2026. Foundations and course review: September 20, 2026. Slides, figures, and transcript revised October 13, 2026 for one flow across the four opening questions; appropriate AI use throughout Purdue remains the theme. Numerical citations were checked against the saved primary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the rules before using AI or sharing data.
Planned time: 90 seconds. The PowerPoint shows complete diagrams; progressive reveals are in the React deck.
DELIVERY CUE
Read the workplace column as policy: approved tools, approved services for data, required review, documentation. Give the internship example briefly; it is not a claim about a particular employer.
TRANSCRIPT
Different courses can permit different uses of AI because their learning objectives and assessments differ. Read the course and assignment requirements, including rules for studying, code assistance, uploading materials, and disclosure. Purdue's guidance places course authorization with the instructor. If a use is unclear, resolve that uncertainty before doing it.
The same discipline applies at work. Employers and clients set policy on which AI tools are approved, which data may be shared with which services, which results require review before release, and how AI assistance must be documented. Access to a tool is not permission to use it for every task or dataset. Identify the applicable policy, use only approved tools and services, and document your work and the assistance you received accurately.
During an internship, you may be asked to state a stronger conclusion than the evidence supports. State the limitation, specify what additional evidence would be required, and consult your supervisor when necessary. Accountability also means correcting errors promptly, including after the work has been delivered.
Broad permission still leaves you with a learning decision: how much of this activity do you need to work through yourself to develop the intended skill?
TRANSITION
Following the rules is the floor. What will make you valuable is what you learn, so let AI’s role grow with it.
CAVEATS
The course-to-workplace connection is the speaker's practical argument; employer and client policies vary, and the workplace column is general guidance rather than any specific employer's policy. Professional responsibility includes raising conflicts and correcting errors, alongside following applicable requirements.
SOURCES
Purdue, AI Guidance for Teaching and Learning
https://www.purdue.edu/teaching-learning/instructors/ai.php
Course-level authorization includes assessed work and non-assessed learning activities. Checked September 10, 2026.
ASA, Ethical Guidelines for Statistical Practice
https://www.amstat.org/your-career/ethical-guidelines-for-statistical-practice
Professional guidance supporting competence, communication, appropriate methods, transparency, and responsibility.
Evidence and service collection: September 10, 2026; sources added or rechecked through October 13, 2026. Foundations and course review: September 20, 2026. Slides, figures, and transcript revised October 13, 2026 for one flow across the four opening questions; appropriate AI use throughout Purdue remains the theme. Numerical citations were checked against the saved primary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the expertise to check and steer AI, step by step.
Planned time: 140 seconds. The PowerPoint shows complete diagrams; progressive reveals are in the React deck.
DELIVERY CUE
Why first: read the three cards left to right, then say the forecast plainly as a forecast. Then reveal the steps; on step 1, use the struggle box; on step 2, the sampling-distribution example; on step 3, point ahead to the chain rule; on step 4, the return arrow.
WHY PROTECT YOUR LEARNING: EVIDENCE AND LIMITS
• AI at work: 52% of U.S. workers use AI in their role and 30% use it a few times a week or more (Gallup panel, May 6–20, 2026; n = 22,573). Self-reported; any use counts.
• Early-career jobs: employment of ages 22–25 in the most AI-exposed occupations stands 19% below where it would be had it kept pace with less-exposed peers (in levels, about −11% in the two most exposed quintiles vs. +10% in the three least exposed since November 2022); experienced workers show no comparable gap; the change runs mainly through fewer hires (Brynjolfsson, Chandar and Chen, August 2026; ADP payroll through June 2026).
• What counts as AI-exposed: occupations are ranked by GPT-4-based task-exposure ratings (Eloundou et al., Science 2024) and split into fifths; the two most exposed fifths are compared with the three least exposed. Stanford's Digital Economy Lab updates the results monthly on its public Canaries dashboard (last updated September 23, 2026), with trends by age and exposure group.
• Limits of that evidence: the authors call it an early, descriptive indicator, not a causal estimate; it is weaker in national survey data and roughly halves with a control for occupations' college share. The Yale Budget Lab finds no clear broad labor-market effect of AI so far.
• Expertise and wrong AI: with purported AI suggestions that were deliberately wrong, very experienced radiologists were right 45.5% of the time, moderately experienced 24.8%, inexperienced 19.8% (vs. about 80% when the AI was right). Every group was pulled toward the AI (Dratsch et al., Radiology 2023; 27 readers).
• Employers: 93.5% rate critical thinking very or extremely important for new hires, but only 50.0% rate recent graduates very or extremely proficient (NACE Job Outlook 2026, p. 26; 185 employers).
• Forecast, not finding: that employers will keep the people who can check and steer AI, and will expect more of graduates than before, is the speaker's expectation; the items above are early signals consistent with it. In some settings AI helps novices most, so it can also lower barriers to entry.
WHY STRUGGLE FIRST
• Meta-analysis of 53 studies (166 comparisons): solving problems before instruction improved conceptual knowledge and transfer (g = 0.36, 95% CI 0.20–0.51), with no procedural cost (g = −0.03); effects were larger when instruction built on students' attempts (Sinha and Kapur, 2021).
• MIT introductory mechanics (observational, N = 428): students who copied more than half of their homework scored 1.3 SD below low copiers on the final, though they started within about a third of an SD (Palazzo et al., 2010).
• Coding with and without AI (GPT-4o): the no-AI group hit more errors (median 3 vs. 1) and learned more; the authors attribute the gain to resolving errors independently, an interpretation rather than a tested result (Shen and Tamkin, 2026).
• Struggle needs follow-through: the benefit depends on instruction or feedback afterward, and on asking for an explanation of your mistake rather than the answer.
THE LATER STEPS
• Simulations: in introductory statistics, a predict-then-test simulation activity raised correct or good reasoning about sampling distributions from 16% to 72% of items (delMas, Garfield and Chance, 1999; classroom study, not randomized). Simulations alone did not guarantee understanding. No outcome studies were found of students using AI to build their own simulations; step 2 extrapolates.
• Connections: less-confident students who wrote how a new math method could help them solved more problems correctly on timed tests than a control group, by 0.59 standard deviations; being told how it helps did not help them (0.18 SD lower) (Canning and Harackiewicz, 2015).
• Delegating mastered steps: extra assistance helps learners with little prior knowledge (by about 0.5 SD) but hurts those with more (by about 0.4 SD) (Tetzlaff et al., 2025, 60 studies; Cohen's d).
• Performing is not learning: consultants using ChatGPT (GPT-4, 2024) scored 49 points higher on data-science coding tasks, but without it they were no better on related knowledge questions (Wiles et al.).
VISUAL STEPS
1. Why, and step 1: AI is common at work; expertise lets you check it. First courses: AI explains and finds mistakes; you do the assignments.
2. Step 2: AI helps build visual aids and simulations; you predict, then check.
3. Step 3: AI links topics to other courses and goals; you write the connection.
4. Step 4: AI speeds familiar steps; you design, test, and own the result. New topic? Back to the first step.
TRANSCRIPT
You will almost certainly use AI heavily in your career; more than half of U.S. workers already do. The question is whom employers will keep. Remember the payroll data from the start; they are an early warning: employment of twenty-two to twenty-five-year-olds in AI-exposed jobs now stands nineteen percent below where it would be had it kept pace with their less-exposed peers. Experienced workers show no comparable gap. Stanford updates these numbers every month on a public dashboard. The trend is descriptive and its causes are debated, but it fits what happens when AI is wrong. When an AI suggested wrong mammogram readings, very experienced radiologists still read forty-five percent correctly and inexperienced ones only twenty percent, versus about eighty percent when the AI was right. Knowing the field lets you check AI and steer it to the right sources. I expect employers to ask more of you than of earlier graduates, so protect your learning.
Climb in steps. Step one, in your first courses: use AI to explain a concept another way and to point to mistakes in your own work, and do the assignments yourself. Struggle is the point. Across fifty-three studies, trying a problem before being taught built deeper understanding, and at MIT, students who copied most of their homework scored 1.3 standard deviations lower on the final.
Step two, when a topic is hard to picture: have AI help you build a visual or a simulation, such as a sampling distribution taking shape. Predict first, then check it.
Step three: connect what you learn to other courses and to your goals, and write the connection yourself.
Step four, in projects and research: let AI speed familiar steps while you design, test, and own the result. And whenever you meet a new topic, start again at step one.
TRANSITION
Step three deserves a closer look, because the topics you might dismiss after an exam can matter far later.
CAVEATS
The staircase and the retention argument are the speaker's synthesis and forecast, not a Purdue rule or an established finding; course rules apply at every step. The career cards are early signals: the job data are descriptive, and no study yet links who is retained to foundational knowledge. Evidence and limits for each part are in the briefs below.
SOURCES
Gallup (July 20, 2026), Organizational AI adoption jumps six points
https://www.gallup.com/workplace/712736/organizational-adoption-jumps-six-points.aspx
Quarterly probability-panel survey of employed U.S. adults, May 6–20, 2026; n = 22,573; ±0.9 points. 52% use AI in their role; 30% a few times a week or more; 15% daily. Self-reported; any use counts. Saved as plain text.
Brynjolfsson, Chandar and Chen, Canaries — August 2026 revision
https://digitaleconomy.stanford.edu/publication/canaries-in-the-coal-mine-six-facts-about-the-recent-employment-effects-of-artificial-intelligence/
ADP payroll through June 2026. Ages 22–25 in highly exposed occupations: 19% below a kept-pace comparison with less-exposed peers, not a causal estimate of jobs eliminated. Sample composition, education, pretrends and specification sensitivity matter. Earlier 13%/16% headlines use different estimators.
Stanford Digital Economy Lab, AI Economic Indicators: Canaries dashboard
https://digitaleconomy.stanford.edu/project/indicators/canaries-dashboard/
Public tracker for the Canaries paper, updated monthly (last updated September 23, 2026; text snapshot saved October 13). ADP payroll, five-year balanced sample of firms; occupations grouped into fifths by Eloundou et al. (2024) AI-exposure scores, equally weighted by occupation; employment indexed to November 2022 by age group, with examples (software developers, customer service representatives, stock clerks, home health aides). Correlations in this sample, not causal effects.
Eloundou, Manning, Mishkin and Rock, GPTs are GPTs (Science, 2024)
https://doi.org/10.1126/science.adj0998
Science 384:1306–1308 (2024); saved copy is the arXiv working paper (v5, August 2023). Rates each O*NET task's exposure to LLMs with human annotators and GPT-4: a task is exposed if an LLM could cut the time to do it by at least half at equal quality. The occupation score β counts directly exposed tasks plus half of the tasks exposed only with LLM-powered software. Measures potential exposure, not adoption or job loss. The Canaries paper and dashboard use the GPT-4-based β ratings.
Dratsch et al. (2023), Automation bias in mammography
https://doi.org/10.1148/radiol.222176
Radiology 307(4):e222176. Reader experiment: 27 radiologists read mammograms with purported AI suggestions, some deliberately wrong. Correct when the AI was right vs. wrong: inexperienced 79.7% vs. 19.8%; moderately experienced 81.3% vs. 24.8%; very experienced 82.3% vs. 45.5%. Every group showed automation bias. Abstract saved; small, artificial setting.
NACE, Job Outlook 2026: Spring Update
https://naceweb.org/docs/default-source/default-document-library/2026/publication/research-report/2026-job-outlook-report-spring-update.pdf
Employer survey; see report slides on AI skills and career readiness. 185 respondents overall; item denominators vary.
Yale Budget Lab, tracker updated August 19, 2026
https://budgetlab.yale.edu/research/tracking-impact-ai-labor-market
No clear broad labor-market footprint reported. Local copy preserves landing-page text, not the interactive application. No forecast for this audience's graduation year.
Sinha and Kapur (2021), problem solving followed by instruction
https://journals.sagepub.com/doi/10.3102/00346543211019105
Meta-analysis: benefits depend on instructional design, age and domain. Supports purposeful attempts followed by appropriate instruction; no universal waiting time or AI-use prescription.
Palazzo et al. (2010), Patterns, correlates, and reduction of homework copying
https://doi.org/10.1103/PhysRevSTPER.6.010104
Observational, MIT introductory mechanics, fall 2003, N = 428. Students who copied more than half of their online homework scored 1.3 SD below low copiers on the final exam (fit: −2.42 ± 0.23 SD per 100% copied); copiers started within about a third of an SD.
Shen and Tamkin (2026), How AI Impacts Skill Formation
https://arxiv.org/abs/2601.20245
Randomized experiments; 52 analyzed participants with Python experience learning the Trio library with or without a GPT-4o assistant that could supply correct code. The AI group scored lower on the immediate quiz (d = 0.74, p = .010) without a significant speedup. Interaction-pattern clusters (n = 2–7) were observed, not randomized: heavy reliance on AI to write or debug code averaged below 40%; conceptual questions or requests for explanations averaged 65% or higher.
delMas, Garfield and Chance (1999), simulation activities and statistical reasoning
https://doi.org/10.1080/10691898.1999.12131279
Journal of Statistics Education 7(3); classroom research, not randomized. With sampling-distribution simulation software, a predict-then-test activity raised correct-or-good reasoning from 16% of pretest items to 72% of posttest items (N = 141), vs. 22% to about 49% with guided exploration (N = 89). The authors: simulations alone do not guarantee conceptual change.
Canning and Harackiewicz (2015), Teach it, don't preach it (Motivation Science; author manuscript PMC4610746)
https://pmc.ncbi.nlm.nih.gov/articles/PMC4610746/
Study 1: 88 undergraduates learned a left-to-right mental-math technique for two-digit multiplication and were randomized to write how it could be useful in their own lives (self-generated), to be shown its usefulness in the instructional slides (directly communicated), or to a control. Performance = problems solved correctly with the technique on two timed 3-minute problem sets (0–60). For less-confident students, writing their own reasons raised performance relative to control (d = .59; t(80) = 2.62, p = .01); being told did not (d = −.18). Confident students: no reliable effect. Short laboratory task.
Tetzlaff et al. (2025), expertise-reversal meta-analysis
https://doi.org/10.1016/j.learninstruc.2025.102142
60 studies. Teaching support benefits novices differently from higher-knowledge learners; large heterogeneity. Teaching support and delegation are different choices.
Wiles et al., Generative AI and the temporary upskilling of knowledge workers
https://papers.ssrn.com/sol3/papers.cfm?abstract_id=4944588
Preregistered RCT (March 2024), BCG consultants with GPT-4 on data-science tasks outside their skills. With ChatGPT, coding scores +49 percentage points (95% CI 42–56); afterwards, without AI, no better on related knowledge questions (F(5,198) = 0.83, p = .531). GPT-4 era; five items; immediate check.
Evidence and service collection: September 10, 2026; sources added or rechecked through October 13, 2026. Foundations and course review: September 20, 2026. Slides, figures, and transcript revised October 13, 2026 for one flow across the four opening questions; appropriate AI use throughout Purdue remains the theme. Numerical citations were checked against the saved primary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course topics can matter long after the exam.
Planned time: 110 seconds. The PowerPoint shows complete diagrams; progressive reveals are in the React deck.
DELIVERY CUE
Reveal one row at a time and read it left to right: course topic, the topic beyond the course, then AI. Then make the general point: no direct translation, and you rarely know in advance which topic will matter.
WHERE EACH PATH COMES FROM
• Chain rule → automatic differentiation: AD propagates derivatives through a program per the chain rule of differential calculus; backpropagation is a special case of reverse-mode AD applied to a network's error as a function of its weights (Baydin et al., JMLR 2018). Back-propagation, introduced for neural networks by Rumelhart, Hinton and Williams (Nature, 1986), propagates derivatives backward through the network with the chain rule and repeatedly adjusts the weights by gradient descent to reduce the error.
• Conditional probability → Markov chains: the Markov assumption predicts the next unit from the last few; Markov (1913) used what are now called Markov chains to predict letters in Eugene Onegin, and n-gram language models apply the assumption to words (Jurafsky and Martin, ch. 3). The first GPT paper pre-trains by maximizing Σ log P(u_i | u_{i−k}, …, u_{i−1}), where k is the context window, on contiguous 512-token sequences (Radford et al., 2018). MA 43200 covers discrete-time Markov chains (Purdue mathematics course descriptions).
• Dot products → cosine similarity: cosine similarity compares embedding vectors; Sentence-BERT made semantic similarity search practical (about 5 seconds instead of 65 hours for the most similar pair among 10,000 sentences) (Reimers and Gurevych, 2019). Retrieval-augmented generation retrieves by inner products (Lewis et al., 2020); GenAI Studio Knowledge Bases retrieve passages by embedding similarity (slide 13).
• Confidence intervals → conformal prediction: conformal prediction wraps any pre-trained model to produce sets that contain the truth with a user-specified probability, such as 90% (Angelopoulos and Bates). Conformal language modeling samples a model's answers into a set until it covers at least one acceptable response, with a guarantee (Quach et al., ICLR 2024).
• Courses: MA 16100/16500 (calculus of one variable), STAT 41600 (conditional probability and Bayes' theorem), MA 35100 (vector spaces and matrices), STAT 35500 (sampling distributions and confidence intervals), MA 43200 (discrete-time Markov chains).
• Course check against the 2025–26 progression guides: MA 16100/16500 named in all three Data Science plans (the Statistics guides say 'Calculus I Option'); STAT 41600 and MA 35100 in all six Statistics and Data Science plans; STAT 35500 in the Data Science plans, Applied Statistics (35000 or 35500), and Statistics–Math (Statistics Honors lists STAT 35000); MA 43200 required in Statistics–Math, Statistics Honors, and Data Science (Mathematics), and a selective/elective option in Data Science (Statistics) and Data Science (CS); it is not listed in the Applied Statistics guide.
VISUAL STEPS
1. Chain rule → automatic differentiation → training a neural network.
2. Conditional probability → Markov chains → predicting the next word given the previous words.
3. Dot products → cosine similarity → finding relevant passages.
4. Confidence intervals → conformal prediction → uncertainty for AI answers.
TRANSCRIPT
Some topics feel small when you meet them, and it is tempting to file them away after the exam. But they lead somewhere, usually through a topic you study next, before they reach anything like AI.
The chain rule from first-semester calculus leads to automatic differentiation, which applies the chain rule to every step of a program; backpropagation, the way neural networks are trained, is one case of it. Conditional probability leads to Markov chains, which you can take later in MA 43200. Markov himself used them to predict letters in a poem; n-gram language models are Markov chains over words. The first GPT model was trained on the same conditional probability, predicting each token from the previous ones, with a context of up to 512 tokens. The dot product leads to cosine similarity, which asks whether two vectors point the same way; that is how text embeddings are compared to find relevant passages. And confidence intervals lead to conformal prediction, which wraps any model's predictions in sets with guaranteed coverage; researchers now use it to keep sampling a language model's answers until the set covers an acceptable one.
None of these is a direct translation from a course to AI. Each path runs through a topic beyond the course. You rarely know in advance which one will matter, so before you put a topic away after an exam, ask what it leads to.
TRANSITION
Which of these paths matters to you depends on where you want to go.
CAVEATS
The paths are the speaker's selection of documented connections; the brief below gives the source passage for each. The middle column is the step students usually take after the course, in a later course or on their own; only Markov chains has a named Purdue course here (MA 43200). Course codes come from the 2025–26 Data Science (Statistics) plan; placement and catalog years vary. The examples show where topics lead, not how AI works in full.
SOURCES
Purdue Data Science (Statistics) progression guide, 2025–26
https://www.purdue.edu/science/archive/docs/current-students/majors/dsst-f25-dpg1.pdf
Dated public DS Statistics plan. Data Science has separate Statistics, Computer Science, and Mathematics routes; the supporting course crosswalk distinguishes them.
Purdue Mathematics course descriptions
https://www.math.purdue.edu/academic/courses/Course-Description.html
Supports the expanded coverage of proof, analysis, further linear algebra, discrete mathematics, optimization, signals, and stochastic processes. Application connections are the speaker's synthesis; requirements differ by route.
Purdue Statistics undergraduate course descriptions, Fall 2026
https://www.stat.purdue.edu/academic_programs/undergraduate/index.php?semester=Fall&amp;year=2026
Reviewed STAT 35000, 35500, 41600, 41700 and 41800 descriptions. A listed course is not necessarily required by every plan or offered to every student.
Purdue MA 35100 Elementary Linear Algebra, Fall 2026
https://www.math.purdue.edu/academic/courses/semester/202710/ma35100/index.html
Vectors, matrices, linear systems and eigenvalues/eigenvectors. Neural-network application is the speaker's synthesis, not a promised course topic.
Baydin, Pearlmutter, Radul and Siskind (2018), Automatic differentiation in machine learning: a survey
https://jmlr.org/papers/v18/17-468.html
JMLR 18. Automatic differentiation propagates derivatives through a program per the chain rule of differential calculus; it is more general than backpropagation, which is a special case of reverse-mode AD applied to a network's error as a function of its weights.
Rumelhart, Hinton and Williams (1986), Learning representations by back-propagating errors (Nature)
https://doi.org/10.1038/323533a0
Nature 323:533–536. The original back-propagation paper: the procedure repeatedly adjusts the weights to minimize the difference between actual and desired outputs; a backward pass propagates derivatives from the top layer to the bottom, applying the chain rule, and the weights follow gradient descent. Saved copy is an author-hosted scan; key passages transcribed in the accompanying quotes file.
Jurafsky and Martin, Speech and Language Processing, ch. 3: N-gram language models (draft of August 19, 2026)
https://web.stanford.edu/~jurafsky/slp3/3.pdf
Markov assumption: predict the next word from the last few words. Markov (1913) used what are now called Markov chains to predict letters in Eugene Onegin. Large language models are trained to predict upcoming words; transformer-based models are introduced in later chapters.
Radford, Narasimhan, Salimans and Sutskever (2018), Improving language understanding by generative pre-training (OpenAI)
https://cdn.openai.com/research-covers/language-unsupervised/language_understanding_paper.pdf
The first GPT paper. Unsupervised pre-training maximizes the language-modeling likelihood Σ log P(u_i | u_{i−k}, …, u_{i−1}; Θ), where k is the size of the context window and P is a transformer network; training used contiguous sequences of 512 tokens from BooksCorpus (over 7,000 unpublished books).
Reimers and Gurevych (2019), Sentence-BERT
https://arxiv.org/abs/1908.10084
EMNLP 2019 (arXiv 1908.10084). Sentence embeddings that can be compared using cosine similarity, making semantic similarity search practical (about 5 seconds instead of 65 hours for 10,000 sentences).
Lewis et al., Retrieval-Augmented Generation (2020)
https://arxiv.org/abs/2005.11401
Foundational retrieval-augmented generation research; retrieved context does not guarantee that generated claims are supported.
Angelopoulos and Bates, A gentle introduction to conformal prediction
https://arxiv.org/abs/2107.07511
arXiv 2107.07511v6 (December 2022). Conformal prediction can wrap any pre-trained model, such as a neural network, to produce sets guaranteed to contain the ground truth with a user-specified probability, such as 90%, without distributional assumptions.
Quach et al. (2024), Conformal language modeling
https://arxiv.org/abs/2306.10193
ICLR 2024 (arXiv 2306.10193). Calibrates a stopping rule for sampling language-model outputs into a growing set until the set covers at least one acceptable response, with a performance guarantee.
Evidence and service collection: September 10, 2026; sources added or rechecked through October 13, 2026. Foundations and course review: September 20, 2026. Slides, figures, and transcript revised October 13, 2026 for one flow across the four opening questions; appropriate AI use throughout Purdue remains the theme. Numerical citations were checked against the saved primary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AI to connect your courses to your goals.
Planned time: 100 seconds. The PowerPoint shows complete diagrams; progressive reveals are in the React deck.
DELIVERY CUE
Open with the sentence about professors and interests. Then walk the four steps; read the prompt aloud and point out the course context. Spend the most time on step 3 and its evidence.
WHY WRITE IT YOURSELF: EVIDENCE AND LIMITS
• Canning and Harackiewicz (2015), Study 1 (Motivation Science; author manuscript PMC4610746): 88 undergraduates learned a left-to-right mental-math method for two-digit multiplication and were randomized to write how it could be useful in their own lives, to see its usefulness explained in the instructional slides, or to a control.
• Outcome: problems solved correctly with the method on two timed 3-minute problem sets (0–60), adjusting for baseline multiplication skill. Effects are Cohen's d, the difference from the control group in standard deviations, from simple-effect tests in a regression (contrast codes for condition, standardized confidence, their interactions, and baseline skill and gender as covariates) evaluated one SD below and above mean confidence. The reported d values match d = 2t/√df with df = 80. For less-confident students, writing their own reasons raised performance by 0.59 SD (t(80) = 2.62, p = .01); being told was 0.18 SD lower but not significant (t(80) = 0.82, p = .41). Confident students: writing 0.16 SD (p = .47); being told 0.24 SD (p = .30), so neither helped reliably and the authors conclude that confident students did well with both. Note a reporting inconsistency: the text gives β = −.13 (confident, told) and β = .12 (less confident, told), opposite in sign to Table 3's d values (+.24 and −.18); the d magnitudes match the t values and the table's signs match the abstract, so the text's β signs appear swapped. Either way, neither 'told' effect differs reliably from zero. The significant head-to-head result was writing vs. being told: 30.4 vs. 26.5 problems solved on average (p = .04), larger for less-confident students (interaction p = .04).
• Industry use for the sample prompt: MLB computes and publishes Statcast xBA, the likelihood a batted ball becomes a hit given its exit velocity and launch angle (MLB glossary). Opta's expected goals is the likelihood a chance is scored, from over 20 variables and nearly one million shots; Opta reports early adoption by betting companies and professional clubs and regular use by broadcasters such as Sky Sports, BBC's Match of the Day, beIN Sports, and NBC (The Analyst, 2023). These show conditional probability in use; a Bayes'-theorem example with documented industry use was not found, so none is shown.
• For students: AI can suggest examples and explanations, but the evidence favors writing the connection yourself; an AI's explanation is a form of being told.
• No study was found that tested AI-assisted connection-making; the routine applies the evidence on writing about relevance plus the talk's checking habits.
TRANSCRIPT
No professor can cover every student's interests in every topic. That part of your education is in your hands, and AI is good at helping you connect the dots.
Here is a routine. First, name the topic and your interest, with real context: the course, what you covered, what you care about. For example: STAT 41600 just covered conditional probability and Bayes' theorem; I want to work in sports analytics; where does this matter there, and which later Purdue courses build on it? This is used in industry: MLB publishes expected batting average, the probability a batted ball becomes a hit given how hard and at what angle it was hit, and Opta's expected goals, the probability a shot becomes a goal, is used by clubs and broadcasters. Second, check what it tells you in the catalog and in any source it cites.
Third, write the connection yourself. That step matters. In one experiment, undergraduates learned a mental-math method; the less confident ones who wrote how it could help in their own lives then solved more problems correctly on timed tests, but being told how it helps did not help them. An AI's explanation is being told, so write your own.
Fourth, follow one thread: a dataset, a reading, an elective, or a question for office hours.
TRANSITION
So far, how you use AI. Now the tools themselves: what kinds exist, and which of them may see your data.
CAVEATS
The routine is the speaker's suggestion. The evidence concerns writing about relevance (utility-value interventions), not AI specifically; no study was found that tested AI-assisted connection-making. In the lab study, performance means problems solved correctly with the new method on two timed tests, and effects are Cohen's d (difference from the control group in standard deviations). The advantage of writing your own reason appeared only for less-confident students; confident students did about equally well either way, so the advice is scoped to topics that are not clicking yet; being told the relevance, as an AI answer would do, helped confident students slightly (d = .24) but not less confident ones (d = −.18), which is why the student writes the connection. Course rules still govern AI use.
SOURCES
Purdue Statistics undergraduate course descriptions, Fall 2026
https://www.stat.purdue.edu/academic_programs/undergraduate/index.php?semester=Fall&amp;year=2026
Reviewed STAT 35000, 35500, 41600, 41700 and 41800 descriptions. A listed course is not necessarily required by every plan or offered to every student.
MLB.com, Statcast glossary: Expected Batting Average (xBA)
https://www.mlb.com/glossary/statcast/expected-batting-average
Official MLB definition: xBA measures the likelihood that a batted ball will become a hit, based on how often comparable balls (exit velocity, launch angle, and for some batted balls Sprint Speed) have become hits since Statcast was implemented league-wide in 2015. A conditional probability used in industry. Text snapshot saved October 13, 2026.
Whitmore (Aug. 8, 2023), What is expected goals (xG)? The Analyst (Opta / Stats Perform)
https://theanalyst.com/articles/what-is-expected-goals-xg
Opta's explainer: xG measures the quality of a chance by calculating the likelihood that it will be scored, on a 0–1 scale, using over 20 variables (distance, angle, goalkeeper position, pressure, shot type, and more) from nearly one million shots. Text snapshot saved October 13, 2026.
Canning and Harackiewicz (2015), Teach it, don't preach it (Motivation Science; author manuscript PMC4610746)
https://pmc.ncbi.nlm.nih.gov/articles/PMC4610746/
Study 1: 88 undergraduates learned a left-to-right mental-math technique for two-digit multiplication and were randomized to write how it could be useful in their own lives (self-generated), to be shown its usefulness in the instructional slides (directly communicated), or to a control. Performance = problems solved correctly with the technique on two timed 3-minute problem sets (0–60). For less-confident students, writing their own reasons raised performance relative to control (d = .59; t(80) = 2.62, p = .01); being told did not (d = −.18). Confident students: no reliable effect. Short laboratory task.
Purdue Data Science (Statistics) progression guide, 2025–26
https://www.purdue.edu/science/archive/docs/current-students/majors/dsst-f25-dpg1.pdf
Dated public DS Statistics plan. Data Science has separate Statistics, Computer Science, and Mathematics routes; the supporting course crosswalk distinguishes them.
Purdue, AI Guidance for Teaching and Learning
https://www.purdue.edu/teaching-learning/instructors/ai.php
Course-level authorization includes assessed work and non-assessed learning activities. Checked September 10, 2026.
Evidence and service collection: September 10, 2026; sources added or rechecked through October 13, 2026. Foundations and course review: September 20, 2026. Slides, figures, and transcript revised October 13, 2026 for one flow across the four opening questions; appropriate AI use throughout Purdue remains the theme. Numerical citations were checked against the saved primary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 the kinds of AI tools and when each is safe to use.
Planned time: 120 seconds. The PowerPoint shows complete diagrams; progressive reveals are in the React deck.
DELIVERY CUE
Read the axes: what it can do, then whose terms. Walk down the rows; reveal the safety column. Land on the Gemini API in two rows: free tier and paid tier. The plan you use sets the terms.
VISUAL STEPS
1. Place each kind of tool by whose terms it runs under and what it can do.
2. Add when each is safe to use.
TRANSCRIPT
Most of you use AI through a chat window, but you will meet many kinds of AI tools here and at work. Two questions sort them: what can the tool do, and whose terms does it run under? The second question decides what data is safe to give it.
Personal accounts are free or personal plans: the ChatGPT, Claude, or Gemini apps, a free API key, or coding agents like Claude Code, Codex, or Gemini CLI on a personal plan. Google asks Gemini users not to enter confidential information, because human reviewers read some chats, and Anthropic lets personal users choose whether their chats train its models. Treat these as public.
Business terms cover work or school accounts and paid APIs. Microsoft says its work version of Copilot doesn't train on your prompts, and OpenAI says it doesn't train on business or API data by default. Use them for what your organization approves.
Some organizations run models on their own servers. Purdue's GenAI Studio is one: chat, an API, and the GenAI Studio SDK to build your own agent. Purdue approves it for sensitive data, but not FERPA records.
On your own computer, Ollama or llama.cpp run a smaller model, and your data stays with you unless a cloud feature sends it out.
The lesson: the same tool can sit in different rows. On the Gemini API's free tier, Google may use what you send to improve its products; on the paid tier, it doesn't. So check the terms of the account or plan you use, and your course's or employer's rules, before you share data.
TRANSITION
When you build with these tools, you also choose where your information lives and how the AI finds it.
CAVEATS
General guidance, not a ranking or any one employer's rules; vendor terms change, so check them when you sign up (checked October 13, 2026). Google's Gemini API terms (last updated April 28, 2026) put the same tool in two rows: unpaid quota may be used to improve Google's products and read by human reviewers ('Do not submit sensitive, confidential, or personal information to the Unpaid Services'), while paid quota is not used to improve products and is processed under Google's Data Processing Addendum. OpenAI's privacy pages could not be retrieved; the OpenAI statement comes from its Codex pricing page ('No training on API or business data by default'). Ollama's FAQ says 'We don’t see your prompts or data when you run locally'; its cloud models and web search send prompts to Ollama's servers and can be turned off for local-only use. Purdue is the example organization. Its authorized AI tools list (May 2026) lists ChatGPT, Gemini, and Claude as public-data-only tools; approves GenAI Studio, Microsoft Copilot with Data Protection, NotebookLM, and the JetBrains IDE for sensitive data, which must be accessed through Purdue SSO or an equivalent; and says OpenAI, Microsoft, Google, and Anthropic models require an enterprise or API-level license for sensitive data. GenAI Studio has no ready-made coding agent; the SDK is the build-your-own route, and GenAI Studio's approval does not extend to external tools or MCP servers you connect.
SOURCES
Google, Gemini Apps Privacy Hub
https://support.google.com/gemini/answer/13594961
Consumer Gemini apps: human reviewers (including service providers) review some data; 'Please don't enter confidential information that you wouldn't want a reviewer to see.' Work or school Google Accounts may be subject to different data-handling terms. Text snapshot saved October 13, 2026.
Anthropic (Aug. 28, 2025), Updates to consumer terms and privacy policy
https://www.anthropic.com/news/updates-to-our-consumer-terms
Claude Free, Pro, and Max users (including Claude Code with those accounts) choose whether their data is used to improve Claude; retention extends to five years if they allow it. Does not apply to services under Commercial Terms: Claude for Work, Government, Education, or API use.
Google, Gemini API Additional Terms of Service (last updated Apr. 28, 2026)
https://ai.google.dev/gemini-api/terms
Unpaid Services (Google AI Studio and the unpaid quota of the Gemini API): Google uses submitted content and responses to improve its products and machine-learning technologies; human reviewers may read API input and output; 'Do not submit sensitive, confidential, or personal information to the Unpaid Services.' Paid Services (e.g., the paid quota): prompts and responses are not used to improve Google's products and are processed under Google's Data Processing Addendum. Text snapshot saved October 13, 2026.
Microsoft Learn, Enterprise data protection in Microsoft Copilot and Copilot Chat (updated Aug. 18, 2026)
https://learn.microsoft.com/en-us/microsoft-365/copilot/enterprise-data-protection
Organizational use is covered by Microsoft's Data Protection Addendum and Product Terms with Microsoft as data processor; prompts, responses, and data accessed through Microsoft Graph aren't used to train foundation models; the organization's access controls, sensitivity labels, retention, and audit apply.
OpenAI, Codex pricing (October 2026)
https://learn.chatgpt.com/docs/pricing
Free tier in the desktop app (subject to rollout), paid plans, or API-key usage. Plans change often; dated context only.
Anthropic, Claude Code overview
https://code.claude.com/docs/en/overview
Vendor documentation retrieved October 12, 2026: an agentic coding assistant that reads a codebase, edits files and runs commands from the terminal, IDE, desktop or web. Most surfaces require a Claude subscription or Anthropic Console account.
OpenAI, Codex CLI
https://learn.chatgpt.com/docs/codex/cli
Vendor documentation retrieved October 12, 2026 (developers.openai.com now redirects to learn.chatgpt.com): a terminal agent that inspects, edits and runs code in a local repository; recommends Git checkpoints before and after a task.
Google, Gemini CLI (GitHub repository README)
https://github.com/google-gemini/gemini-cli
Google's open-source (Apache 2.0) terminal agent: 'an open-source AI agent that brings the power of Gemini directly into your terminal.' Install with npm (@google/gemini-cli) or Homebrew; the README lists a free tier of 60 requests per minute and 1,000 per day with a personal Google account, a Gemini API key option, and Vertex AI for organizations. README snapshot saved October 13, 2026. Google also offers the Antigravity platform (app, CLI, SDK); press reports that consumer Gemini CLI users must move to the Antigravity CLI were not confirmed on Google's own pages.
Purdue RCAC, GenAI Studio overview and data classification (updated September 29, 2026)
https://docs.rcac.purdue.edu/services/genai/
Authorized for public and sensitive (L2) data under Purdue's data classification; not for restricted data, including FERPA- or HIPAA-regulated data. Purdue-managed; content is not used to train the hosted models; a pilot with limited safety measures. External tools and MCP servers fall outside this authorization. Replaces the September 10 wording, which prohibited sensitive inputs.
Purdue RCAC, GenAI Studio API guide (updated September 29, 2026)
https://docs.rcac.purdue.edu/services/genai/api/
OpenAI-compatible chat-completions requests with GenAI Studio's own base URL, model IDs and limits. Keep the key in an environment variable; 20 requests per minute per user; structured output differs by serving backend; custom models carry attached Knowledge Bases through the API. Model list checked through the API on October 12, 2026 (dozens of open-weight models, including gpt-oss, Qwen, Gemma, Llama and DeepSeek families).
GenAI Studio SDK (GitHub)
https://github.com/treese41528/genai-studio-sdk
Public Python SDK for GenAI Studio: chat, embeddings, retrieval and a teachable tool-using agent framework.
Purdue Systems Security, Purdue University authorized AI tools and integrations (May 2026)
https://www.purdue.edu/ai/wp-content/uploads/2026/05/AIToolsMay2026.pdf
Official list (file dated May 5, 2026; the title line still shows a publish-date placeholder). Public data only: OpenAI (ChatGPT), Google Gemini, Microsoft Azure OpenAI, Anthropic (Claude), x.ai (Grok), MidJourney; other unlisted tools are public-data-only. Sensitive and public data: GenAI Studio (sensitive data, excluding FERPA), Microsoft Copilot with Data Protection (Purdue Microsoft 365 tenant; outputs need a sensitivity label), JetBrains IDE AI, Google NotebookLM. Sensitive or restricted data must be accessed via Purdue SSO; models from OpenAI, Microsoft, Google and Anthropic need an enterprise or API-level license for legal protections; Grok and MidJourney are not vetted.
ggml-org, llama.cpp
https://github.com/ggml-org/llama.cpp
MIT-licensed local inference for open-weight models on CPUs and GPUs, with quantization and an OpenAI-compatible server. What runs well depends on the hardware and the model.
Ollama documentation, FAQ
https://docs.ollama.com/faq
Serving software with local and cloud options. 'Ollama runs locally. We don’t see your prompts or data when you run locally.' Cloud-hosted models and web search send prompts to Ollama's servers (not stored, logged, or used for training, per the FAQ); cloud features can be disabled for local-only mode. Checked September 10 and October 13, 2026 (same statements; the October text snapshot is saved alongside).
Purdue RCAC, GenAI Studio chat interface (updated September 29, 2026)
https://docs.rcac.purdue.edu/services/genai/chat-interface/
One prompt can go to several models side by side; temperature and a system prompt can be set for a chat; one-time attachments differ from reusable Knowledge Bases.
Evidence and service collection: September 10, 2026; sources added or rechecked through October 13, 2026. Foundations and course review: September 20, 2026. Slides, figures, and transcript revised October 13, 2026 for one flow across the four opening questions; appropriate AI use throughout Purdue remains the theme. Numerical citations were checked against the saved primary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bases match meaning; databases match exactly.
Planned time: 140 seconds. The PowerPoint shows complete diagrams; progressive reveals are in the React deck.
DELIVERY CUE
Left: read the bars; the top passage uses different words than the question and still ranks first, and only the top three reach the AI. Right: read the funnel top to bottom; every row is tested, and lowercase 'compliant' matches nothing. Then the wrong tool: the highest score on the slide is a definition, not a count. Land on who decides: you.
VISUAL STEPS
1. Knowledge base: rank passages by similarity; the top 3 go to the AI.
2. Database: every row tested against exact conditions, 4,194 rows to 122.
3. Wrong tool: the closest passage to a counting question is a definition, not a count.
TRANSCRIPT
A knowledge base and a database both store information, but they find things in different ways.
A knowledge base is a collection of documents split into passages. Each passage, and your question, becomes an embedding, a list of numbers, and retrieval ranks the passages by cosine similarity, the dot-product idea from earlier. These are real scores for the soccer study's codebook. I asked how skin tone was measured. The top passage never says "measure"; it says players were "coded by two independent raters," and it still ranks first. The top three go to the AI; the rest are never seen.
A database stores records in tables, and a query tests every row against exact conditions. In the study's released table of 4,194 runs, 1,270 are the TV-news task, 700 have acceptable verdicts, 688 have no extraction warning, and 122 said the hypothesis was supported, the counts behind slide four. Type "compliant" in lowercase, and no rows match. Exact means exact.
So use each for what it does. Ask the knowledge base how many red cards were given, and its best match, with the highest score on this slide, is the definition of the red-card variable, not a count. Counting needs a query over every row.
Neither tool decides what your question needs. You choose the tool, you read what retrieval returns, and you decide what each condition should mean, such as what counts as acceptable. On a data team, documentation usually goes into a knowledge base and measurements into a database.
TRANSITION
Agents can choose among these tools and act on your files, so decide what they are allowed to do.
CAVEATS
Similarity scores were computed on October 13 with the open Sentence-Transformers model all-MiniLM-L6-v2 (revision 1110a24; mean pooling, unit-length vectors) by presentation/depth/data/codebook_retrieval.py; results are in soccer_codebook_retrieval.json. Scores shown: skin-tone paragraph 0.67, rater2 0.52, rater1 0.51, meanExp 0.40, and the bias-measures paragraph 0.35; the other 26 passages scored lower. Passages are the codebook's four paragraphs and 27 variable descriptions, one passage each; 'top 3' is a setting chosen for this example. GenAI Studio prepares Knowledge Base documents with EmbeddingGemma 300M, which is not a callable API model, so its chunking and scores would differ; no GenAI Studio Knowledge Base was created or queried. Lowest score: refNum (0.07). The red-card question's top three were redCards (0.80), yellowReds (0.67), and yellowCards (0.62); none contains a total. SQL counts come from the released results file (4,194 rows; SHA-256 verified): dataset = 'sample_anes-inconsistent-views' (1,270); verdict IN ('Compliant', 'Minor issues') (700); warning &lt;&gt; 'True' (688; keeps the one run with an empty warning field); supported = 'True' (122), matching slide 4, which extract_bertran_anes.py asserts. Retrieval quality and answer faithfulness need separate checks. The GenAI Studio tools-and-database guide gives the same rule: exact lookups belong in parameterized SQL, and semantic retrieval finds reference passages when wording varies.
SOURCES
Purdue RCAC, GenAI Studio Workspace and Knowledge Bases
https://docs.rcac.purdue.edu/services/genai/workspace/
Knowledge Bases are document collections prepared with EmbeddingGemma 300M for semantic search and retrieval; custom models attach them for retrieval-augmented generation.
Silberzahn et al., crowdsourced soccer data and codebook (OSF)
https://osf.io/fv8c3/
Original many-analyst dataset: all 2,053 players in the first male divisions of England, Germany, France, and Spain in the 2012–13 season; all 3,147 referees they played under in their professional careers; 146,028 player–referee dyads with matches together and red cards; skin tone rated from profile photos (1,586 players) by two raters blind to the question on a 5-point scale. Codebook copy from the Bertran, Fogliato and Wu repository (commit d489f03).
sentence-transformers, all-MiniLM-L6-v2 model card (Hugging Face)
https://huggingface.co/sentence-transformers/all-MiniLM-L6-v2
Open Sentence-Transformers model (Apache 2.0) that maps sentences and paragraphs to a 384-dimensional vector space for semantic search; fine-tuned with a contrastive objective on over 1 billion sentence pairs; input longer than 256 word pieces is truncated. Used on slide 13 to compute cosine similarities between the soccer codebook's 31 passages and two questions (revision 1110a24; presentation/depth/data/codebook_retrieval.py). Model card saved October 13, 2026.
Reimers and Gurevych (2019), Sentence-BERT
https://arxiv.org/abs/1908.10084
EMNLP 2019 (arXiv 1908.10084). Sentence embeddings that can be compared using cosine similarity, making semantic similarity search practical (about 5 seconds instead of 65 hours for 10,000 sentences).
Bertran, Fogliato and Wu: released run-level results (GitHub, commit d489f03)
https://github.com/amazon-science/agentic-forking-path/tree/d489f03b143fcaa9befb8cc443594ff63ec61eaa/experiment_data
Authors' public release of the arXiv-version experiments (4,194 runs with final analyses; SHA-256 verified; README, LICENSE, and NOTICE saved alongside). The slide plots the 688 anes-views runs the AI auditor rated Compliant or Minor issues. Each run's code, report, and transcript are in experiment_data/workspaces.
Lewis et al., Retrieval-Augmented Generation (2020)
https://arxiv.org/abs/2005.11401
Foundational retrieval-augmented generation research; retrieved context does not guarantee that generated claims are supported.
GenAI Studio capability guides (implementation notes, September 14, 2026)
Purdue_GenAI_Studio/index.html
Seven guides: access, structured extraction, Knowledge Bases, retrieval, tools and database lookups, evaluation, and a review interface. Their rule: exact lookups belong in SQL; similarity retrieval suggests candidates. Examples are teaching adaptations; the pages did not run authenticated calls.
Evidence and service collection: September 10, 2026; sources added or rechecked through October 13, 2026. Foundations and course review: September 20, 2026. Slides, figures, and transcript revised October 13, 2026 for one flow across the four opening questions; appropriate AI use throughout Purdue remains the theme. Numerical citations were checked against the saved primary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coding agents act only within limits you set.
Planned time: 150 seconds. The PowerPoint shows complete diagrams; progressive reveals are in the React deck.
DELIVERY CUE
Read the three rows: the agent proposes, the limits decide. Name prompt injection: text the agent reads can try to steer it, and the limits still decide. Reveal the learning panel last and land the takeaway: you do the thinking; the agent types only what you understand.
VISUAL STEPS
1. The agent proposes; the sandbox and approval policy decide.
2. Each action runs, asks you first, or is blocked; text that tries to steer the agent does not change the limits.
3. Learning cost: relying on AI to write or debug code went with lower quiz scores.
TRANSCRIPT
Coding agents are the most capable kind of AI tool, so understand how they are controlled before you use one. The agent proposes an action: read a file, edit code, run a command, reach the internet. Software decides what actually happens.
Codex runs with network access off by default, inside an operating-system sandbox that typically limits it to your project, and asks for approval before going further. Claude Code's manual mode starts read-only and asks before it edits files or runs commands. As Codex's documentation puts it, you are trusting enforced limits, not just the agent's intentions.
Those limits matter because of a risk called prompt injection. A file or web page the agent reads can contain hidden instructions aimed at the AI. In one scenario from OWASP, a security project, hidden instructions on a web page make an AI leak a private conversation. The agent may try to follow such text, but the sandbox and approval rules still decide what runs. Then review what it did: read the changes, run the tests, and keep a checkpoint you can return to.
There is also a learning cost. In a randomized study, programmers learning a new Python library with an AI assistant scored lower on a quiz about it afterward. Those who relied on AI to write or debug their code averaged below forty percent; those who asked conceptual questions or asked for explanations averaged sixty-five percent or higher.
So you do the thinking. For coursework, follow the course rules and let an agent write only what you already understand. On your own projects, agents are a powerful way to build, and reviewing their work is a skill employers will expect.
TRANSITION
With those limits in place, you are ready to try one of these tools yourself.
CAVEATS
Controls are from vendor documentation retrieved October 12, 2026, not independent security tests; defaults and modes change (Claude Code's auto mode uses a classifier instead of asking). Prompt injection: OWASP's LLM01 page says indirect prompt injections occur when a model accepts input from external sources, such as websites or files, that alters its behavior; Scenario 2 (hidden web-page instructions exfiltrate a private conversation) is an illustrative scenario, not a documented incident, and OWASP's mitigations include least-privilege access. Anthropic's Claude Code security page defines prompt injection as an attempt to override or manipulate an AI assistant's instructions by inserting malicious text, and says users are responsible for reviewing proposed code and commands before approval. Shen and Tamkin: 52 analyzed participants, a GPT-4o chat assistant that could supply correct code, an immediate quiz; the AI group scored lower (d = 0.74) without a significant speedup. The interaction-pattern averages come from small observed clusters (n = 2–7), not randomized comparisons. Not a test of current coding agents or of long-term retention.
SOURCES
OpenAI, Codex agent approvals and security
https://learn.chatgpt.com/docs/agent-approvals-security
Vendor documentation retrieved October 12, 2026. Network access is off by default; locally, an OS-enforced sandbox limits what the agent can touch and an approval policy decides when it must ask. Not an independent security test.
Anthropic, Claude Code security and permission modes
https://code.claude.com/docs/en/security
Vendor documentation retrieved October 12, 2026. Manual mode starts read-only and asks before edits, tests or commands; an optional sandbox isolates Bash commands' file and network access. Describes controls; not an independent security evaluation.
Shen and Tamkin (2026), How AI Impacts Skill Formation
https://arxiv.org/abs/2601.20245
Randomized experiments; 52 analyzed participants with Python experience learning the Trio library with or without a GPT-4o assistant that could supply correct code. The AI group scored lower on the immediate quiz (d = 0.74, p = .010) without a significant speedup. Interaction-pattern clusters (n = 2–7) were observed, not randomized: heavy reliance on AI to write or debug code averaged below 40%; conceptual questions or requests for explanations averaged 65% or higher.
OWASP, Prompt Injection
https://genai.owasp.org/llmrisk/llm01-prompt-injection/
External content can contain adversarial instructions. Retrieval and prompt filtering do not eliminate injection; constrain downstream permissions.
OpenAI, Codex CLI
https://learn.chatgpt.com/docs/codex/cli
Vendor documentation retrieved October 12, 2026 (developers.openai.com now redirects to learn.chatgpt.com): a terminal agent that inspects, edits and runs code in a local repository; recommends Git checkpoints before and after a task.
Evidence and service collection: September 10, 2026; sources added or rechecked through October 13, 2026. Foundations and course review: September 20, 2026. Slides, figures, and transcript revised October 13, 2026 for one flow across the four opening questions; appropriate AI use throughout Purdue remains the theme. Numerical citations were checked against the saved primary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one new way to use AI this semester.
Planned time: 110 seconds. The PowerPoint shows complete diagrams; progressive reveals are in the React deck.
DELIVERY CUE
Offer the three routes as choices, not requirements. Stress the API key and the data rules. Then the statistician’s test. End with the pointers: CS/SCI 173 now, Chapter 6 later.
TRANSCRIPT
You do not have to wait for an internship. Pick one route and try it on something small.
In GenAI Studio, send one prompt to two models side by side and compare them. Then send the same prompt from a short Python script through the API. Keep your API key in an environment variable, never in your code, and check that the current rules fit the data you plan to use.
Or run a small open-weight model on your own computer with Ollama or llama.cpp. You will learn what your hardware can handle and how an application talks to a model.
Or try a coding agent on a personal project, with approvals on, reading every change. Some have free tiers; most capable use requires a subscription.
Whatever you try, test it like a statistician: write ten or twenty questions whose answers you can check, run each a few times, and record the model, date, and settings. That small evaluation is a skill employers value.
Where next? Remember the AI working competency your class needs to graduate; in the College of Science, the course is CS/SCI 173. When you are ready to go deeper, Chapter 6 of the Computational Data Science text covers embeddings, retrieval, tool use, and evaluation for data science.
TRANSITION
Trying a tool is a start. A project you care about can take you further.
CAVEATS
Service documentation rechecked October 12, 2026 (RCAC pages updated September 29). Log in at genai.rcac.purdue.edu: sign in through CILogon, choose Purdue University Main Campus, and complete Purdue SSO; access requires a valid Purdue account. GenAI Studio's API allows 20 requests per minute per user; structured output uses response_format for vLLM-backed models and format for Ollama-backed models. Ollama also has cloud options; llama.cpp serves an OpenAI-compatible API locally. Coding-agent plans and free tiers change often. The AI competency requirement applies from the fall 2026 incoming class; course options vary by college and plan of study. The GenAI Studio SDK and capability guides are optional follow-up materials for students who want to build. The evaluation advice (small checkable sets, repeated runs, recorded settings) is the speaker's synthesis.
SOURCES
Purdue RCAC, GenAI Studio overview and data classification (updated September 29, 2026)
https://docs.rcac.purdue.edu/services/genai/
Authorized for public and sensitive (L2) data under Purdue's data classification; not for restricted data, including FERPA- or HIPAA-regulated data. Purdue-managed; content is not used to train the hosted models; a pilot with limited safety measures. External tools and MCP servers fall outside this authorization. Replaces the September 10 wording, which prohibited sensitive inputs.
Purdue RCAC, GenAI Studio API guide (updated September 29, 2026)
https://docs.rcac.purdue.edu/services/genai/api/
OpenAI-compatible chat-completions requests with GenAI Studio's own base URL, model IDs and limits. Keep the key in an environment variable; 20 requests per minute per user; structured output differs by serving backend; custom models carry attached Knowledge Bases through the API. Model list checked through the API on October 12, 2026 (dozens of open-weight models, including gpt-oss, Qwen, Gemma, Llama and DeepSeek families).
Purdue RCAC, GenAI Studio chat interface (updated September 29, 2026)
https://docs.rcac.purdue.edu/services/genai/chat-interface/
One prompt can go to several models side by side; temperature and a system prompt can be set for a chat; one-time attachments differ from reusable Knowledge Bases.
ggml-org, llama.cpp
https://github.com/ggml-org/llama.cpp
MIT-licensed local inference for open-weight models on CPUs and GPUs, with quantization and an OpenAI-compatible server. What runs well depends on the hardware and the model.
Ollama documentation, FAQ
https://docs.ollama.com/faq
Serving software with local and cloud options. 'Ollama runs locally. We don’t see your prompts or data when you run locally.' Cloud-hosted models and web search send prompts to Ollama's servers (not stored, logged, or used for training, per the FAQ); cloud features can be disabled for local-only mode. Checked September 10 and October 13, 2026 (same statements; the October text snapshot is saved alongside).
Anthropic, Claude Code overview
https://code.claude.com/docs/en/overview
Vendor documentation retrieved October 12, 2026: an agentic coding assistant that reads a codebase, edits files and runs commands from the terminal, IDE, desktop or web. Most surfaces require a Claude subscription or Anthropic Console account.
OpenAI, Codex CLI
https://learn.chatgpt.com/docs/codex/cli
Vendor documentation retrieved October 12, 2026 (developers.openai.com now redirects to learn.chatgpt.com): a terminal agent that inspects, edits and runs code in a local repository; recommends Git checkpoints before and after a task.
OpenAI, Codex pricing (October 2026)
https://learn.chatgpt.com/docs/pricing
Free tier in the desktop app (subject to rollout), paid plans, or API-key usage. Plans change often; dated context only.
Purdue College of Science, AI Competency (CS/SCI 173)
https://www.purdue.edu/science/Current_Students/ai-competency.html
The College of Science course for the requirement: how AI systems work, hands-on use for text, image and data analysis, and a team project supported by RCAC. Students should confirm requirements in their own plan of study.
Purdue (August 19, 2026), AI competency graduation requirement
https://www.purdue.edu/newsroom/2026/Q3/purdues-ai-competency-graduation-requirement-begins-in-every-undergraduate-degree-program/
Beginning with the fall 2026 incoming class, every undergraduate completes an AI working competency in the core curriculum. Emphasizes critical thinking, responsible use and deciding whether AI fits a task, not operating particular tools.
Computational Data Science, Chapter 6: LLMs in Data Science Workflows
https://treese41528.github.io/ComputationalDataScience/Website/part4_llms_datascience/chapter6/index.html
Course chapter for later study: embeddings, retrieval-augmented generation, prompt engineering, tool use, reliability and responsible AI, with GenAI Studio examples. Teaching material, not empirical evidence.
GenAI Studio SDK (GitHub)
https://github.com/treese41528/genai-studio-sdk
Public Python SDK for GenAI Studio: chat, embeddings, retrieval and a teachable tool-using agent framework.
GenAI Studio capability guides (implementation notes, September 14, 2026)
Purdue_GenAI_Studio/index.html
Seven guides: access, structured extraction, Knowledge Bases, retrieval, tools and database lookups, evaluation, and a review interface. Their rule: exact lookups belong in SQL; similarity retrieval suggests candidates. Examples are teaching adaptations; the pages did not run authenticated calls.
Evidence and service collection: September 10, 2026; sources added or rechecked through October 13, 2026. Foundations and course review: September 20, 2026. Slides, figures, and transcript revised October 13, 2026 for one flow across the four opening questions; appropriate AI use throughout Purdue remains the theme. Numerical citations were checked against the saved primary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what interests you with AI, then learn how it works.
Planned time: 150 seconds. The PowerPoint shows complete diagrams; progressive reveals are in the React deck.
DELIVERY CUE
Walk the loop once: build, map, learn, return, pointing to the 'you' side of each step. Stress 'yet' on step 1 and 'beyond courses' on step 3. Then the baseball example, which ties back to expected batting average. End on optional and course rules.
TRANSCRIPT
Here is one optional strategy: build something you care about with AI's help, and let it show you what to learn.
Pick something connected to your interests and a little beyond what you can build alone. AI can help you write code you can't write alone yet. Notice the "yet." In coursework, let AI write only what you understand. A personal project can run ahead of your understanding, because the next steps are about catching up.
Then turn the project into a study plan. Ask the AI what the project depends on: the mathematics, statistics, and computing behind each piece. Give it real context, your courses, what you can already explain, and where you are stuck, and check its list against your course materials.
Then learn those topics. AI can help you find where each one is covered: a Purdue course, a textbook chapter, or documentation. Knowing which course covers a topic helps you plan, but there is no reason to wait for that course or to stop at courses. AI can explain and quiz you, but the problems are yours to work.
Then return to the project. Rebuild one part without AI, explain a design choice, or compare another method. Each pass, more of the project is yours.
Here is an example. If you like baseball, remember expected batting average from earlier: the probability that a batted ball becomes a hit, given its exit velocity and launch angle. MLB's public Statcast search provides pitch-level data with those measurements, the result of each play, and MLB's own estimate. With AI's help you could build a first model, discover that you need conditional probability and model checking, study them, and come back to compare your model with MLB's.
This is optional, and the choice of project is yours. Coursework still follows each course's rules, and working problems yourself remains essential. A project gives you a reason to learn more and a place to use what you learn.
TRANSITION
Whether you build a project or work through a course, the same four questions apply, and one of them matters most.
CAVEATS
Optional instructional suggestion, not an experimentally validated intervention or an employment guarantee. Example sources: MLB's Statcast glossary defines xBA from how often comparable batted balls (exit velocity, launch angle, and for some batted balls sprint speed) became hits; Baseball Savant's CSV documentation lists launch_speed, launch_angle, events, and estimated_ba_using_speedangle. Because MLB also uses sprint speed for some batted balls, a two-variable model will not match it exactly, which is itself worth investigating. No example model was built or run for this talk. Expanded prompt remains in 05_top_down_learning_speaker_notes.md.
SOURCES
MLB.com, Statcast glossary: Expected Batting Average (xBA)
https://www.mlb.com/glossary/statcast/expected-batting-average
Official MLB definition: xBA measures the likelihood that a batted ball will become a hit, based on how often comparable balls (exit velocity, launch angle, and for some batted balls Sprint Speed) have become hits since Statcast was implemented league-wide in 2015. A conditional probability used in industry. Text snapshot saved October 13, 2026.
Baseball Savant (MLB), Statcast Search CSV documentation
https://baseballsavant.mlb.com/csv-docs
Public Statcast Search data are documented field by field, including launch_speed (exit velocity), launch_angle, events (the play's result), and estimated_ba_using_speedangle (MLB's estimated batting average from launch angle and exit velocity). Text snapshot saved October 13, 2026.
GenAI Studio SDK (GitHub)
https://github.com/treese41528/genai-studio-sdk
Public Python SDK for GenAI Studio: chat, embeddings, retrieval and a teachable tool-using agent framework.
Computational Data Science, Chapter 6: LLMs in Data Science Workflows
https://treese41528.github.io/ComputationalDataScience/Website/part4_llms_datascience/chapter6/index.html
Course chapter for later study: embeddings, retrieval-augmented generation, prompt engineering, tool use, reliability and responsible AI, with GenAI Studio examples. Teaching material, not empirical evidence.
Evidence and service collection: September 10, 2026; sources added or rechecked through October 13, 2026. Foundations and course review: September 20, 2026. Slides, figures, and transcript revised October 13, 2026 for one flow across the four opening questions; appropriate AI use throughout Purdue remains the theme. Numerical citations were checked against the saved primary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the thinking; let AI support your growth at Purdue.
Planned time: 120 seconds. The PowerPoint shows complete diagrams; progressive reveals are in the React deck.
DELIVERY CUE
Read the four questions left to right, one sentence each. Then slow down for the panel: the thinking is yours; days, not minutes; no quick fix. Then the action for this week. Close and take questions; allow five minutes.
TRANSCRIPT
Let me bring everything together with the four questions from the start.
What is the purpose? Match your AI use to what you need to learn, and write your own connections from courses to goals.
What is allowed? Follow your course's rules now and your employer's policy later, and share data only where a tool's terms allow it.
What must you do yourself? The thinking: attempt first, then ask for hints, and build the expertise to check and steer AI, which I expect employers to value most.
How will you check it? The same data led AI analysts to different conclusions, so read the passage retrieval returns, check a query's conditions, and review every change an agent makes.
If you remember one thing, make it the thinking. Some of the most valuable time you will spend here is several days on one hard proof or one project that does not work yet. Trying, getting stuck, stepping away, and coming back is how you develop. You saw the evidence: trying problems before being taught built deeper understanding, and students who kept putting in the time with AI scored about as well as students without it. So do not be quick to turn to AI for the quick fix. When you do ask, ask for a hint, after real effort.
Start this week. Pick one hard problem from your coursework and check what help is allowed. Stay with it over several days, then bring one precise question to an instructor or TA.
Keep the thinking yours, and let AI support your growth. Thank you. I am happy to take questions.
TRANSITION
CAVEATS
A summary of the talk's main points; each point's evidence and sources are on its own slide. The advice to give a hard proof or project days rather than minutes is the speaker's; no study in this talk measured multi-day effort. The panel's two evidence lines repeat findings shown earlier: Sinha and Kapur's meta-analysis of 53 studies (slide 9), where the benefit of struggling first depends on instructional design and no waiting time is prescribed, and Strömberg et al. (slide 6), where AI users whose homework time held up scored about like non-users (descriptive, not causal). That employers will value this expertise most is the speaker's forecast (slide 9), not a finding.
SOURCES
Sinha and Kapur (2021), problem solving followed by instruction
https://journals.sagepub.com/doi/10.3102/00346543211019105
Meta-analysis: benefits depend on instructional design, age and domain. Supports purposeful attempts followed by appropriate instruction; no universal waiting time or AI-use prescription.
Strömberg, Lei and Wu (June 2026), The generative AI learning penalty
https://papers.ssrn.com/sol3/papers.cfm?abstract_id=6868618
Staggered difference-in-differences; 26,811 grade 7–12 students in one Chinese county; 30 months of administrative homework, exam and entrance-exam records. Homework +18%, homework time 64 to 45 minutes, closed-book exams −20% (6–10 months); entrance exams about −7% on average and −18%/−24% after two or more years (weaker identification). Losses concentrated among students whose homework time collapsed. Self-reported adoption month; one county; secondary school. PDF supplied by the user.
Additional research: six questions and talk refinements
12_further_research_and_talk_updates.html
Claim-focused review of 13 supplemental sources. No direct validation found for new post-AI junior-DS screens against later job performance; search is not exhaustive.
Evidence and service collection: September 10, 2026; sources added or rechecked through October 13, 2026. Foundations and course review: September 20, 2026. Slides, figures, and transcript revised October 13, 2026 for one flow across the four opening questions; appropriate AI use throughout Purdue remains the theme. Numerical citations were checked against the saved primary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openai.com/index/gpt-6-astra/" TargetMode="External"/><Relationship Id="rId3" Type="http://schemas.openxmlformats.org/officeDocument/2006/relationships/hyperlink" Target="https://www.anthropic.com/claude/fable" TargetMode="External"/><Relationship Id="rId4" Type="http://schemas.openxmlformats.org/officeDocument/2006/relationships/hyperlink" Target="https://naceweb.org/docs/default-source/default-document-library/2026/publication/research-report/2026-job-outlook-report-spring-update.pdf#page=10" TargetMode="External"/><Relationship Id="rId5" Type="http://schemas.openxmlformats.org/officeDocument/2006/relationships/hyperlink" Target="https://naceweb.org/docs/default-source/default-document-library/2026/publication/research-report/2026-job-outlook-report-spring-update.pdf#page=24" TargetMode="External"/><Relationship Id="rId6" Type="http://schemas.openxmlformats.org/officeDocument/2006/relationships/hyperlink" Target="https://naceweb.org/docs/default-source/default-document-library/2026/publication/research-report/2026-job-outlook-report-spring-update.pdf#page=40" TargetMode="External"/><Relationship Id="rId7" Type="http://schemas.openxmlformats.org/officeDocument/2006/relationships/hyperlink" Target="https://digitaleconomy.stanford.edu/publication/canaries-in-the-coal-mine-six-facts-about-the-recent-employment-effects-of-artificial-intelligence/" TargetMode="External"/><Relationship Id="rId8" Type="http://schemas.openxmlformats.org/officeDocument/2006/relationships/hyperlink" Target="https://budgetlab.yale.edu/research/tracking-impact-ai-labor-market" TargetMode="External"/><Relationship Id="rId9" Type="http://schemas.openxmlformats.org/officeDocument/2006/relationships/hyperlink" Target="https://openai.com/index/gpt-6-astra/" TargetMode="External"/><Relationship Id="rId10" Type="http://schemas.openxmlformats.org/officeDocument/2006/relationships/hyperlink" Target="https://www.anthropic.com/claude/fable" TargetMode="External"/><Relationship Id="rId11" Type="http://schemas.openxmlformats.org/officeDocument/2006/relationships/hyperlink" Target="https://naceweb.org/docs/default-source/default-document-library/2026/publication/research-report/2026-job-outlook-report-spring-update.pdf" TargetMode="External"/><Relationship Id="rId12" Type="http://schemas.openxmlformats.org/officeDocument/2006/relationships/hyperlink" Target="https://digitaleconomy.stanford.edu/publication/canaries-in-the-coal-mine-six-facts-about-the-recent-employment-effects-of-artificial-intelligence/" TargetMode="External"/><Relationship Id="rId13" Type="http://schemas.openxmlformats.org/officeDocument/2006/relationships/hyperlink" Target="https://budgetlab.yale.edu/research/tracking-impact-ai-labor-market" TargetMode="External"/><Relationship Id="rId1" Type="http://schemas.openxmlformats.org/officeDocument/2006/relationships/image" Target="../media/image-2-1.png"/><Relationship Id="rId14" Type="http://schemas.openxmlformats.org/officeDocument/2006/relationships/slideLayout" Target="../slideLayouts/slideLayout1.xml"/><Relationship Id="rId1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osf.io/fv8c3/" TargetMode="External"/><Relationship Id="rId3" Type="http://schemas.openxmlformats.org/officeDocument/2006/relationships/hyperlink" Target="https://github.com/amazon-science/agentic-forking-path/tree/d489f03b143fcaa9befb8cc443594ff63ec61eaa/experiment_data" TargetMode="External"/><Relationship Id="rId4" Type="http://schemas.openxmlformats.org/officeDocument/2006/relationships/hyperlink" Target="https://doi.org/10.1073/pnas.2606495123" TargetMode="External"/><Relationship Id="rId5" Type="http://schemas.openxmlformats.org/officeDocument/2006/relationships/hyperlink" Target="https://doi.org/10.1073/pnas.2606495123" TargetMode="External"/><Relationship Id="rId6" Type="http://schemas.openxmlformats.org/officeDocument/2006/relationships/hyperlink" Target="https://github.com/amazon-science/agentic-forking-path/tree/d489f03b143fcaa9befb8cc443594ff63ec61eaa/experiment_data" TargetMode="External"/><Relationship Id="rId7" Type="http://schemas.openxmlformats.org/officeDocument/2006/relationships/hyperlink" Target="https://osf.io/fv8c3/" TargetMode="External"/><Relationship Id="rId1" Type="http://schemas.openxmlformats.org/officeDocument/2006/relationships/image" Target="../media/image-3-1.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github.com/amazon-science/agentic-forking-path/tree/d489f03b143fcaa9befb8cc443594ff63ec61eaa/experiment_data" TargetMode="External"/><Relationship Id="rId3" Type="http://schemas.openxmlformats.org/officeDocument/2006/relationships/hyperlink" Target="https://doi.org/10.1073/pnas.2606495123" TargetMode="External"/><Relationship Id="rId4" Type="http://schemas.openxmlformats.org/officeDocument/2006/relationships/hyperlink" Target="https://doi.org/10.1073/pnas.2606495123" TargetMode="External"/><Relationship Id="rId5" Type="http://schemas.openxmlformats.org/officeDocument/2006/relationships/hyperlink" Target="https://github.com/amazon-science/agentic-forking-path/tree/d489f03b143fcaa9befb8cc443594ff63ec61eaa/experiment_data"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metr.org/blog/2026-02-24-uplift-update/" TargetMode="External"/><Relationship Id="rId3" Type="http://schemas.openxmlformats.org/officeDocument/2006/relationships/hyperlink" Target="https://metr.org/Early_2025_AI_Experienced_OS_Devs_Study-paper.pdf" TargetMode="External"/><Relationship Id="rId4" Type="http://schemas.openxmlformats.org/officeDocument/2006/relationships/hyperlink" Target="https://metr.org/blog/2026-02-24-uplift-update/" TargetMode="External"/><Relationship Id="rId5" Type="http://schemas.openxmlformats.org/officeDocument/2006/relationships/hyperlink" Target="https://metr.org/Early_2025_AI_Experienced_OS_Devs_Study-paper.pdf" TargetMode="External"/><Relationship Id="rId6" Type="http://schemas.openxmlformats.org/officeDocument/2006/relationships/hyperlink" Target="https://metr.org/blog/2026-02-24-uplift-update/" TargetMode="External"/><Relationship Id="rId1" Type="http://schemas.openxmlformats.org/officeDocument/2006/relationships/image" Target="../media/image-5-1.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papers.ssrn.com/sol3/papers.cfm?abstract_id=6868618" TargetMode="External"/><Relationship Id="rId3" Type="http://schemas.openxmlformats.org/officeDocument/2006/relationships/hyperlink" Target="https://arxiv.org/abs/2605.21629" TargetMode="External"/><Relationship Id="rId4" Type="http://schemas.openxmlformats.org/officeDocument/2006/relationships/hyperlink" Target="https://doi.org/10.26300/y3f8-vh05" TargetMode="External"/><Relationship Id="rId5" Type="http://schemas.openxmlformats.org/officeDocument/2006/relationships/hyperlink" Target="https://arxiv.org/abs/2609.23958" TargetMode="External"/><Relationship Id="rId6" Type="http://schemas.openxmlformats.org/officeDocument/2006/relationships/hyperlink" Target="https://papers.ssrn.com/sol3/papers.cfm?abstract_id=6868618" TargetMode="External"/><Relationship Id="rId7" Type="http://schemas.openxmlformats.org/officeDocument/2006/relationships/hyperlink" Target="https://arxiv.org/abs/2605.21629" TargetMode="External"/><Relationship Id="rId8" Type="http://schemas.openxmlformats.org/officeDocument/2006/relationships/hyperlink" Target="https://doi.org/10.26300/y3f8-vh05" TargetMode="External"/><Relationship Id="rId9" Type="http://schemas.openxmlformats.org/officeDocument/2006/relationships/hyperlink" Target="https://arxiv.org/abs/2609.23958" TargetMode="External"/><Relationship Id="rId1" Type="http://schemas.openxmlformats.org/officeDocument/2006/relationships/image" Target="../media/image-6-1.png"/><Relationship Id="rId10" Type="http://schemas.openxmlformats.org/officeDocument/2006/relationships/slideLayout" Target="../slideLayouts/slideLayout1.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docs.iza.org/dp18513.pdf" TargetMode="External"/><Relationship Id="rId3" Type="http://schemas.openxmlformats.org/officeDocument/2006/relationships/hyperlink" Target="https://arxiv.org/abs/2609.23958" TargetMode="External"/><Relationship Id="rId4" Type="http://schemas.openxmlformats.org/officeDocument/2006/relationships/hyperlink" Target="https://docs.iza.org/dp18513.pdf" TargetMode="External"/><Relationship Id="rId5" Type="http://schemas.openxmlformats.org/officeDocument/2006/relationships/hyperlink" Target="https://docs.iza.org/dp18513.pdf" TargetMode="External"/><Relationship Id="rId6" Type="http://schemas.openxmlformats.org/officeDocument/2006/relationships/hyperlink" Target="https://arxiv.org/abs/2609.23958" TargetMode="External"/><Relationship Id="rId1" Type="http://schemas.openxmlformats.org/officeDocument/2006/relationships/image" Target="../media/image-7-1.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purdue.edu/teaching-learning/instructors/ai.php" TargetMode="External"/><Relationship Id="rId3" Type="http://schemas.openxmlformats.org/officeDocument/2006/relationships/hyperlink" Target="https://www.amstat.org/your-career/ethical-guidelines-for-statistical-practice" TargetMode="External"/><Relationship Id="rId4" Type="http://schemas.openxmlformats.org/officeDocument/2006/relationships/hyperlink" Target="https://www.purdue.edu/teaching-learning/instructors/ai.php" TargetMode="External"/><Relationship Id="rId5" Type="http://schemas.openxmlformats.org/officeDocument/2006/relationships/hyperlink" Target="https://www.amstat.org/your-career/ethical-guidelines-for-statistical-practice" TargetMode="External"/><Relationship Id="rId1" Type="http://schemas.openxmlformats.org/officeDocument/2006/relationships/image" Target="../media/image-8-1.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www.gallup.com/workplace/712736/organizational-adoption-jumps-six-points.aspx" TargetMode="External"/><Relationship Id="rId3" Type="http://schemas.openxmlformats.org/officeDocument/2006/relationships/hyperlink" Target="https://digitaleconomy.stanford.edu/publication/canaries-in-the-coal-mine-six-facts-about-the-recent-employment-effects-of-artificial-intelligence/" TargetMode="External"/><Relationship Id="rId4" Type="http://schemas.openxmlformats.org/officeDocument/2006/relationships/hyperlink" Target="https://digitaleconomy.stanford.edu/project/indicators/canaries-dashboard/" TargetMode="External"/><Relationship Id="rId5" Type="http://schemas.openxmlformats.org/officeDocument/2006/relationships/hyperlink" Target="https://doi.org/10.1148/radiol.222176" TargetMode="External"/><Relationship Id="rId6" Type="http://schemas.openxmlformats.org/officeDocument/2006/relationships/hyperlink" Target="https://journals.sagepub.com/doi/10.3102/00346543211019105" TargetMode="External"/><Relationship Id="rId7" Type="http://schemas.openxmlformats.org/officeDocument/2006/relationships/hyperlink" Target="https://doi.org/10.1103/PhysRevSTPER.6.010104" TargetMode="External"/><Relationship Id="rId8" Type="http://schemas.openxmlformats.org/officeDocument/2006/relationships/hyperlink" Target="https://www.gallup.com/workplace/712736/organizational-adoption-jumps-six-points.aspx" TargetMode="External"/><Relationship Id="rId9" Type="http://schemas.openxmlformats.org/officeDocument/2006/relationships/hyperlink" Target="https://digitaleconomy.stanford.edu/publication/canaries-in-the-coal-mine-six-facts-about-the-recent-employment-effects-of-artificial-intelligence/" TargetMode="External"/><Relationship Id="rId10" Type="http://schemas.openxmlformats.org/officeDocument/2006/relationships/hyperlink" Target="https://digitaleconomy.stanford.edu/project/indicators/canaries-dashboard/" TargetMode="External"/><Relationship Id="rId11" Type="http://schemas.openxmlformats.org/officeDocument/2006/relationships/hyperlink" Target="https://doi.org/10.1148/radiol.222176" TargetMode="External"/><Relationship Id="rId12" Type="http://schemas.openxmlformats.org/officeDocument/2006/relationships/hyperlink" Target="https://journals.sagepub.com/doi/10.3102/00346543211019105" TargetMode="External"/><Relationship Id="rId13" Type="http://schemas.openxmlformats.org/officeDocument/2006/relationships/hyperlink" Target="https://doi.org/10.1103/PhysRevSTPER.6.010104" TargetMode="External"/><Relationship Id="rId14" Type="http://schemas.openxmlformats.org/officeDocument/2006/relationships/hyperlink" Target="https://doi.org/10.1126/science.adj0998" TargetMode="External"/><Relationship Id="rId1" Type="http://schemas.openxmlformats.org/officeDocument/2006/relationships/image" Target="../media/image-9-1.png"/><Relationship Id="rId15" Type="http://schemas.openxmlformats.org/officeDocument/2006/relationships/slideLayout" Target="../slideLayouts/slideLayout1.xml"/><Relationship Id="rId1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www.purdue.edu/science/archive/docs/current-students/majors/dsst-f25-dpg1.pdf" TargetMode="External"/><Relationship Id="rId3" Type="http://schemas.openxmlformats.org/officeDocument/2006/relationships/hyperlink" Target="https://jmlr.org/papers/v18/17-468.html" TargetMode="External"/><Relationship Id="rId4" Type="http://schemas.openxmlformats.org/officeDocument/2006/relationships/hyperlink" Target="https://doi.org/10.1038/323533a0" TargetMode="External"/><Relationship Id="rId5" Type="http://schemas.openxmlformats.org/officeDocument/2006/relationships/hyperlink" Target="https://www.math.purdue.edu/academic/courses/Course-Description.html" TargetMode="External"/><Relationship Id="rId6" Type="http://schemas.openxmlformats.org/officeDocument/2006/relationships/hyperlink" Target="https://web.stanford.edu/~jurafsky/slp3/3.pdf" TargetMode="External"/><Relationship Id="rId7" Type="http://schemas.openxmlformats.org/officeDocument/2006/relationships/hyperlink" Target="https://cdn.openai.com/research-covers/language-unsupervised/language_understanding_paper.pdf" TargetMode="External"/><Relationship Id="rId8" Type="http://schemas.openxmlformats.org/officeDocument/2006/relationships/hyperlink" Target="https://arxiv.org/abs/1908.10084" TargetMode="External"/><Relationship Id="rId9" Type="http://schemas.openxmlformats.org/officeDocument/2006/relationships/hyperlink" Target="https://arxiv.org/abs/2107.07511" TargetMode="External"/><Relationship Id="rId10" Type="http://schemas.openxmlformats.org/officeDocument/2006/relationships/hyperlink" Target="https://arxiv.org/abs/2306.10193" TargetMode="External"/><Relationship Id="rId11" Type="http://schemas.openxmlformats.org/officeDocument/2006/relationships/hyperlink" Target="https://www.purdue.edu/science/archive/docs/current-students/majors/dsst-f25-dpg1.pdf" TargetMode="External"/><Relationship Id="rId12" Type="http://schemas.openxmlformats.org/officeDocument/2006/relationships/hyperlink" Target="https://jmlr.org/papers/v18/17-468.html" TargetMode="External"/><Relationship Id="rId13" Type="http://schemas.openxmlformats.org/officeDocument/2006/relationships/hyperlink" Target="https://doi.org/10.1038/323533a0" TargetMode="External"/><Relationship Id="rId14" Type="http://schemas.openxmlformats.org/officeDocument/2006/relationships/hyperlink" Target="https://www.math.purdue.edu/academic/courses/Course-Description.html" TargetMode="External"/><Relationship Id="rId15" Type="http://schemas.openxmlformats.org/officeDocument/2006/relationships/hyperlink" Target="https://web.stanford.edu/~jurafsky/slp3/3.pdf" TargetMode="External"/><Relationship Id="rId16" Type="http://schemas.openxmlformats.org/officeDocument/2006/relationships/hyperlink" Target="https://cdn.openai.com/research-covers/language-unsupervised/language_understanding_paper.pdf" TargetMode="External"/><Relationship Id="rId17" Type="http://schemas.openxmlformats.org/officeDocument/2006/relationships/hyperlink" Target="https://arxiv.org/abs/1908.10084" TargetMode="External"/><Relationship Id="rId18" Type="http://schemas.openxmlformats.org/officeDocument/2006/relationships/hyperlink" Target="https://arxiv.org/abs/2107.07511" TargetMode="External"/><Relationship Id="rId19" Type="http://schemas.openxmlformats.org/officeDocument/2006/relationships/hyperlink" Target="https://arxiv.org/abs/2306.10193" TargetMode="External"/><Relationship Id="rId1" Type="http://schemas.openxmlformats.org/officeDocument/2006/relationships/image" Target="../media/image-10-1.png"/><Relationship Id="rId20" Type="http://schemas.openxmlformats.org/officeDocument/2006/relationships/slideLayout" Target="../slideLayouts/slideLayout1.xml"/><Relationship Id="rId2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www.stat.purdue.edu/academic_programs/undergraduate/index.php?semester=Fall&amp;year=2026" TargetMode="External"/><Relationship Id="rId3" Type="http://schemas.openxmlformats.org/officeDocument/2006/relationships/hyperlink" Target="https://www.mlb.com/glossary/statcast/expected-batting-average" TargetMode="External"/><Relationship Id="rId4" Type="http://schemas.openxmlformats.org/officeDocument/2006/relationships/hyperlink" Target="https://theanalyst.com/articles/what-is-expected-goals-xg" TargetMode="External"/><Relationship Id="rId5" Type="http://schemas.openxmlformats.org/officeDocument/2006/relationships/hyperlink" Target="https://pmc.ncbi.nlm.nih.gov/articles/PMC4610746/" TargetMode="External"/><Relationship Id="rId6" Type="http://schemas.openxmlformats.org/officeDocument/2006/relationships/hyperlink" Target="https://www.stat.purdue.edu/academic_programs/undergraduate/index.php?semester=Fall&amp;year=2026" TargetMode="External"/><Relationship Id="rId7" Type="http://schemas.openxmlformats.org/officeDocument/2006/relationships/hyperlink" Target="https://www.mlb.com/glossary/statcast/expected-batting-average" TargetMode="External"/><Relationship Id="rId8" Type="http://schemas.openxmlformats.org/officeDocument/2006/relationships/hyperlink" Target="https://theanalyst.com/articles/what-is-expected-goals-xg" TargetMode="External"/><Relationship Id="rId9" Type="http://schemas.openxmlformats.org/officeDocument/2006/relationships/hyperlink" Target="https://pmc.ncbi.nlm.nih.gov/articles/PMC4610746/" TargetMode="External"/><Relationship Id="rId1" Type="http://schemas.openxmlformats.org/officeDocument/2006/relationships/image" Target="../media/image-11-1.png"/><Relationship Id="rId10" Type="http://schemas.openxmlformats.org/officeDocument/2006/relationships/slideLayout" Target="../slideLayouts/slideLayout1.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ai.google.dev/gemini-api/terms" TargetMode="External"/><Relationship Id="rId3" Type="http://schemas.openxmlformats.org/officeDocument/2006/relationships/hyperlink" Target="https://code.claude.com/docs/en/overview" TargetMode="External"/><Relationship Id="rId4" Type="http://schemas.openxmlformats.org/officeDocument/2006/relationships/hyperlink" Target="https://learn.chatgpt.com/docs/pricing" TargetMode="External"/><Relationship Id="rId5" Type="http://schemas.openxmlformats.org/officeDocument/2006/relationships/hyperlink" Target="https://github.com/google-gemini/gemini-cli" TargetMode="External"/><Relationship Id="rId6" Type="http://schemas.openxmlformats.org/officeDocument/2006/relationships/hyperlink" Target="https://learn.microsoft.com/en-us/microsoft-365/copilot/enterprise-data-protection" TargetMode="External"/><Relationship Id="rId7" Type="http://schemas.openxmlformats.org/officeDocument/2006/relationships/hyperlink" Target="https://ai.google.dev/gemini-api/terms" TargetMode="External"/><Relationship Id="rId8" Type="http://schemas.openxmlformats.org/officeDocument/2006/relationships/hyperlink" Target="https://code.claude.com/docs/en/overview" TargetMode="External"/><Relationship Id="rId9" Type="http://schemas.openxmlformats.org/officeDocument/2006/relationships/hyperlink" Target="https://learn.chatgpt.com/docs/pricing" TargetMode="External"/><Relationship Id="rId10" Type="http://schemas.openxmlformats.org/officeDocument/2006/relationships/hyperlink" Target="https://github.com/google-gemini/gemini-cli" TargetMode="External"/><Relationship Id="rId11" Type="http://schemas.openxmlformats.org/officeDocument/2006/relationships/hyperlink" Target="https://docs.rcac.purdue.edu/services/genai/" TargetMode="External"/><Relationship Id="rId12" Type="http://schemas.openxmlformats.org/officeDocument/2006/relationships/hyperlink" Target="https://genai.rcac.purdue.edu/" TargetMode="External"/><Relationship Id="rId13" Type="http://schemas.openxmlformats.org/officeDocument/2006/relationships/hyperlink" Target="https://docs.rcac.purdue.edu/services/genai/api/" TargetMode="External"/><Relationship Id="rId14" Type="http://schemas.openxmlformats.org/officeDocument/2006/relationships/hyperlink" Target="https://github.com/treese41528/genai-studio-sdk" TargetMode="External"/><Relationship Id="rId15" Type="http://schemas.openxmlformats.org/officeDocument/2006/relationships/hyperlink" Target="https://github.com/ggml-org/llama.cpp" TargetMode="External"/><Relationship Id="rId16" Type="http://schemas.openxmlformats.org/officeDocument/2006/relationships/hyperlink" Target="https://docs.ollama.com/faq" TargetMode="External"/><Relationship Id="rId17" Type="http://schemas.openxmlformats.org/officeDocument/2006/relationships/hyperlink" Target="https://github.com/ggml-org/llama.cpp" TargetMode="External"/><Relationship Id="rId18" Type="http://schemas.openxmlformats.org/officeDocument/2006/relationships/hyperlink" Target="https://support.google.com/gemini/answer/13594961" TargetMode="External"/><Relationship Id="rId19" Type="http://schemas.openxmlformats.org/officeDocument/2006/relationships/hyperlink" Target="https://www.anthropic.com/news/updates-to-our-consumer-terms" TargetMode="External"/><Relationship Id="rId20" Type="http://schemas.openxmlformats.org/officeDocument/2006/relationships/hyperlink" Target="https://learn.chatgpt.com/docs/pricing" TargetMode="External"/><Relationship Id="rId21" Type="http://schemas.openxmlformats.org/officeDocument/2006/relationships/hyperlink" Target="https://learn.microsoft.com/en-us/microsoft-365/copilot/enterprise-data-protection" TargetMode="External"/><Relationship Id="rId22" Type="http://schemas.openxmlformats.org/officeDocument/2006/relationships/hyperlink" Target="https://docs.rcac.purdue.edu/services/genai/" TargetMode="External"/><Relationship Id="rId23" Type="http://schemas.openxmlformats.org/officeDocument/2006/relationships/hyperlink" Target="https://docs.ollama.com/faq" TargetMode="External"/><Relationship Id="rId24" Type="http://schemas.openxmlformats.org/officeDocument/2006/relationships/hyperlink" Target="https://ai.google.dev/gemini-api/terms" TargetMode="External"/><Relationship Id="rId25" Type="http://schemas.openxmlformats.org/officeDocument/2006/relationships/hyperlink" Target="https://code.claude.com/docs/en/overview" TargetMode="External"/><Relationship Id="rId26" Type="http://schemas.openxmlformats.org/officeDocument/2006/relationships/hyperlink" Target="https://learn.chatgpt.com/docs/pricing" TargetMode="External"/><Relationship Id="rId27" Type="http://schemas.openxmlformats.org/officeDocument/2006/relationships/hyperlink" Target="https://github.com/google-gemini/gemini-cli" TargetMode="External"/><Relationship Id="rId28" Type="http://schemas.openxmlformats.org/officeDocument/2006/relationships/hyperlink" Target="https://learn.microsoft.com/en-us/microsoft-365/copilot/enterprise-data-protection" TargetMode="External"/><Relationship Id="rId29" Type="http://schemas.openxmlformats.org/officeDocument/2006/relationships/hyperlink" Target="https://docs.rcac.purdue.edu/services/genai/" TargetMode="External"/><Relationship Id="rId30" Type="http://schemas.openxmlformats.org/officeDocument/2006/relationships/hyperlink" Target="https://docs.rcac.purdue.edu/services/genai/api/" TargetMode="External"/><Relationship Id="rId31" Type="http://schemas.openxmlformats.org/officeDocument/2006/relationships/hyperlink" Target="https://github.com/treese41528/genai-studio-sdk" TargetMode="External"/><Relationship Id="rId32" Type="http://schemas.openxmlformats.org/officeDocument/2006/relationships/hyperlink" Target="https://github.com/ggml-org/llama.cpp" TargetMode="External"/><Relationship Id="rId33" Type="http://schemas.openxmlformats.org/officeDocument/2006/relationships/hyperlink" Target="https://docs.ollama.com/faq" TargetMode="External"/><Relationship Id="rId34" Type="http://schemas.openxmlformats.org/officeDocument/2006/relationships/hyperlink" Target="https://support.google.com/gemini/answer/13594961" TargetMode="External"/><Relationship Id="rId35" Type="http://schemas.openxmlformats.org/officeDocument/2006/relationships/hyperlink" Target="https://www.anthropic.com/news/updates-to-our-consumer-terms" TargetMode="External"/><Relationship Id="rId1" Type="http://schemas.openxmlformats.org/officeDocument/2006/relationships/image" Target="../media/image-12-1.png"/><Relationship Id="rId36" Type="http://schemas.openxmlformats.org/officeDocument/2006/relationships/slideLayout" Target="../slideLayouts/slideLayout1.xml"/><Relationship Id="rId3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docs.rcac.purdue.edu/services/genai/workspace/" TargetMode="External"/><Relationship Id="rId3" Type="http://schemas.openxmlformats.org/officeDocument/2006/relationships/hyperlink" Target="https://osf.io/fv8c3/" TargetMode="External"/><Relationship Id="rId4" Type="http://schemas.openxmlformats.org/officeDocument/2006/relationships/hyperlink" Target="https://huggingface.co/sentence-transformers/all-MiniLM-L6-v2" TargetMode="External"/><Relationship Id="rId5" Type="http://schemas.openxmlformats.org/officeDocument/2006/relationships/hyperlink" Target="https://github.com/amazon-science/agentic-forking-path/tree/d489f03b143fcaa9befb8cc443594ff63ec61eaa/experiment_data" TargetMode="External"/><Relationship Id="rId6" Type="http://schemas.openxmlformats.org/officeDocument/2006/relationships/hyperlink" Target="https://huggingface.co/sentence-transformers/all-MiniLM-L6-v2" TargetMode="External"/><Relationship Id="rId7" Type="http://schemas.openxmlformats.org/officeDocument/2006/relationships/hyperlink" Target="https://docs.rcac.purdue.edu/services/genai/workspace/" TargetMode="External"/><Relationship Id="rId8" Type="http://schemas.openxmlformats.org/officeDocument/2006/relationships/hyperlink" Target="https://osf.io/fv8c3/" TargetMode="External"/><Relationship Id="rId9" Type="http://schemas.openxmlformats.org/officeDocument/2006/relationships/hyperlink" Target="https://huggingface.co/sentence-transformers/all-MiniLM-L6-v2" TargetMode="External"/><Relationship Id="rId10" Type="http://schemas.openxmlformats.org/officeDocument/2006/relationships/hyperlink" Target="https://github.com/amazon-science/agentic-forking-path/tree/d489f03b143fcaa9befb8cc443594ff63ec61eaa/experiment_data" TargetMode="External"/><Relationship Id="rId1" Type="http://schemas.openxmlformats.org/officeDocument/2006/relationships/image" Target="../media/image-13-1.png"/><Relationship Id="rId11" Type="http://schemas.openxmlformats.org/officeDocument/2006/relationships/slideLayout" Target="../slideLayouts/slideLayout1.xml"/><Relationship Id="rId1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learn.chatgpt.com/docs/agent-approvals-security" TargetMode="External"/><Relationship Id="rId3" Type="http://schemas.openxmlformats.org/officeDocument/2006/relationships/hyperlink" Target="https://code.claude.com/docs/en/security" TargetMode="External"/><Relationship Id="rId4" Type="http://schemas.openxmlformats.org/officeDocument/2006/relationships/hyperlink" Target="https://learn.chatgpt.com/docs/agent-approvals-security" TargetMode="External"/><Relationship Id="rId5" Type="http://schemas.openxmlformats.org/officeDocument/2006/relationships/hyperlink" Target="https://genai.owasp.org/llmrisk/llm01-prompt-injection/" TargetMode="External"/><Relationship Id="rId6" Type="http://schemas.openxmlformats.org/officeDocument/2006/relationships/hyperlink" Target="https://arxiv.org/abs/2601.20245" TargetMode="External"/><Relationship Id="rId7" Type="http://schemas.openxmlformats.org/officeDocument/2006/relationships/hyperlink" Target="https://learn.chatgpt.com/docs/agent-approvals-security" TargetMode="External"/><Relationship Id="rId8" Type="http://schemas.openxmlformats.org/officeDocument/2006/relationships/hyperlink" Target="https://code.claude.com/docs/en/security" TargetMode="External"/><Relationship Id="rId9" Type="http://schemas.openxmlformats.org/officeDocument/2006/relationships/hyperlink" Target="https://arxiv.org/abs/2601.20245" TargetMode="External"/><Relationship Id="rId10" Type="http://schemas.openxmlformats.org/officeDocument/2006/relationships/hyperlink" Target="https://genai.owasp.org/llmrisk/llm01-prompt-injection/" TargetMode="External"/><Relationship Id="rId1" Type="http://schemas.openxmlformats.org/officeDocument/2006/relationships/image" Target="../media/image-14-1.png"/><Relationship Id="rId11" Type="http://schemas.openxmlformats.org/officeDocument/2006/relationships/slideLayout" Target="../slideLayouts/slideLayout1.xml"/><Relationship Id="rId1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genai.rcac.purdue.edu/" TargetMode="External"/><Relationship Id="rId3" Type="http://schemas.openxmlformats.org/officeDocument/2006/relationships/hyperlink" Target="https://docs.rcac.purdue.edu/services/genai/api/" TargetMode="External"/><Relationship Id="rId4" Type="http://schemas.openxmlformats.org/officeDocument/2006/relationships/hyperlink" Target="https://docs.rcac.purdue.edu/services/genai/" TargetMode="External"/><Relationship Id="rId5" Type="http://schemas.openxmlformats.org/officeDocument/2006/relationships/hyperlink" Target="https://github.com/ggml-org/llama.cpp" TargetMode="External"/><Relationship Id="rId6" Type="http://schemas.openxmlformats.org/officeDocument/2006/relationships/hyperlink" Target="https://docs.ollama.com/faq" TargetMode="External"/><Relationship Id="rId7" Type="http://schemas.openxmlformats.org/officeDocument/2006/relationships/hyperlink" Target="https://learn.chatgpt.com/docs/agent-approvals-security" TargetMode="External"/><Relationship Id="rId8" Type="http://schemas.openxmlformats.org/officeDocument/2006/relationships/hyperlink" Target="https://www.purdue.edu/science/Current_Students/ai-competency.html" TargetMode="External"/><Relationship Id="rId9" Type="http://schemas.openxmlformats.org/officeDocument/2006/relationships/hyperlink" Target="https://treese41528.github.io/ComputationalDataScience/Website/part4_llms_datascience/chapter6/index.html" TargetMode="External"/><Relationship Id="rId10" Type="http://schemas.openxmlformats.org/officeDocument/2006/relationships/hyperlink" Target="https://docs.rcac.purdue.edu/services/genai/" TargetMode="External"/><Relationship Id="rId11" Type="http://schemas.openxmlformats.org/officeDocument/2006/relationships/hyperlink" Target="https://docs.rcac.purdue.edu/services/genai/api/" TargetMode="External"/><Relationship Id="rId12" Type="http://schemas.openxmlformats.org/officeDocument/2006/relationships/hyperlink" Target="https://github.com/ggml-org/llama.cpp" TargetMode="External"/><Relationship Id="rId13" Type="http://schemas.openxmlformats.org/officeDocument/2006/relationships/hyperlink" Target="https://learn.chatgpt.com/docs/agent-approvals-security" TargetMode="External"/><Relationship Id="rId14" Type="http://schemas.openxmlformats.org/officeDocument/2006/relationships/hyperlink" Target="https://www.purdue.edu/science/Current_Students/ai-competency.html" TargetMode="External"/><Relationship Id="rId15" Type="http://schemas.openxmlformats.org/officeDocument/2006/relationships/hyperlink" Target="https://treese41528.github.io/ComputationalDataScience/Website/part4_llms_datascience/chapter6/index.html" TargetMode="External"/><Relationship Id="rId1" Type="http://schemas.openxmlformats.org/officeDocument/2006/relationships/image" Target="../media/image-15-1.png"/><Relationship Id="rId16" Type="http://schemas.openxmlformats.org/officeDocument/2006/relationships/slideLayout" Target="../slideLayouts/slideLayout1.xml"/><Relationship Id="rId1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www.mlb.com/glossary/statcast/expected-batting-average" TargetMode="External"/><Relationship Id="rId3" Type="http://schemas.openxmlformats.org/officeDocument/2006/relationships/hyperlink" Target="https://baseballsavant.mlb.com/csv-docs" TargetMode="External"/><Relationship Id="rId4" Type="http://schemas.openxmlformats.org/officeDocument/2006/relationships/hyperlink" Target="https://www.mlb.com/glossary/statcast/expected-batting-average" TargetMode="External"/><Relationship Id="rId5" Type="http://schemas.openxmlformats.org/officeDocument/2006/relationships/hyperlink" Target="https://baseballsavant.mlb.com/csv-docs" TargetMode="External"/><Relationship Id="rId1" Type="http://schemas.openxmlformats.org/officeDocument/2006/relationships/image" Target="../media/image-16-1.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journals.sagepub.com/doi/10.3102/00346543211019105" TargetMode="External"/><Relationship Id="rId3" Type="http://schemas.openxmlformats.org/officeDocument/2006/relationships/hyperlink" Target="https://papers.ssrn.com/sol3/papers.cfm?abstract_id=6868618" TargetMode="External"/><Relationship Id="rId4" Type="http://schemas.openxmlformats.org/officeDocument/2006/relationships/hyperlink" Target="https://journals.sagepub.com/doi/10.3102/00346543211019105" TargetMode="External"/><Relationship Id="rId5" Type="http://schemas.openxmlformats.org/officeDocument/2006/relationships/hyperlink" Target="https://papers.ssrn.com/sol3/papers.cfm?abstract_id=6868618" TargetMode="External"/><Relationship Id="rId1" Type="http://schemas.openxmlformats.org/officeDocument/2006/relationships/image" Target="../media/image-17-1.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Use AI appropriately as you grow at Purdue.">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Learn to use AI as part of your Purdue education.">    </p:cNvPr>
          <p:cNvPicPr>
            <a:picLocks noChangeAspect="1"/>
          </p:cNvPicPr>
          <p:nvPr/>
        </p:nvPicPr>
        <p:blipFill>
          <a:blip r:embed="rId1"/>
          <a:stretch>
            <a:fillRect/>
          </a:stretch>
        </p:blipFill>
        <p:spPr>
          <a:xfrm>
            <a:off x="0" y="0"/>
            <a:ext cx="12192000" cy="6858000"/>
          </a:xfrm>
          <a:prstGeom prst="rect">
            <a:avLst/>
          </a:prstGeom>
        </p:spPr>
      </p:pic>
      <p:sp>
        <p:nvSpPr>
          <p:cNvPr id="3" name="Shape 0">
            <a:hlinkClick r:id="rId2" tooltip="[1]"/>
          </p:cNvPr>
          <p:cNvSpPr/>
          <p:nvPr/>
        </p:nvSpPr>
        <p:spPr>
          <a:xfrm>
            <a:off x="10370820" y="1330881"/>
            <a:ext cx="144780" cy="121920"/>
          </a:xfrm>
          <a:prstGeom prst="rect">
            <a:avLst/>
          </a:prstGeom>
          <a:solidFill>
            <a:srgbClr val="FFFFFF">
              <a:alpha val="0"/>
            </a:srgbClr>
          </a:solidFill>
          <a:ln w="12700">
            <a:solidFill>
              <a:srgbClr val="FFFFFF">
                <a:alpha val="0"/>
              </a:srgbClr>
            </a:solidFill>
            <a:prstDash val="solid"/>
          </a:ln>
        </p:spPr>
      </p:sp>
      <p:sp>
        <p:nvSpPr>
          <p:cNvPr id="4" name="Shape 1">
            <a:hlinkClick r:id="rId3" tooltip="[2]"/>
          </p:cNvPr>
          <p:cNvSpPr/>
          <p:nvPr/>
        </p:nvSpPr>
        <p:spPr>
          <a:xfrm>
            <a:off x="11437620" y="1330881"/>
            <a:ext cx="144780" cy="121920"/>
          </a:xfrm>
          <a:prstGeom prst="rect">
            <a:avLst/>
          </a:prstGeom>
          <a:solidFill>
            <a:srgbClr val="FFFFFF">
              <a:alpha val="0"/>
            </a:srgbClr>
          </a:solidFill>
          <a:ln w="12700">
            <a:solidFill>
              <a:srgbClr val="FFFFFF">
                <a:alpha val="0"/>
              </a:srgbClr>
            </a:solidFill>
            <a:prstDash val="solid"/>
          </a:ln>
        </p:spPr>
      </p:sp>
      <p:sp>
        <p:nvSpPr>
          <p:cNvPr id="5" name="Shape 2">
            <a:hlinkClick r:id="rId4" tooltip="[3]"/>
          </p:cNvPr>
          <p:cNvSpPr/>
          <p:nvPr/>
        </p:nvSpPr>
        <p:spPr>
          <a:xfrm>
            <a:off x="3893820" y="3557230"/>
            <a:ext cx="167640" cy="137160"/>
          </a:xfrm>
          <a:prstGeom prst="rect">
            <a:avLst/>
          </a:prstGeom>
          <a:solidFill>
            <a:srgbClr val="FFFFFF">
              <a:alpha val="0"/>
            </a:srgbClr>
          </a:solidFill>
          <a:ln w="12700">
            <a:solidFill>
              <a:srgbClr val="FFFFFF">
                <a:alpha val="0"/>
              </a:srgbClr>
            </a:solidFill>
            <a:prstDash val="solid"/>
          </a:ln>
        </p:spPr>
      </p:sp>
      <p:sp>
        <p:nvSpPr>
          <p:cNvPr id="6" name="Shape 3">
            <a:hlinkClick r:id="rId5" tooltip="[3]"/>
          </p:cNvPr>
          <p:cNvSpPr/>
          <p:nvPr/>
        </p:nvSpPr>
        <p:spPr>
          <a:xfrm>
            <a:off x="4754880" y="4159210"/>
            <a:ext cx="167640" cy="137160"/>
          </a:xfrm>
          <a:prstGeom prst="rect">
            <a:avLst/>
          </a:prstGeom>
          <a:solidFill>
            <a:srgbClr val="FFFFFF">
              <a:alpha val="0"/>
            </a:srgbClr>
          </a:solidFill>
          <a:ln w="12700">
            <a:solidFill>
              <a:srgbClr val="FFFFFF">
                <a:alpha val="0"/>
              </a:srgbClr>
            </a:solidFill>
            <a:prstDash val="solid"/>
          </a:ln>
        </p:spPr>
      </p:sp>
      <p:sp>
        <p:nvSpPr>
          <p:cNvPr id="7" name="Shape 4">
            <a:hlinkClick r:id="rId6" tooltip="[3]"/>
          </p:cNvPr>
          <p:cNvSpPr/>
          <p:nvPr/>
        </p:nvSpPr>
        <p:spPr>
          <a:xfrm>
            <a:off x="4953000" y="4374833"/>
            <a:ext cx="167640" cy="137160"/>
          </a:xfrm>
          <a:prstGeom prst="rect">
            <a:avLst/>
          </a:prstGeom>
          <a:solidFill>
            <a:srgbClr val="FFFFFF">
              <a:alpha val="0"/>
            </a:srgbClr>
          </a:solidFill>
          <a:ln w="12700">
            <a:solidFill>
              <a:srgbClr val="FFFFFF">
                <a:alpha val="0"/>
              </a:srgbClr>
            </a:solidFill>
            <a:prstDash val="solid"/>
          </a:ln>
        </p:spPr>
      </p:sp>
      <p:sp>
        <p:nvSpPr>
          <p:cNvPr id="8" name="Shape 5">
            <a:hlinkClick r:id="rId7" tooltip="[4]"/>
          </p:cNvPr>
          <p:cNvSpPr/>
          <p:nvPr/>
        </p:nvSpPr>
        <p:spPr>
          <a:xfrm>
            <a:off x="8450580" y="3377327"/>
            <a:ext cx="167640" cy="137160"/>
          </a:xfrm>
          <a:prstGeom prst="rect">
            <a:avLst/>
          </a:prstGeom>
          <a:solidFill>
            <a:srgbClr val="FFFFFF">
              <a:alpha val="0"/>
            </a:srgbClr>
          </a:solidFill>
          <a:ln w="12700">
            <a:solidFill>
              <a:srgbClr val="FFFFFF">
                <a:alpha val="0"/>
              </a:srgbClr>
            </a:solidFill>
            <a:prstDash val="solid"/>
          </a:ln>
        </p:spPr>
      </p:sp>
      <p:sp>
        <p:nvSpPr>
          <p:cNvPr id="9" name="Shape 6">
            <a:hlinkClick r:id="rId8" tooltip="[5]"/>
          </p:cNvPr>
          <p:cNvSpPr/>
          <p:nvPr/>
        </p:nvSpPr>
        <p:spPr>
          <a:xfrm>
            <a:off x="11193780" y="3730823"/>
            <a:ext cx="167640" cy="137160"/>
          </a:xfrm>
          <a:prstGeom prst="rect">
            <a:avLst/>
          </a:prstGeom>
          <a:solidFill>
            <a:srgbClr val="FFFFFF">
              <a:alpha val="0"/>
            </a:srgbClr>
          </a:solidFill>
          <a:ln w="12700">
            <a:solidFill>
              <a:srgbClr val="FFFFFF">
                <a:alpha val="0"/>
              </a:srgbClr>
            </a:solidFill>
            <a:prstDash val="solid"/>
          </a:ln>
        </p:spPr>
      </p:sp>
      <p:sp>
        <p:nvSpPr>
          <p:cNvPr id="10" name="Shape 7">
            <a:hlinkClick r:id="rId9" tooltip="[1] OpenAI, Astra (2026) ↗"/>
          </p:cNvPr>
          <p:cNvSpPr/>
          <p:nvPr/>
        </p:nvSpPr>
        <p:spPr>
          <a:xfrm>
            <a:off x="1188720" y="6401633"/>
            <a:ext cx="1348740" cy="160020"/>
          </a:xfrm>
          <a:prstGeom prst="rect">
            <a:avLst/>
          </a:prstGeom>
          <a:solidFill>
            <a:srgbClr val="FFFFFF">
              <a:alpha val="0"/>
            </a:srgbClr>
          </a:solidFill>
          <a:ln w="12700">
            <a:solidFill>
              <a:srgbClr val="FFFFFF">
                <a:alpha val="0"/>
              </a:srgbClr>
            </a:solidFill>
            <a:prstDash val="solid"/>
          </a:ln>
        </p:spPr>
      </p:sp>
      <p:sp>
        <p:nvSpPr>
          <p:cNvPr id="11" name="Shape 8">
            <a:hlinkClick r:id="rId10" tooltip="[2] Anthropic, Fable (2026) ↗"/>
          </p:cNvPr>
          <p:cNvSpPr/>
          <p:nvPr/>
        </p:nvSpPr>
        <p:spPr>
          <a:xfrm>
            <a:off x="2659380" y="6401633"/>
            <a:ext cx="1447800" cy="160020"/>
          </a:xfrm>
          <a:prstGeom prst="rect">
            <a:avLst/>
          </a:prstGeom>
          <a:solidFill>
            <a:srgbClr val="FFFFFF">
              <a:alpha val="0"/>
            </a:srgbClr>
          </a:solidFill>
          <a:ln w="12700">
            <a:solidFill>
              <a:srgbClr val="FFFFFF">
                <a:alpha val="0"/>
              </a:srgbClr>
            </a:solidFill>
            <a:prstDash val="solid"/>
          </a:ln>
        </p:spPr>
      </p:sp>
      <p:sp>
        <p:nvSpPr>
          <p:cNvPr id="12" name="Shape 9">
            <a:hlinkClick r:id="rId11" tooltip="[3] NACE (2026), pp. 10, 24, 40 ↗"/>
          </p:cNvPr>
          <p:cNvSpPr/>
          <p:nvPr/>
        </p:nvSpPr>
        <p:spPr>
          <a:xfrm>
            <a:off x="4229100" y="6401633"/>
            <a:ext cx="1706880" cy="160020"/>
          </a:xfrm>
          <a:prstGeom prst="rect">
            <a:avLst/>
          </a:prstGeom>
          <a:solidFill>
            <a:srgbClr val="FFFFFF">
              <a:alpha val="0"/>
            </a:srgbClr>
          </a:solidFill>
          <a:ln w="12700">
            <a:solidFill>
              <a:srgbClr val="FFFFFF">
                <a:alpha val="0"/>
              </a:srgbClr>
            </a:solidFill>
            <a:prstDash val="solid"/>
          </a:ln>
        </p:spPr>
      </p:sp>
      <p:sp>
        <p:nvSpPr>
          <p:cNvPr id="13" name="Shape 10">
            <a:hlinkClick r:id="rId12" tooltip="[4] Brynjolfsson et al. (2026) ↗"/>
          </p:cNvPr>
          <p:cNvSpPr/>
          <p:nvPr/>
        </p:nvSpPr>
        <p:spPr>
          <a:xfrm>
            <a:off x="6057900" y="6401633"/>
            <a:ext cx="1562100" cy="160020"/>
          </a:xfrm>
          <a:prstGeom prst="rect">
            <a:avLst/>
          </a:prstGeom>
          <a:solidFill>
            <a:srgbClr val="FFFFFF">
              <a:alpha val="0"/>
            </a:srgbClr>
          </a:solidFill>
          <a:ln w="12700">
            <a:solidFill>
              <a:srgbClr val="FFFFFF">
                <a:alpha val="0"/>
              </a:srgbClr>
            </a:solidFill>
            <a:prstDash val="solid"/>
          </a:ln>
        </p:spPr>
      </p:sp>
      <p:sp>
        <p:nvSpPr>
          <p:cNvPr id="14" name="Shape 11">
            <a:hlinkClick r:id="rId13" tooltip="[5] Yale Budget Lab (2026) ↗"/>
          </p:cNvPr>
          <p:cNvSpPr/>
          <p:nvPr/>
        </p:nvSpPr>
        <p:spPr>
          <a:xfrm>
            <a:off x="7741920" y="6401633"/>
            <a:ext cx="1455420" cy="160020"/>
          </a:xfrm>
          <a:prstGeom prst="rect">
            <a:avLst/>
          </a:prstGeom>
          <a:solidFill>
            <a:srgbClr val="FFFFFF">
              <a:alpha val="0"/>
            </a:srgbClr>
          </a:solidFill>
          <a:ln w="12700">
            <a:solidFill>
              <a:srgbClr val="FFFFFF">
                <a:alpha val="0"/>
              </a:srgbClr>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Human teams and AI analysts split on the same data.">    </p:cNvPr>
          <p:cNvPicPr>
            <a:picLocks noChangeAspect="1"/>
          </p:cNvPicPr>
          <p:nvPr/>
        </p:nvPicPr>
        <p:blipFill>
          <a:blip r:embed="rId1"/>
          <a:stretch>
            <a:fillRect/>
          </a:stretch>
        </p:blipFill>
        <p:spPr>
          <a:xfrm>
            <a:off x="0" y="0"/>
            <a:ext cx="12192000" cy="6858000"/>
          </a:xfrm>
          <a:prstGeom prst="rect">
            <a:avLst/>
          </a:prstGeom>
        </p:spPr>
      </p:pic>
      <p:sp>
        <p:nvSpPr>
          <p:cNvPr id="3" name="Shape 0">
            <a:hlinkClick r:id="rId2" tooltip="[3]"/>
          </p:cNvPr>
          <p:cNvSpPr/>
          <p:nvPr/>
        </p:nvSpPr>
        <p:spPr>
          <a:xfrm>
            <a:off x="8515731" y="2127766"/>
            <a:ext cx="198120" cy="152400"/>
          </a:xfrm>
          <a:prstGeom prst="rect">
            <a:avLst/>
          </a:prstGeom>
          <a:solidFill>
            <a:srgbClr val="FFFFFF">
              <a:alpha val="0"/>
            </a:srgbClr>
          </a:solidFill>
          <a:ln w="12700">
            <a:solidFill>
              <a:srgbClr val="FFFFFF">
                <a:alpha val="0"/>
              </a:srgbClr>
            </a:solidFill>
            <a:prstDash val="solid"/>
          </a:ln>
        </p:spPr>
      </p:sp>
      <p:sp>
        <p:nvSpPr>
          <p:cNvPr id="4" name="Shape 1">
            <a:hlinkClick r:id="rId3" tooltip="[2]"/>
          </p:cNvPr>
          <p:cNvSpPr/>
          <p:nvPr/>
        </p:nvSpPr>
        <p:spPr>
          <a:xfrm>
            <a:off x="9902343" y="4512826"/>
            <a:ext cx="198120" cy="152400"/>
          </a:xfrm>
          <a:prstGeom prst="rect">
            <a:avLst/>
          </a:prstGeom>
          <a:solidFill>
            <a:srgbClr val="FFFFFF">
              <a:alpha val="0"/>
            </a:srgbClr>
          </a:solidFill>
          <a:ln w="12700">
            <a:solidFill>
              <a:srgbClr val="FFFFFF">
                <a:alpha val="0"/>
              </a:srgbClr>
            </a:solidFill>
            <a:prstDash val="solid"/>
          </a:ln>
        </p:spPr>
      </p:sp>
      <p:sp>
        <p:nvSpPr>
          <p:cNvPr id="5" name="Shape 2">
            <a:hlinkClick r:id="rId4" tooltip="[1]"/>
          </p:cNvPr>
          <p:cNvSpPr/>
          <p:nvPr/>
        </p:nvSpPr>
        <p:spPr>
          <a:xfrm>
            <a:off x="11384280" y="1289566"/>
            <a:ext cx="198120" cy="152400"/>
          </a:xfrm>
          <a:prstGeom prst="rect">
            <a:avLst/>
          </a:prstGeom>
          <a:solidFill>
            <a:srgbClr val="FFFFFF">
              <a:alpha val="0"/>
            </a:srgbClr>
          </a:solidFill>
          <a:ln w="12700">
            <a:solidFill>
              <a:srgbClr val="FFFFFF">
                <a:alpha val="0"/>
              </a:srgbClr>
            </a:solidFill>
            <a:prstDash val="solid"/>
          </a:ln>
        </p:spPr>
      </p:sp>
      <p:sp>
        <p:nvSpPr>
          <p:cNvPr id="6" name="Shape 3">
            <a:hlinkClick r:id="rId5" tooltip="[1] Bertran et al., PNAS (2026) ↗"/>
          </p:cNvPr>
          <p:cNvSpPr/>
          <p:nvPr/>
        </p:nvSpPr>
        <p:spPr>
          <a:xfrm>
            <a:off x="1188720" y="6401633"/>
            <a:ext cx="1661160" cy="160020"/>
          </a:xfrm>
          <a:prstGeom prst="rect">
            <a:avLst/>
          </a:prstGeom>
          <a:solidFill>
            <a:srgbClr val="FFFFFF">
              <a:alpha val="0"/>
            </a:srgbClr>
          </a:solidFill>
          <a:ln w="12700">
            <a:solidFill>
              <a:srgbClr val="FFFFFF">
                <a:alpha val="0"/>
              </a:srgbClr>
            </a:solidFill>
            <a:prstDash val="solid"/>
          </a:ln>
        </p:spPr>
      </p:sp>
      <p:sp>
        <p:nvSpPr>
          <p:cNvPr id="7" name="Shape 4">
            <a:hlinkClick r:id="rId6" tooltip="[2] Data: released runs (GitHub) ↗"/>
          </p:cNvPr>
          <p:cNvSpPr/>
          <p:nvPr/>
        </p:nvSpPr>
        <p:spPr>
          <a:xfrm>
            <a:off x="2971800" y="6401633"/>
            <a:ext cx="1714500" cy="160020"/>
          </a:xfrm>
          <a:prstGeom prst="rect">
            <a:avLst/>
          </a:prstGeom>
          <a:solidFill>
            <a:srgbClr val="FFFFFF">
              <a:alpha val="0"/>
            </a:srgbClr>
          </a:solidFill>
          <a:ln w="12700">
            <a:solidFill>
              <a:srgbClr val="FFFFFF">
                <a:alpha val="0"/>
              </a:srgbClr>
            </a:solidFill>
            <a:prstDash val="solid"/>
          </a:ln>
        </p:spPr>
      </p:sp>
      <p:sp>
        <p:nvSpPr>
          <p:cNvPr id="8" name="Shape 5">
            <a:hlinkClick r:id="rId7" tooltip="[3] Silberzahn et al., soccer data (OSF) ↗"/>
          </p:cNvPr>
          <p:cNvSpPr/>
          <p:nvPr/>
        </p:nvSpPr>
        <p:spPr>
          <a:xfrm>
            <a:off x="4808220" y="6401633"/>
            <a:ext cx="2019300" cy="160020"/>
          </a:xfrm>
          <a:prstGeom prst="rect">
            <a:avLst/>
          </a:prstGeom>
          <a:solidFill>
            <a:srgbClr val="FFFFFF">
              <a:alpha val="0"/>
            </a:srgbClr>
          </a:solidFill>
          <a:ln w="12700">
            <a:solidFill>
              <a:srgbClr val="FFFFFF">
                <a:alpha val="0"/>
              </a:srgbClr>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Check what drives an AI analysis’s verdict.">    </p:cNvPr>
          <p:cNvPicPr>
            <a:picLocks noChangeAspect="1"/>
          </p:cNvPicPr>
          <p:nvPr/>
        </p:nvPicPr>
        <p:blipFill>
          <a:blip r:embed="rId1"/>
          <a:stretch>
            <a:fillRect/>
          </a:stretch>
        </p:blipFill>
        <p:spPr>
          <a:xfrm>
            <a:off x="0" y="0"/>
            <a:ext cx="12192000" cy="6858000"/>
          </a:xfrm>
          <a:prstGeom prst="rect">
            <a:avLst/>
          </a:prstGeom>
        </p:spPr>
      </p:pic>
      <p:sp>
        <p:nvSpPr>
          <p:cNvPr id="3" name="Shape 0">
            <a:hlinkClick r:id="rId2" tooltip="[2]"/>
          </p:cNvPr>
          <p:cNvSpPr/>
          <p:nvPr/>
        </p:nvSpPr>
        <p:spPr>
          <a:xfrm>
            <a:off x="5730773" y="1670566"/>
            <a:ext cx="198120" cy="152400"/>
          </a:xfrm>
          <a:prstGeom prst="rect">
            <a:avLst/>
          </a:prstGeom>
          <a:solidFill>
            <a:srgbClr val="FFFFFF">
              <a:alpha val="0"/>
            </a:srgbClr>
          </a:solidFill>
          <a:ln w="12700">
            <a:solidFill>
              <a:srgbClr val="FFFFFF">
                <a:alpha val="0"/>
              </a:srgbClr>
            </a:solidFill>
            <a:prstDash val="solid"/>
          </a:ln>
        </p:spPr>
      </p:sp>
      <p:sp>
        <p:nvSpPr>
          <p:cNvPr id="4" name="Shape 1">
            <a:hlinkClick r:id="rId3" tooltip="[1]"/>
          </p:cNvPr>
          <p:cNvSpPr/>
          <p:nvPr/>
        </p:nvSpPr>
        <p:spPr>
          <a:xfrm>
            <a:off x="11384280" y="1289566"/>
            <a:ext cx="198120" cy="152400"/>
          </a:xfrm>
          <a:prstGeom prst="rect">
            <a:avLst/>
          </a:prstGeom>
          <a:solidFill>
            <a:srgbClr val="FFFFFF">
              <a:alpha val="0"/>
            </a:srgbClr>
          </a:solidFill>
          <a:ln w="12700">
            <a:solidFill>
              <a:srgbClr val="FFFFFF">
                <a:alpha val="0"/>
              </a:srgbClr>
            </a:solidFill>
            <a:prstDash val="solid"/>
          </a:ln>
        </p:spPr>
      </p:sp>
      <p:sp>
        <p:nvSpPr>
          <p:cNvPr id="5" name="Shape 2">
            <a:hlinkClick r:id="rId4" tooltip="[1] Bertran et al., PNAS (2026) ↗"/>
          </p:cNvPr>
          <p:cNvSpPr/>
          <p:nvPr/>
        </p:nvSpPr>
        <p:spPr>
          <a:xfrm>
            <a:off x="1188720" y="6401633"/>
            <a:ext cx="1661160" cy="160020"/>
          </a:xfrm>
          <a:prstGeom prst="rect">
            <a:avLst/>
          </a:prstGeom>
          <a:solidFill>
            <a:srgbClr val="FFFFFF">
              <a:alpha val="0"/>
            </a:srgbClr>
          </a:solidFill>
          <a:ln w="12700">
            <a:solidFill>
              <a:srgbClr val="FFFFFF">
                <a:alpha val="0"/>
              </a:srgbClr>
            </a:solidFill>
            <a:prstDash val="solid"/>
          </a:ln>
        </p:spPr>
      </p:sp>
      <p:sp>
        <p:nvSpPr>
          <p:cNvPr id="6" name="Shape 3">
            <a:hlinkClick r:id="rId5" tooltip="[2] Data: released runs (GitHub) ↗"/>
          </p:cNvPr>
          <p:cNvSpPr/>
          <p:nvPr/>
        </p:nvSpPr>
        <p:spPr>
          <a:xfrm>
            <a:off x="2971800" y="6401633"/>
            <a:ext cx="1714500" cy="160020"/>
          </a:xfrm>
          <a:prstGeom prst="rect">
            <a:avLst/>
          </a:prstGeom>
          <a:solidFill>
            <a:srgbClr val="FFFFFF">
              <a:alpha val="0"/>
            </a:srgbClr>
          </a:solidFill>
          <a:ln w="12700">
            <a:solidFill>
              <a:srgbClr val="FFFFFF">
                <a:alpha val="0"/>
              </a:srgbClr>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Judge AI’s help by measurement, not impressions.">    </p:cNvPr>
          <p:cNvPicPr>
            <a:picLocks noChangeAspect="1"/>
          </p:cNvPicPr>
          <p:nvPr/>
        </p:nvPicPr>
        <p:blipFill>
          <a:blip r:embed="rId1"/>
          <a:stretch>
            <a:fillRect/>
          </a:stretch>
        </p:blipFill>
        <p:spPr>
          <a:xfrm>
            <a:off x="0" y="0"/>
            <a:ext cx="12192000" cy="6858000"/>
          </a:xfrm>
          <a:prstGeom prst="rect">
            <a:avLst/>
          </a:prstGeom>
        </p:spPr>
      </p:pic>
      <p:sp>
        <p:nvSpPr>
          <p:cNvPr id="3" name="Shape 0">
            <a:hlinkClick r:id="rId2" tooltip="[2]"/>
          </p:cNvPr>
          <p:cNvSpPr/>
          <p:nvPr/>
        </p:nvSpPr>
        <p:spPr>
          <a:xfrm>
            <a:off x="5395753" y="4085344"/>
            <a:ext cx="198120" cy="152400"/>
          </a:xfrm>
          <a:prstGeom prst="rect">
            <a:avLst/>
          </a:prstGeom>
          <a:solidFill>
            <a:srgbClr val="FFFFFF">
              <a:alpha val="0"/>
            </a:srgbClr>
          </a:solidFill>
          <a:ln w="12700">
            <a:solidFill>
              <a:srgbClr val="FFFFFF">
                <a:alpha val="0"/>
              </a:srgbClr>
            </a:solidFill>
            <a:prstDash val="solid"/>
          </a:ln>
        </p:spPr>
      </p:sp>
      <p:sp>
        <p:nvSpPr>
          <p:cNvPr id="4" name="Shape 1">
            <a:hlinkClick r:id="rId3" tooltip="[1]"/>
          </p:cNvPr>
          <p:cNvSpPr/>
          <p:nvPr/>
        </p:nvSpPr>
        <p:spPr>
          <a:xfrm>
            <a:off x="4869241" y="1861066"/>
            <a:ext cx="198120" cy="152400"/>
          </a:xfrm>
          <a:prstGeom prst="rect">
            <a:avLst/>
          </a:prstGeom>
          <a:solidFill>
            <a:srgbClr val="FFFFFF">
              <a:alpha val="0"/>
            </a:srgbClr>
          </a:solidFill>
          <a:ln w="12700">
            <a:solidFill>
              <a:srgbClr val="FFFFFF">
                <a:alpha val="0"/>
              </a:srgbClr>
            </a:solidFill>
            <a:prstDash val="solid"/>
          </a:ln>
        </p:spPr>
      </p:sp>
      <p:sp>
        <p:nvSpPr>
          <p:cNvPr id="5" name="Shape 2">
            <a:hlinkClick r:id="rId4" tooltip="[2]"/>
          </p:cNvPr>
          <p:cNvSpPr/>
          <p:nvPr/>
        </p:nvSpPr>
        <p:spPr>
          <a:xfrm>
            <a:off x="10043389" y="1861066"/>
            <a:ext cx="198120" cy="152400"/>
          </a:xfrm>
          <a:prstGeom prst="rect">
            <a:avLst/>
          </a:prstGeom>
          <a:solidFill>
            <a:srgbClr val="FFFFFF">
              <a:alpha val="0"/>
            </a:srgbClr>
          </a:solidFill>
          <a:ln w="12700">
            <a:solidFill>
              <a:srgbClr val="FFFFFF">
                <a:alpha val="0"/>
              </a:srgbClr>
            </a:solidFill>
            <a:prstDash val="solid"/>
          </a:ln>
        </p:spPr>
      </p:sp>
      <p:sp>
        <p:nvSpPr>
          <p:cNvPr id="6" name="Shape 3">
            <a:hlinkClick r:id="rId5" tooltip="[1] METR (2025) ↗"/>
          </p:cNvPr>
          <p:cNvSpPr/>
          <p:nvPr/>
        </p:nvSpPr>
        <p:spPr>
          <a:xfrm>
            <a:off x="1188720" y="6401633"/>
            <a:ext cx="975360" cy="160020"/>
          </a:xfrm>
          <a:prstGeom prst="rect">
            <a:avLst/>
          </a:prstGeom>
          <a:solidFill>
            <a:srgbClr val="FFFFFF">
              <a:alpha val="0"/>
            </a:srgbClr>
          </a:solidFill>
          <a:ln w="12700">
            <a:solidFill>
              <a:srgbClr val="FFFFFF">
                <a:alpha val="0"/>
              </a:srgbClr>
            </a:solidFill>
            <a:prstDash val="solid"/>
          </a:ln>
        </p:spPr>
      </p:sp>
      <p:sp>
        <p:nvSpPr>
          <p:cNvPr id="7" name="Shape 4">
            <a:hlinkClick r:id="rId6" tooltip="[2] METR update (2026) ↗"/>
          </p:cNvPr>
          <p:cNvSpPr/>
          <p:nvPr/>
        </p:nvSpPr>
        <p:spPr>
          <a:xfrm>
            <a:off x="2286000" y="6401633"/>
            <a:ext cx="1356360" cy="160020"/>
          </a:xfrm>
          <a:prstGeom prst="rect">
            <a:avLst/>
          </a:prstGeom>
          <a:solidFill>
            <a:srgbClr val="FFFFFF">
              <a:alpha val="0"/>
            </a:srgbClr>
          </a:solidFill>
          <a:ln w="12700">
            <a:solidFill>
              <a:srgbClr val="FFFFFF">
                <a:alpha val="0"/>
              </a:srgbClr>
            </a:solidFill>
            <a:prstDash val="solid"/>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Measure what students can do after AI help.">    </p:cNvPr>
          <p:cNvPicPr>
            <a:picLocks noChangeAspect="1"/>
          </p:cNvPicPr>
          <p:nvPr/>
        </p:nvPicPr>
        <p:blipFill>
          <a:blip r:embed="rId1"/>
          <a:stretch>
            <a:fillRect/>
          </a:stretch>
        </p:blipFill>
        <p:spPr>
          <a:xfrm>
            <a:off x="0" y="0"/>
            <a:ext cx="12192000" cy="6858000"/>
          </a:xfrm>
          <a:prstGeom prst="rect">
            <a:avLst/>
          </a:prstGeom>
        </p:spPr>
      </p:pic>
      <p:sp>
        <p:nvSpPr>
          <p:cNvPr id="3" name="Shape 0">
            <a:hlinkClick r:id="rId2" tooltip="[1]"/>
          </p:cNvPr>
          <p:cNvSpPr/>
          <p:nvPr/>
        </p:nvSpPr>
        <p:spPr>
          <a:xfrm>
            <a:off x="5669280" y="1617226"/>
            <a:ext cx="198120" cy="152400"/>
          </a:xfrm>
          <a:prstGeom prst="rect">
            <a:avLst/>
          </a:prstGeom>
          <a:solidFill>
            <a:srgbClr val="FFFFFF">
              <a:alpha val="0"/>
            </a:srgbClr>
          </a:solidFill>
          <a:ln w="12700">
            <a:solidFill>
              <a:srgbClr val="FFFFFF">
                <a:alpha val="0"/>
              </a:srgbClr>
            </a:solidFill>
            <a:prstDash val="solid"/>
          </a:ln>
        </p:spPr>
      </p:sp>
      <p:sp>
        <p:nvSpPr>
          <p:cNvPr id="4" name="Shape 1">
            <a:hlinkClick r:id="rId3" tooltip="[2]"/>
          </p:cNvPr>
          <p:cNvSpPr/>
          <p:nvPr/>
        </p:nvSpPr>
        <p:spPr>
          <a:xfrm>
            <a:off x="11384280" y="1617226"/>
            <a:ext cx="198120" cy="152400"/>
          </a:xfrm>
          <a:prstGeom prst="rect">
            <a:avLst/>
          </a:prstGeom>
          <a:solidFill>
            <a:srgbClr val="FFFFFF">
              <a:alpha val="0"/>
            </a:srgbClr>
          </a:solidFill>
          <a:ln w="12700">
            <a:solidFill>
              <a:srgbClr val="FFFFFF">
                <a:alpha val="0"/>
              </a:srgbClr>
            </a:solidFill>
            <a:prstDash val="solid"/>
          </a:ln>
        </p:spPr>
      </p:sp>
      <p:sp>
        <p:nvSpPr>
          <p:cNvPr id="5" name="Shape 2">
            <a:hlinkClick r:id="rId4" tooltip="[3]"/>
          </p:cNvPr>
          <p:cNvSpPr/>
          <p:nvPr/>
        </p:nvSpPr>
        <p:spPr>
          <a:xfrm>
            <a:off x="4355211" y="5061466"/>
            <a:ext cx="198120" cy="152400"/>
          </a:xfrm>
          <a:prstGeom prst="rect">
            <a:avLst/>
          </a:prstGeom>
          <a:solidFill>
            <a:srgbClr val="FFFFFF">
              <a:alpha val="0"/>
            </a:srgbClr>
          </a:solidFill>
          <a:ln w="12700">
            <a:solidFill>
              <a:srgbClr val="FFFFFF">
                <a:alpha val="0"/>
              </a:srgbClr>
            </a:solidFill>
            <a:prstDash val="solid"/>
          </a:ln>
        </p:spPr>
      </p:sp>
      <p:sp>
        <p:nvSpPr>
          <p:cNvPr id="6" name="Shape 3">
            <a:hlinkClick r:id="rId5" tooltip="[4]"/>
          </p:cNvPr>
          <p:cNvSpPr/>
          <p:nvPr/>
        </p:nvSpPr>
        <p:spPr>
          <a:xfrm>
            <a:off x="9667799" y="5061466"/>
            <a:ext cx="198120" cy="152400"/>
          </a:xfrm>
          <a:prstGeom prst="rect">
            <a:avLst/>
          </a:prstGeom>
          <a:solidFill>
            <a:srgbClr val="FFFFFF">
              <a:alpha val="0"/>
            </a:srgbClr>
          </a:solidFill>
          <a:ln w="12700">
            <a:solidFill>
              <a:srgbClr val="FFFFFF">
                <a:alpha val="0"/>
              </a:srgbClr>
            </a:solidFill>
            <a:prstDash val="solid"/>
          </a:ln>
        </p:spPr>
      </p:sp>
      <p:sp>
        <p:nvSpPr>
          <p:cNvPr id="7" name="Shape 4">
            <a:hlinkClick r:id="rId6" tooltip="[1] Strömberg et al. (2026) ↗"/>
          </p:cNvPr>
          <p:cNvSpPr/>
          <p:nvPr/>
        </p:nvSpPr>
        <p:spPr>
          <a:xfrm>
            <a:off x="1188720" y="6401633"/>
            <a:ext cx="1455420" cy="160020"/>
          </a:xfrm>
          <a:prstGeom prst="rect">
            <a:avLst/>
          </a:prstGeom>
          <a:solidFill>
            <a:srgbClr val="FFFFFF">
              <a:alpha val="0"/>
            </a:srgbClr>
          </a:solidFill>
          <a:ln w="12700">
            <a:solidFill>
              <a:srgbClr val="FFFFFF">
                <a:alpha val="0"/>
              </a:srgbClr>
            </a:solidFill>
            <a:prstDash val="solid"/>
          </a:ln>
        </p:spPr>
      </p:sp>
      <p:sp>
        <p:nvSpPr>
          <p:cNvPr id="8" name="Shape 5">
            <a:hlinkClick r:id="rId7" tooltip="[2] Rismanchian et al. (2026) ↗"/>
          </p:cNvPr>
          <p:cNvSpPr/>
          <p:nvPr/>
        </p:nvSpPr>
        <p:spPr>
          <a:xfrm>
            <a:off x="2766060" y="6401633"/>
            <a:ext cx="1546860" cy="160020"/>
          </a:xfrm>
          <a:prstGeom prst="rect">
            <a:avLst/>
          </a:prstGeom>
          <a:solidFill>
            <a:srgbClr val="FFFFFF">
              <a:alpha val="0"/>
            </a:srgbClr>
          </a:solidFill>
          <a:ln w="12700">
            <a:solidFill>
              <a:srgbClr val="FFFFFF">
                <a:alpha val="0"/>
              </a:srgbClr>
            </a:solidFill>
            <a:prstDash val="solid"/>
          </a:ln>
        </p:spPr>
      </p:sp>
      <p:sp>
        <p:nvSpPr>
          <p:cNvPr id="9" name="Shape 6">
            <a:hlinkClick r:id="rId8" tooltip="[3] Liu, Sweet et al. (2026) ↗"/>
          </p:cNvPr>
          <p:cNvSpPr/>
          <p:nvPr/>
        </p:nvSpPr>
        <p:spPr>
          <a:xfrm>
            <a:off x="4434840" y="6401633"/>
            <a:ext cx="1447800" cy="160020"/>
          </a:xfrm>
          <a:prstGeom prst="rect">
            <a:avLst/>
          </a:prstGeom>
          <a:solidFill>
            <a:srgbClr val="FFFFFF">
              <a:alpha val="0"/>
            </a:srgbClr>
          </a:solidFill>
          <a:ln w="12700">
            <a:solidFill>
              <a:srgbClr val="FFFFFF">
                <a:alpha val="0"/>
              </a:srgbClr>
            </a:solidFill>
            <a:prstDash val="solid"/>
          </a:ln>
        </p:spPr>
      </p:sp>
      <p:sp>
        <p:nvSpPr>
          <p:cNvPr id="10" name="Shape 7">
            <a:hlinkClick r:id="rId9" tooltip="[4] Yang et al. (2026) ↗"/>
          </p:cNvPr>
          <p:cNvSpPr/>
          <p:nvPr/>
        </p:nvSpPr>
        <p:spPr>
          <a:xfrm>
            <a:off x="6004560" y="6401633"/>
            <a:ext cx="1165860" cy="160020"/>
          </a:xfrm>
          <a:prstGeom prst="rect">
            <a:avLst/>
          </a:prstGeom>
          <a:solidFill>
            <a:srgbClr val="FFFFFF">
              <a:alpha val="0"/>
            </a:srgbClr>
          </a:solidFill>
          <a:ln w="12700">
            <a:solidFill>
              <a:srgbClr val="FFFFFF">
                <a:alpha val="0"/>
              </a:srgbClr>
            </a:solidFill>
            <a:prstDash val="solid"/>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Attempt first, then ask AI for hints, not answers.">    </p:cNvPr>
          <p:cNvPicPr>
            <a:picLocks noChangeAspect="1"/>
          </p:cNvPicPr>
          <p:nvPr/>
        </p:nvPicPr>
        <p:blipFill>
          <a:blip r:embed="rId1"/>
          <a:stretch>
            <a:fillRect/>
          </a:stretch>
        </p:blipFill>
        <p:spPr>
          <a:xfrm>
            <a:off x="0" y="0"/>
            <a:ext cx="12192000" cy="6858000"/>
          </a:xfrm>
          <a:prstGeom prst="rect">
            <a:avLst/>
          </a:prstGeom>
        </p:spPr>
      </p:pic>
      <p:sp>
        <p:nvSpPr>
          <p:cNvPr id="3" name="Shape 0">
            <a:hlinkClick r:id="rId2" tooltip="[1]"/>
          </p:cNvPr>
          <p:cNvSpPr/>
          <p:nvPr/>
        </p:nvSpPr>
        <p:spPr>
          <a:xfrm>
            <a:off x="4620897" y="1655326"/>
            <a:ext cx="198120" cy="152400"/>
          </a:xfrm>
          <a:prstGeom prst="rect">
            <a:avLst/>
          </a:prstGeom>
          <a:solidFill>
            <a:srgbClr val="FFFFFF">
              <a:alpha val="0"/>
            </a:srgbClr>
          </a:solidFill>
          <a:ln w="12700">
            <a:solidFill>
              <a:srgbClr val="FFFFFF">
                <a:alpha val="0"/>
              </a:srgbClr>
            </a:solidFill>
            <a:prstDash val="solid"/>
          </a:ln>
        </p:spPr>
      </p:sp>
      <p:sp>
        <p:nvSpPr>
          <p:cNvPr id="4" name="Shape 1">
            <a:hlinkClick r:id="rId3" tooltip="[2]"/>
          </p:cNvPr>
          <p:cNvSpPr/>
          <p:nvPr/>
        </p:nvSpPr>
        <p:spPr>
          <a:xfrm>
            <a:off x="7932558" y="1655326"/>
            <a:ext cx="198120" cy="152400"/>
          </a:xfrm>
          <a:prstGeom prst="rect">
            <a:avLst/>
          </a:prstGeom>
          <a:solidFill>
            <a:srgbClr val="FFFFFF">
              <a:alpha val="0"/>
            </a:srgbClr>
          </a:solidFill>
          <a:ln w="12700">
            <a:solidFill>
              <a:srgbClr val="FFFFFF">
                <a:alpha val="0"/>
              </a:srgbClr>
            </a:solidFill>
            <a:prstDash val="solid"/>
          </a:ln>
        </p:spPr>
      </p:sp>
      <p:sp>
        <p:nvSpPr>
          <p:cNvPr id="5" name="Shape 2">
            <a:hlinkClick r:id="rId4" tooltip="[1]"/>
          </p:cNvPr>
          <p:cNvSpPr/>
          <p:nvPr/>
        </p:nvSpPr>
        <p:spPr>
          <a:xfrm>
            <a:off x="8976360" y="5030986"/>
            <a:ext cx="198120" cy="152400"/>
          </a:xfrm>
          <a:prstGeom prst="rect">
            <a:avLst/>
          </a:prstGeom>
          <a:solidFill>
            <a:srgbClr val="FFFFFF">
              <a:alpha val="0"/>
            </a:srgbClr>
          </a:solidFill>
          <a:ln w="12700">
            <a:solidFill>
              <a:srgbClr val="FFFFFF">
                <a:alpha val="0"/>
              </a:srgbClr>
            </a:solidFill>
            <a:prstDash val="solid"/>
          </a:ln>
        </p:spPr>
      </p:sp>
      <p:sp>
        <p:nvSpPr>
          <p:cNvPr id="6" name="Shape 3">
            <a:hlinkClick r:id="rId5" tooltip="[1] Gallegos (2026) ↗"/>
          </p:cNvPr>
          <p:cNvSpPr/>
          <p:nvPr/>
        </p:nvSpPr>
        <p:spPr>
          <a:xfrm>
            <a:off x="1188720" y="6401633"/>
            <a:ext cx="1089660" cy="160020"/>
          </a:xfrm>
          <a:prstGeom prst="rect">
            <a:avLst/>
          </a:prstGeom>
          <a:solidFill>
            <a:srgbClr val="FFFFFF">
              <a:alpha val="0"/>
            </a:srgbClr>
          </a:solidFill>
          <a:ln w="12700">
            <a:solidFill>
              <a:srgbClr val="FFFFFF">
                <a:alpha val="0"/>
              </a:srgbClr>
            </a:solidFill>
            <a:prstDash val="solid"/>
          </a:ln>
        </p:spPr>
      </p:sp>
      <p:sp>
        <p:nvSpPr>
          <p:cNvPr id="7" name="Shape 4">
            <a:hlinkClick r:id="rId6" tooltip="[2] Yang et al. (2026) ↗"/>
          </p:cNvPr>
          <p:cNvSpPr/>
          <p:nvPr/>
        </p:nvSpPr>
        <p:spPr>
          <a:xfrm>
            <a:off x="2400300" y="6401633"/>
            <a:ext cx="1165860" cy="160020"/>
          </a:xfrm>
          <a:prstGeom prst="rect">
            <a:avLst/>
          </a:prstGeom>
          <a:solidFill>
            <a:srgbClr val="FFFFFF">
              <a:alpha val="0"/>
            </a:srgbClr>
          </a:solidFill>
          <a:ln w="12700">
            <a:solidFill>
              <a:srgbClr val="FFFFFF">
                <a:alpha val="0"/>
              </a:srgbClr>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Check the rules before using AI or sharing data.">    </p:cNvPr>
          <p:cNvPicPr>
            <a:picLocks noChangeAspect="1"/>
          </p:cNvPicPr>
          <p:nvPr/>
        </p:nvPicPr>
        <p:blipFill>
          <a:blip r:embed="rId1"/>
          <a:stretch>
            <a:fillRect/>
          </a:stretch>
        </p:blipFill>
        <p:spPr>
          <a:xfrm>
            <a:off x="0" y="0"/>
            <a:ext cx="12192000" cy="6858000"/>
          </a:xfrm>
          <a:prstGeom prst="rect">
            <a:avLst/>
          </a:prstGeom>
        </p:spPr>
      </p:pic>
      <p:sp>
        <p:nvSpPr>
          <p:cNvPr id="3" name="Shape 0">
            <a:hlinkClick r:id="rId2" tooltip="[1]"/>
          </p:cNvPr>
          <p:cNvSpPr/>
          <p:nvPr/>
        </p:nvSpPr>
        <p:spPr>
          <a:xfrm>
            <a:off x="3947160" y="1321237"/>
            <a:ext cx="167640" cy="137160"/>
          </a:xfrm>
          <a:prstGeom prst="rect">
            <a:avLst/>
          </a:prstGeom>
          <a:solidFill>
            <a:srgbClr val="FFFFFF">
              <a:alpha val="0"/>
            </a:srgbClr>
          </a:solidFill>
          <a:ln w="12700">
            <a:solidFill>
              <a:srgbClr val="FFFFFF">
                <a:alpha val="0"/>
              </a:srgbClr>
            </a:solidFill>
            <a:prstDash val="solid"/>
          </a:ln>
        </p:spPr>
      </p:sp>
      <p:sp>
        <p:nvSpPr>
          <p:cNvPr id="4" name="Shape 1">
            <a:hlinkClick r:id="rId3" tooltip="[2]"/>
          </p:cNvPr>
          <p:cNvSpPr/>
          <p:nvPr/>
        </p:nvSpPr>
        <p:spPr>
          <a:xfrm>
            <a:off x="7978140" y="4537591"/>
            <a:ext cx="167640" cy="137160"/>
          </a:xfrm>
          <a:prstGeom prst="rect">
            <a:avLst/>
          </a:prstGeom>
          <a:solidFill>
            <a:srgbClr val="FFFFFF">
              <a:alpha val="0"/>
            </a:srgbClr>
          </a:solidFill>
          <a:ln w="12700">
            <a:solidFill>
              <a:srgbClr val="FFFFFF">
                <a:alpha val="0"/>
              </a:srgbClr>
            </a:solidFill>
            <a:prstDash val="solid"/>
          </a:ln>
        </p:spPr>
      </p:sp>
      <p:sp>
        <p:nvSpPr>
          <p:cNvPr id="5" name="Shape 2">
            <a:hlinkClick r:id="rId4" tooltip="[1] Purdue teaching guidance ↗"/>
          </p:cNvPr>
          <p:cNvSpPr/>
          <p:nvPr/>
        </p:nvSpPr>
        <p:spPr>
          <a:xfrm>
            <a:off x="1188720" y="6401633"/>
            <a:ext cx="1584960" cy="160020"/>
          </a:xfrm>
          <a:prstGeom prst="rect">
            <a:avLst/>
          </a:prstGeom>
          <a:solidFill>
            <a:srgbClr val="FFFFFF">
              <a:alpha val="0"/>
            </a:srgbClr>
          </a:solidFill>
          <a:ln w="12700">
            <a:solidFill>
              <a:srgbClr val="FFFFFF">
                <a:alpha val="0"/>
              </a:srgbClr>
            </a:solidFill>
            <a:prstDash val="solid"/>
          </a:ln>
        </p:spPr>
      </p:sp>
      <p:sp>
        <p:nvSpPr>
          <p:cNvPr id="6" name="Shape 3">
            <a:hlinkClick r:id="rId5" tooltip="[2] ASA ethical guidance ↗"/>
          </p:cNvPr>
          <p:cNvSpPr/>
          <p:nvPr/>
        </p:nvSpPr>
        <p:spPr>
          <a:xfrm>
            <a:off x="2895600" y="6401633"/>
            <a:ext cx="1318260" cy="160020"/>
          </a:xfrm>
          <a:prstGeom prst="rect">
            <a:avLst/>
          </a:prstGeom>
          <a:solidFill>
            <a:srgbClr val="FFFFFF">
              <a:alpha val="0"/>
            </a:srgbClr>
          </a:solidFill>
          <a:ln w="12700">
            <a:solidFill>
              <a:srgbClr val="FFFFFF">
                <a:alpha val="0"/>
              </a:srgbClr>
            </a:solidFill>
            <a:prstDash val="solid"/>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Build the expertise to check and steer AI, step by step.">    </p:cNvPr>
          <p:cNvPicPr>
            <a:picLocks noChangeAspect="1"/>
          </p:cNvPicPr>
          <p:nvPr/>
        </p:nvPicPr>
        <p:blipFill>
          <a:blip r:embed="rId1"/>
          <a:stretch>
            <a:fillRect/>
          </a:stretch>
        </p:blipFill>
        <p:spPr>
          <a:xfrm>
            <a:off x="0" y="0"/>
            <a:ext cx="12192000" cy="6858000"/>
          </a:xfrm>
          <a:prstGeom prst="rect">
            <a:avLst/>
          </a:prstGeom>
        </p:spPr>
      </p:pic>
      <p:sp>
        <p:nvSpPr>
          <p:cNvPr id="3" name="Shape 0">
            <a:hlinkClick r:id="rId2" tooltip="[1]"/>
          </p:cNvPr>
          <p:cNvSpPr/>
          <p:nvPr/>
        </p:nvSpPr>
        <p:spPr>
          <a:xfrm>
            <a:off x="2683421" y="2097286"/>
            <a:ext cx="198120" cy="152400"/>
          </a:xfrm>
          <a:prstGeom prst="rect">
            <a:avLst/>
          </a:prstGeom>
          <a:solidFill>
            <a:srgbClr val="FFFFFF">
              <a:alpha val="0"/>
            </a:srgbClr>
          </a:solidFill>
          <a:ln w="12700">
            <a:solidFill>
              <a:srgbClr val="FFFFFF">
                <a:alpha val="0"/>
              </a:srgbClr>
            </a:solidFill>
            <a:prstDash val="solid"/>
          </a:ln>
        </p:spPr>
      </p:sp>
      <p:sp>
        <p:nvSpPr>
          <p:cNvPr id="4" name="Shape 1">
            <a:hlinkClick r:id="rId3" tooltip="[2]"/>
          </p:cNvPr>
          <p:cNvSpPr/>
          <p:nvPr/>
        </p:nvSpPr>
        <p:spPr>
          <a:xfrm>
            <a:off x="6813712" y="2097286"/>
            <a:ext cx="198120" cy="152400"/>
          </a:xfrm>
          <a:prstGeom prst="rect">
            <a:avLst/>
          </a:prstGeom>
          <a:solidFill>
            <a:srgbClr val="FFFFFF">
              <a:alpha val="0"/>
            </a:srgbClr>
          </a:solidFill>
          <a:ln w="12700">
            <a:solidFill>
              <a:srgbClr val="FFFFFF">
                <a:alpha val="0"/>
              </a:srgbClr>
            </a:solidFill>
            <a:prstDash val="solid"/>
          </a:ln>
        </p:spPr>
      </p:sp>
      <p:sp>
        <p:nvSpPr>
          <p:cNvPr id="5" name="Shape 2">
            <a:hlinkClick r:id="rId4" tooltip="[3]"/>
          </p:cNvPr>
          <p:cNvSpPr/>
          <p:nvPr/>
        </p:nvSpPr>
        <p:spPr>
          <a:xfrm>
            <a:off x="7072792" y="2097286"/>
            <a:ext cx="198120" cy="152400"/>
          </a:xfrm>
          <a:prstGeom prst="rect">
            <a:avLst/>
          </a:prstGeom>
          <a:solidFill>
            <a:srgbClr val="FFFFFF">
              <a:alpha val="0"/>
            </a:srgbClr>
          </a:solidFill>
          <a:ln w="12700">
            <a:solidFill>
              <a:srgbClr val="FFFFFF">
                <a:alpha val="0"/>
              </a:srgbClr>
            </a:solidFill>
            <a:prstDash val="solid"/>
          </a:ln>
        </p:spPr>
      </p:sp>
      <p:sp>
        <p:nvSpPr>
          <p:cNvPr id="6" name="Shape 3">
            <a:hlinkClick r:id="rId5" tooltip="[4]"/>
          </p:cNvPr>
          <p:cNvSpPr/>
          <p:nvPr/>
        </p:nvSpPr>
        <p:spPr>
          <a:xfrm>
            <a:off x="10029901" y="2177296"/>
            <a:ext cx="198120" cy="152400"/>
          </a:xfrm>
          <a:prstGeom prst="rect">
            <a:avLst/>
          </a:prstGeom>
          <a:solidFill>
            <a:srgbClr val="FFFFFF">
              <a:alpha val="0"/>
            </a:srgbClr>
          </a:solidFill>
          <a:ln w="12700">
            <a:solidFill>
              <a:srgbClr val="FFFFFF">
                <a:alpha val="0"/>
              </a:srgbClr>
            </a:solidFill>
            <a:prstDash val="solid"/>
          </a:ln>
        </p:spPr>
      </p:sp>
      <p:sp>
        <p:nvSpPr>
          <p:cNvPr id="7" name="Shape 4">
            <a:hlinkClick r:id="rId6" tooltip="[5]"/>
          </p:cNvPr>
          <p:cNvSpPr/>
          <p:nvPr/>
        </p:nvSpPr>
        <p:spPr>
          <a:xfrm>
            <a:off x="2916250" y="3103126"/>
            <a:ext cx="198120" cy="152400"/>
          </a:xfrm>
          <a:prstGeom prst="rect">
            <a:avLst/>
          </a:prstGeom>
          <a:solidFill>
            <a:srgbClr val="FFFFFF">
              <a:alpha val="0"/>
            </a:srgbClr>
          </a:solidFill>
          <a:ln w="12700">
            <a:solidFill>
              <a:srgbClr val="FFFFFF">
                <a:alpha val="0"/>
              </a:srgbClr>
            </a:solidFill>
            <a:prstDash val="solid"/>
          </a:ln>
        </p:spPr>
      </p:sp>
      <p:sp>
        <p:nvSpPr>
          <p:cNvPr id="8" name="Shape 5">
            <a:hlinkClick r:id="rId7" tooltip="[6]"/>
          </p:cNvPr>
          <p:cNvSpPr/>
          <p:nvPr/>
        </p:nvSpPr>
        <p:spPr>
          <a:xfrm>
            <a:off x="2916250" y="3423166"/>
            <a:ext cx="198120" cy="152400"/>
          </a:xfrm>
          <a:prstGeom prst="rect">
            <a:avLst/>
          </a:prstGeom>
          <a:solidFill>
            <a:srgbClr val="FFFFFF">
              <a:alpha val="0"/>
            </a:srgbClr>
          </a:solidFill>
          <a:ln w="12700">
            <a:solidFill>
              <a:srgbClr val="FFFFFF">
                <a:alpha val="0"/>
              </a:srgbClr>
            </a:solidFill>
            <a:prstDash val="solid"/>
          </a:ln>
        </p:spPr>
      </p:sp>
      <p:sp>
        <p:nvSpPr>
          <p:cNvPr id="9" name="Shape 6">
            <a:hlinkClick r:id="rId8" tooltip="[1] Gallup (2026) ↗"/>
          </p:cNvPr>
          <p:cNvSpPr/>
          <p:nvPr/>
        </p:nvSpPr>
        <p:spPr>
          <a:xfrm>
            <a:off x="1188720" y="6226373"/>
            <a:ext cx="960120" cy="160020"/>
          </a:xfrm>
          <a:prstGeom prst="rect">
            <a:avLst/>
          </a:prstGeom>
          <a:solidFill>
            <a:srgbClr val="FFFFFF">
              <a:alpha val="0"/>
            </a:srgbClr>
          </a:solidFill>
          <a:ln w="12700">
            <a:solidFill>
              <a:srgbClr val="FFFFFF">
                <a:alpha val="0"/>
              </a:srgbClr>
            </a:solidFill>
            <a:prstDash val="solid"/>
          </a:ln>
        </p:spPr>
      </p:sp>
      <p:sp>
        <p:nvSpPr>
          <p:cNvPr id="10" name="Shape 7">
            <a:hlinkClick r:id="rId9" tooltip="[2] Brynjolfsson et al. (2026) ↗"/>
          </p:cNvPr>
          <p:cNvSpPr/>
          <p:nvPr/>
        </p:nvSpPr>
        <p:spPr>
          <a:xfrm>
            <a:off x="2270760" y="6226373"/>
            <a:ext cx="1562100" cy="160020"/>
          </a:xfrm>
          <a:prstGeom prst="rect">
            <a:avLst/>
          </a:prstGeom>
          <a:solidFill>
            <a:srgbClr val="FFFFFF">
              <a:alpha val="0"/>
            </a:srgbClr>
          </a:solidFill>
          <a:ln w="12700">
            <a:solidFill>
              <a:srgbClr val="FFFFFF">
                <a:alpha val="0"/>
              </a:srgbClr>
            </a:solidFill>
            <a:prstDash val="solid"/>
          </a:ln>
        </p:spPr>
      </p:sp>
      <p:sp>
        <p:nvSpPr>
          <p:cNvPr id="11" name="Shape 8">
            <a:hlinkClick r:id="rId10" tooltip="[3] Stanford Canaries tracker ↗"/>
          </p:cNvPr>
          <p:cNvSpPr/>
          <p:nvPr/>
        </p:nvSpPr>
        <p:spPr>
          <a:xfrm>
            <a:off x="3954780" y="6226373"/>
            <a:ext cx="1569720" cy="160020"/>
          </a:xfrm>
          <a:prstGeom prst="rect">
            <a:avLst/>
          </a:prstGeom>
          <a:solidFill>
            <a:srgbClr val="FFFFFF">
              <a:alpha val="0"/>
            </a:srgbClr>
          </a:solidFill>
          <a:ln w="12700">
            <a:solidFill>
              <a:srgbClr val="FFFFFF">
                <a:alpha val="0"/>
              </a:srgbClr>
            </a:solidFill>
            <a:prstDash val="solid"/>
          </a:ln>
        </p:spPr>
      </p:sp>
      <p:sp>
        <p:nvSpPr>
          <p:cNvPr id="12" name="Shape 9">
            <a:hlinkClick r:id="rId11" tooltip="[4] Dratsch et al. (2023) ↗"/>
          </p:cNvPr>
          <p:cNvSpPr/>
          <p:nvPr/>
        </p:nvSpPr>
        <p:spPr>
          <a:xfrm>
            <a:off x="5646420" y="6226373"/>
            <a:ext cx="1333500" cy="160020"/>
          </a:xfrm>
          <a:prstGeom prst="rect">
            <a:avLst/>
          </a:prstGeom>
          <a:solidFill>
            <a:srgbClr val="FFFFFF">
              <a:alpha val="0"/>
            </a:srgbClr>
          </a:solidFill>
          <a:ln w="12700">
            <a:solidFill>
              <a:srgbClr val="FFFFFF">
                <a:alpha val="0"/>
              </a:srgbClr>
            </a:solidFill>
            <a:prstDash val="solid"/>
          </a:ln>
        </p:spPr>
      </p:sp>
      <p:sp>
        <p:nvSpPr>
          <p:cNvPr id="13" name="Shape 10">
            <a:hlinkClick r:id="rId12" tooltip="[5] Sinha &amp; Kapur (2021) ↗"/>
          </p:cNvPr>
          <p:cNvSpPr/>
          <p:nvPr/>
        </p:nvSpPr>
        <p:spPr>
          <a:xfrm>
            <a:off x="7101840" y="6226373"/>
            <a:ext cx="1356360" cy="160020"/>
          </a:xfrm>
          <a:prstGeom prst="rect">
            <a:avLst/>
          </a:prstGeom>
          <a:solidFill>
            <a:srgbClr val="FFFFFF">
              <a:alpha val="0"/>
            </a:srgbClr>
          </a:solidFill>
          <a:ln w="12700">
            <a:solidFill>
              <a:srgbClr val="FFFFFF">
                <a:alpha val="0"/>
              </a:srgbClr>
            </a:solidFill>
            <a:prstDash val="solid"/>
          </a:ln>
        </p:spPr>
      </p:sp>
      <p:sp>
        <p:nvSpPr>
          <p:cNvPr id="14" name="Shape 11">
            <a:hlinkClick r:id="rId13" tooltip="[6] Palazzo et al. (2010) ↗"/>
          </p:cNvPr>
          <p:cNvSpPr/>
          <p:nvPr/>
        </p:nvSpPr>
        <p:spPr>
          <a:xfrm>
            <a:off x="8580120" y="6226373"/>
            <a:ext cx="1325880" cy="160020"/>
          </a:xfrm>
          <a:prstGeom prst="rect">
            <a:avLst/>
          </a:prstGeom>
          <a:solidFill>
            <a:srgbClr val="FFFFFF">
              <a:alpha val="0"/>
            </a:srgbClr>
          </a:solidFill>
          <a:ln w="12700">
            <a:solidFill>
              <a:srgbClr val="FFFFFF">
                <a:alpha val="0"/>
              </a:srgbClr>
            </a:solidFill>
            <a:prstDash val="solid"/>
          </a:ln>
        </p:spPr>
      </p:sp>
      <p:sp>
        <p:nvSpPr>
          <p:cNvPr id="15" name="Shape 12">
            <a:hlinkClick r:id="rId14" tooltip="[7] Eloundou et al. (2024) ↗"/>
          </p:cNvPr>
          <p:cNvSpPr/>
          <p:nvPr/>
        </p:nvSpPr>
        <p:spPr>
          <a:xfrm>
            <a:off x="609600" y="6401633"/>
            <a:ext cx="1402080" cy="160020"/>
          </a:xfrm>
          <a:prstGeom prst="rect">
            <a:avLst/>
          </a:prstGeom>
          <a:solidFill>
            <a:srgbClr val="FFFFFF">
              <a:alpha val="0"/>
            </a:srgbClr>
          </a:solidFill>
          <a:ln w="12700">
            <a:solidFill>
              <a:srgbClr val="FFFFFF">
                <a:alpha val="0"/>
              </a:srgbClr>
            </a:solidFill>
            <a:prstDash val="solid"/>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Small course topics can matter long after the exam.">    </p:cNvPr>
          <p:cNvPicPr>
            <a:picLocks noChangeAspect="1"/>
          </p:cNvPicPr>
          <p:nvPr/>
        </p:nvPicPr>
        <p:blipFill>
          <a:blip r:embed="rId1"/>
          <a:stretch>
            <a:fillRect/>
          </a:stretch>
        </p:blipFill>
        <p:spPr>
          <a:xfrm>
            <a:off x="0" y="0"/>
            <a:ext cx="12192000" cy="6858000"/>
          </a:xfrm>
          <a:prstGeom prst="rect">
            <a:avLst/>
          </a:prstGeom>
        </p:spPr>
      </p:pic>
      <p:sp>
        <p:nvSpPr>
          <p:cNvPr id="3" name="Shape 0">
            <a:hlinkClick r:id="rId2" tooltip="[1]"/>
          </p:cNvPr>
          <p:cNvSpPr/>
          <p:nvPr/>
        </p:nvSpPr>
        <p:spPr>
          <a:xfrm>
            <a:off x="2003709" y="1693426"/>
            <a:ext cx="198120" cy="152400"/>
          </a:xfrm>
          <a:prstGeom prst="rect">
            <a:avLst/>
          </a:prstGeom>
          <a:solidFill>
            <a:srgbClr val="FFFFFF">
              <a:alpha val="0"/>
            </a:srgbClr>
          </a:solidFill>
          <a:ln w="12700">
            <a:solidFill>
              <a:srgbClr val="FFFFFF">
                <a:alpha val="0"/>
              </a:srgbClr>
            </a:solidFill>
            <a:prstDash val="solid"/>
          </a:ln>
        </p:spPr>
      </p:sp>
      <p:sp>
        <p:nvSpPr>
          <p:cNvPr id="4" name="Shape 1">
            <a:hlinkClick r:id="rId3" tooltip="[2]"/>
          </p:cNvPr>
          <p:cNvSpPr/>
          <p:nvPr/>
        </p:nvSpPr>
        <p:spPr>
          <a:xfrm>
            <a:off x="6463253" y="2394466"/>
            <a:ext cx="198120" cy="152400"/>
          </a:xfrm>
          <a:prstGeom prst="rect">
            <a:avLst/>
          </a:prstGeom>
          <a:solidFill>
            <a:srgbClr val="FFFFFF">
              <a:alpha val="0"/>
            </a:srgbClr>
          </a:solidFill>
          <a:ln w="12700">
            <a:solidFill>
              <a:srgbClr val="FFFFFF">
                <a:alpha val="0"/>
              </a:srgbClr>
            </a:solidFill>
            <a:prstDash val="solid"/>
          </a:ln>
        </p:spPr>
      </p:sp>
      <p:sp>
        <p:nvSpPr>
          <p:cNvPr id="5" name="Shape 2">
            <a:hlinkClick r:id="rId4" tooltip="[3]"/>
          </p:cNvPr>
          <p:cNvSpPr/>
          <p:nvPr/>
        </p:nvSpPr>
        <p:spPr>
          <a:xfrm>
            <a:off x="10453116" y="2394466"/>
            <a:ext cx="198120" cy="152400"/>
          </a:xfrm>
          <a:prstGeom prst="rect">
            <a:avLst/>
          </a:prstGeom>
          <a:solidFill>
            <a:srgbClr val="FFFFFF">
              <a:alpha val="0"/>
            </a:srgbClr>
          </a:solidFill>
          <a:ln w="12700">
            <a:solidFill>
              <a:srgbClr val="FFFFFF">
                <a:alpha val="0"/>
              </a:srgbClr>
            </a:solidFill>
            <a:prstDash val="solid"/>
          </a:ln>
        </p:spPr>
      </p:sp>
      <p:sp>
        <p:nvSpPr>
          <p:cNvPr id="6" name="Shape 3">
            <a:hlinkClick r:id="rId5" tooltip="[4]"/>
          </p:cNvPr>
          <p:cNvSpPr/>
          <p:nvPr/>
        </p:nvSpPr>
        <p:spPr>
          <a:xfrm>
            <a:off x="5422003" y="3217426"/>
            <a:ext cx="198120" cy="152400"/>
          </a:xfrm>
          <a:prstGeom prst="rect">
            <a:avLst/>
          </a:prstGeom>
          <a:solidFill>
            <a:srgbClr val="FFFFFF">
              <a:alpha val="0"/>
            </a:srgbClr>
          </a:solidFill>
          <a:ln w="12700">
            <a:solidFill>
              <a:srgbClr val="FFFFFF">
                <a:alpha val="0"/>
              </a:srgbClr>
            </a:solidFill>
            <a:prstDash val="solid"/>
          </a:ln>
        </p:spPr>
      </p:sp>
      <p:sp>
        <p:nvSpPr>
          <p:cNvPr id="7" name="Shape 4">
            <a:hlinkClick r:id="rId6" tooltip="[5]"/>
          </p:cNvPr>
          <p:cNvSpPr/>
          <p:nvPr/>
        </p:nvSpPr>
        <p:spPr>
          <a:xfrm>
            <a:off x="10113874" y="3065026"/>
            <a:ext cx="198120" cy="152400"/>
          </a:xfrm>
          <a:prstGeom prst="rect">
            <a:avLst/>
          </a:prstGeom>
          <a:solidFill>
            <a:srgbClr val="FFFFFF">
              <a:alpha val="0"/>
            </a:srgbClr>
          </a:solidFill>
          <a:ln w="12700">
            <a:solidFill>
              <a:srgbClr val="FFFFFF">
                <a:alpha val="0"/>
              </a:srgbClr>
            </a:solidFill>
            <a:prstDash val="solid"/>
          </a:ln>
        </p:spPr>
      </p:sp>
      <p:sp>
        <p:nvSpPr>
          <p:cNvPr id="8" name="Shape 5">
            <a:hlinkClick r:id="rId7" tooltip="[6]"/>
          </p:cNvPr>
          <p:cNvSpPr/>
          <p:nvPr/>
        </p:nvSpPr>
        <p:spPr>
          <a:xfrm>
            <a:off x="10404805" y="3232666"/>
            <a:ext cx="198120" cy="152400"/>
          </a:xfrm>
          <a:prstGeom prst="rect">
            <a:avLst/>
          </a:prstGeom>
          <a:solidFill>
            <a:srgbClr val="FFFFFF">
              <a:alpha val="0"/>
            </a:srgbClr>
          </a:solidFill>
          <a:ln w="12700">
            <a:solidFill>
              <a:srgbClr val="FFFFFF">
                <a:alpha val="0"/>
              </a:srgbClr>
            </a:solidFill>
            <a:prstDash val="solid"/>
          </a:ln>
        </p:spPr>
      </p:sp>
      <p:sp>
        <p:nvSpPr>
          <p:cNvPr id="9" name="Shape 6">
            <a:hlinkClick r:id="rId8" tooltip="[7]"/>
          </p:cNvPr>
          <p:cNvSpPr/>
          <p:nvPr/>
        </p:nvSpPr>
        <p:spPr>
          <a:xfrm>
            <a:off x="8098902" y="4040386"/>
            <a:ext cx="198120" cy="152400"/>
          </a:xfrm>
          <a:prstGeom prst="rect">
            <a:avLst/>
          </a:prstGeom>
          <a:solidFill>
            <a:srgbClr val="FFFFFF">
              <a:alpha val="0"/>
            </a:srgbClr>
          </a:solidFill>
          <a:ln w="12700">
            <a:solidFill>
              <a:srgbClr val="FFFFFF">
                <a:alpha val="0"/>
              </a:srgbClr>
            </a:solidFill>
            <a:prstDash val="solid"/>
          </a:ln>
        </p:spPr>
      </p:sp>
      <p:sp>
        <p:nvSpPr>
          <p:cNvPr id="10" name="Shape 7">
            <a:hlinkClick r:id="rId9" tooltip="[8]"/>
          </p:cNvPr>
          <p:cNvSpPr/>
          <p:nvPr/>
        </p:nvSpPr>
        <p:spPr>
          <a:xfrm>
            <a:off x="5408691" y="4863346"/>
            <a:ext cx="198120" cy="152400"/>
          </a:xfrm>
          <a:prstGeom prst="rect">
            <a:avLst/>
          </a:prstGeom>
          <a:solidFill>
            <a:srgbClr val="FFFFFF">
              <a:alpha val="0"/>
            </a:srgbClr>
          </a:solidFill>
          <a:ln w="12700">
            <a:solidFill>
              <a:srgbClr val="FFFFFF">
                <a:alpha val="0"/>
              </a:srgbClr>
            </a:solidFill>
            <a:prstDash val="solid"/>
          </a:ln>
        </p:spPr>
      </p:sp>
      <p:sp>
        <p:nvSpPr>
          <p:cNvPr id="11" name="Shape 8">
            <a:hlinkClick r:id="rId10" tooltip="[9]"/>
          </p:cNvPr>
          <p:cNvSpPr/>
          <p:nvPr/>
        </p:nvSpPr>
        <p:spPr>
          <a:xfrm>
            <a:off x="8628203" y="4863346"/>
            <a:ext cx="198120" cy="152400"/>
          </a:xfrm>
          <a:prstGeom prst="rect">
            <a:avLst/>
          </a:prstGeom>
          <a:solidFill>
            <a:srgbClr val="FFFFFF">
              <a:alpha val="0"/>
            </a:srgbClr>
          </a:solidFill>
          <a:ln w="12700">
            <a:solidFill>
              <a:srgbClr val="FFFFFF">
                <a:alpha val="0"/>
              </a:srgbClr>
            </a:solidFill>
            <a:prstDash val="solid"/>
          </a:ln>
        </p:spPr>
      </p:sp>
      <p:sp>
        <p:nvSpPr>
          <p:cNvPr id="12" name="Shape 9">
            <a:hlinkClick r:id="rId11" tooltip="[1] Purdue DS–Statistics plan (2025–26) ↗"/>
          </p:cNvPr>
          <p:cNvSpPr/>
          <p:nvPr/>
        </p:nvSpPr>
        <p:spPr>
          <a:xfrm>
            <a:off x="1188720" y="6226373"/>
            <a:ext cx="2148840" cy="160020"/>
          </a:xfrm>
          <a:prstGeom prst="rect">
            <a:avLst/>
          </a:prstGeom>
          <a:solidFill>
            <a:srgbClr val="FFFFFF">
              <a:alpha val="0"/>
            </a:srgbClr>
          </a:solidFill>
          <a:ln w="12700">
            <a:solidFill>
              <a:srgbClr val="FFFFFF">
                <a:alpha val="0"/>
              </a:srgbClr>
            </a:solidFill>
            <a:prstDash val="solid"/>
          </a:ln>
        </p:spPr>
      </p:sp>
      <p:sp>
        <p:nvSpPr>
          <p:cNvPr id="13" name="Shape 10">
            <a:hlinkClick r:id="rId12" tooltip="[2] Baydin et al. (2018) ↗"/>
          </p:cNvPr>
          <p:cNvSpPr/>
          <p:nvPr/>
        </p:nvSpPr>
        <p:spPr>
          <a:xfrm>
            <a:off x="3459480" y="6226373"/>
            <a:ext cx="1272540" cy="160020"/>
          </a:xfrm>
          <a:prstGeom prst="rect">
            <a:avLst/>
          </a:prstGeom>
          <a:solidFill>
            <a:srgbClr val="FFFFFF">
              <a:alpha val="0"/>
            </a:srgbClr>
          </a:solidFill>
          <a:ln w="12700">
            <a:solidFill>
              <a:srgbClr val="FFFFFF">
                <a:alpha val="0"/>
              </a:srgbClr>
            </a:solidFill>
            <a:prstDash val="solid"/>
          </a:ln>
        </p:spPr>
      </p:sp>
      <p:sp>
        <p:nvSpPr>
          <p:cNvPr id="14" name="Shape 11">
            <a:hlinkClick r:id="rId13" tooltip="[3] Rumelhart et al., Nature (1986) ↗"/>
          </p:cNvPr>
          <p:cNvSpPr/>
          <p:nvPr/>
        </p:nvSpPr>
        <p:spPr>
          <a:xfrm>
            <a:off x="4853940" y="6226373"/>
            <a:ext cx="1844040" cy="160020"/>
          </a:xfrm>
          <a:prstGeom prst="rect">
            <a:avLst/>
          </a:prstGeom>
          <a:solidFill>
            <a:srgbClr val="FFFFFF">
              <a:alpha val="0"/>
            </a:srgbClr>
          </a:solidFill>
          <a:ln w="12700">
            <a:solidFill>
              <a:srgbClr val="FFFFFF">
                <a:alpha val="0"/>
              </a:srgbClr>
            </a:solidFill>
            <a:prstDash val="solid"/>
          </a:ln>
        </p:spPr>
      </p:sp>
      <p:sp>
        <p:nvSpPr>
          <p:cNvPr id="15" name="Shape 12">
            <a:hlinkClick r:id="rId14" tooltip="[4] Purdue MA course descriptions ↗"/>
          </p:cNvPr>
          <p:cNvSpPr/>
          <p:nvPr/>
        </p:nvSpPr>
        <p:spPr>
          <a:xfrm>
            <a:off x="6819900" y="6226373"/>
            <a:ext cx="1844040" cy="160020"/>
          </a:xfrm>
          <a:prstGeom prst="rect">
            <a:avLst/>
          </a:prstGeom>
          <a:solidFill>
            <a:srgbClr val="FFFFFF">
              <a:alpha val="0"/>
            </a:srgbClr>
          </a:solidFill>
          <a:ln w="12700">
            <a:solidFill>
              <a:srgbClr val="FFFFFF">
                <a:alpha val="0"/>
              </a:srgbClr>
            </a:solidFill>
            <a:prstDash val="solid"/>
          </a:ln>
        </p:spPr>
      </p:sp>
      <p:sp>
        <p:nvSpPr>
          <p:cNvPr id="16" name="Shape 13">
            <a:hlinkClick r:id="rId15" tooltip="[5] Jurafsky &amp; Martin, ch. 3 ↗"/>
          </p:cNvPr>
          <p:cNvSpPr/>
          <p:nvPr/>
        </p:nvSpPr>
        <p:spPr>
          <a:xfrm>
            <a:off x="8785860" y="6226373"/>
            <a:ext cx="1478280" cy="160020"/>
          </a:xfrm>
          <a:prstGeom prst="rect">
            <a:avLst/>
          </a:prstGeom>
          <a:solidFill>
            <a:srgbClr val="FFFFFF">
              <a:alpha val="0"/>
            </a:srgbClr>
          </a:solidFill>
          <a:ln w="12700">
            <a:solidFill>
              <a:srgbClr val="FFFFFF">
                <a:alpha val="0"/>
              </a:srgbClr>
            </a:solidFill>
            <a:prstDash val="solid"/>
          </a:ln>
        </p:spPr>
      </p:sp>
      <p:sp>
        <p:nvSpPr>
          <p:cNvPr id="17" name="Shape 14">
            <a:hlinkClick r:id="rId16" tooltip="[6] Radford et al., GPT (2018) ↗"/>
          </p:cNvPr>
          <p:cNvSpPr/>
          <p:nvPr/>
        </p:nvSpPr>
        <p:spPr>
          <a:xfrm>
            <a:off x="609600" y="6401633"/>
            <a:ext cx="1630680" cy="160020"/>
          </a:xfrm>
          <a:prstGeom prst="rect">
            <a:avLst/>
          </a:prstGeom>
          <a:solidFill>
            <a:srgbClr val="FFFFFF">
              <a:alpha val="0"/>
            </a:srgbClr>
          </a:solidFill>
          <a:ln w="12700">
            <a:solidFill>
              <a:srgbClr val="FFFFFF">
                <a:alpha val="0"/>
              </a:srgbClr>
            </a:solidFill>
            <a:prstDash val="solid"/>
          </a:ln>
        </p:spPr>
      </p:sp>
      <p:sp>
        <p:nvSpPr>
          <p:cNvPr id="18" name="Shape 15">
            <a:hlinkClick r:id="rId17" tooltip="[7] Reimers &amp; Gurevych (2019) ↗"/>
          </p:cNvPr>
          <p:cNvSpPr/>
          <p:nvPr/>
        </p:nvSpPr>
        <p:spPr>
          <a:xfrm>
            <a:off x="2362200" y="6401633"/>
            <a:ext cx="1668780" cy="160020"/>
          </a:xfrm>
          <a:prstGeom prst="rect">
            <a:avLst/>
          </a:prstGeom>
          <a:solidFill>
            <a:srgbClr val="FFFFFF">
              <a:alpha val="0"/>
            </a:srgbClr>
          </a:solidFill>
          <a:ln w="12700">
            <a:solidFill>
              <a:srgbClr val="FFFFFF">
                <a:alpha val="0"/>
              </a:srgbClr>
            </a:solidFill>
            <a:prstDash val="solid"/>
          </a:ln>
        </p:spPr>
      </p:sp>
      <p:sp>
        <p:nvSpPr>
          <p:cNvPr id="19" name="Shape 16">
            <a:hlinkClick r:id="rId18" tooltip="[8] Angelopoulos &amp; Bates (2022) ↗"/>
          </p:cNvPr>
          <p:cNvSpPr/>
          <p:nvPr/>
        </p:nvSpPr>
        <p:spPr>
          <a:xfrm>
            <a:off x="4152900" y="6401633"/>
            <a:ext cx="1775460" cy="160020"/>
          </a:xfrm>
          <a:prstGeom prst="rect">
            <a:avLst/>
          </a:prstGeom>
          <a:solidFill>
            <a:srgbClr val="FFFFFF">
              <a:alpha val="0"/>
            </a:srgbClr>
          </a:solidFill>
          <a:ln w="12700">
            <a:solidFill>
              <a:srgbClr val="FFFFFF">
                <a:alpha val="0"/>
              </a:srgbClr>
            </a:solidFill>
            <a:prstDash val="solid"/>
          </a:ln>
        </p:spPr>
      </p:sp>
      <p:sp>
        <p:nvSpPr>
          <p:cNvPr id="20" name="Shape 17">
            <a:hlinkClick r:id="rId19" tooltip="[9] Quach et al. (2024) ↗"/>
          </p:cNvPr>
          <p:cNvSpPr/>
          <p:nvPr/>
        </p:nvSpPr>
        <p:spPr>
          <a:xfrm>
            <a:off x="6050280" y="6401633"/>
            <a:ext cx="1257300" cy="160020"/>
          </a:xfrm>
          <a:prstGeom prst="rect">
            <a:avLst/>
          </a:prstGeom>
          <a:solidFill>
            <a:srgbClr val="FFFFFF">
              <a:alpha val="0"/>
            </a:srgbClr>
          </a:solidFill>
          <a:ln w="12700">
            <a:solidFill>
              <a:srgbClr val="FFFFFF">
                <a:alpha val="0"/>
              </a:srgbClr>
            </a:solidFill>
            <a:prstDash val="solid"/>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Use AI to connect your courses to your goals.">    </p:cNvPr>
          <p:cNvPicPr>
            <a:picLocks noChangeAspect="1"/>
          </p:cNvPicPr>
          <p:nvPr/>
        </p:nvPicPr>
        <p:blipFill>
          <a:blip r:embed="rId1"/>
          <a:stretch>
            <a:fillRect/>
          </a:stretch>
        </p:blipFill>
        <p:spPr>
          <a:xfrm>
            <a:off x="0" y="0"/>
            <a:ext cx="12192000" cy="6858000"/>
          </a:xfrm>
          <a:prstGeom prst="rect">
            <a:avLst/>
          </a:prstGeom>
        </p:spPr>
      </p:pic>
      <p:sp>
        <p:nvSpPr>
          <p:cNvPr id="3" name="Shape 0">
            <a:hlinkClick r:id="rId2" tooltip="[1]"/>
          </p:cNvPr>
          <p:cNvSpPr/>
          <p:nvPr/>
        </p:nvSpPr>
        <p:spPr>
          <a:xfrm>
            <a:off x="6324600" y="2379226"/>
            <a:ext cx="198120" cy="152400"/>
          </a:xfrm>
          <a:prstGeom prst="rect">
            <a:avLst/>
          </a:prstGeom>
          <a:solidFill>
            <a:srgbClr val="FFFFFF">
              <a:alpha val="0"/>
            </a:srgbClr>
          </a:solidFill>
          <a:ln w="12700">
            <a:solidFill>
              <a:srgbClr val="FFFFFF">
                <a:alpha val="0"/>
              </a:srgbClr>
            </a:solidFill>
            <a:prstDash val="solid"/>
          </a:ln>
        </p:spPr>
      </p:sp>
      <p:sp>
        <p:nvSpPr>
          <p:cNvPr id="4" name="Shape 1">
            <a:hlinkClick r:id="rId3" tooltip="[2]"/>
          </p:cNvPr>
          <p:cNvSpPr/>
          <p:nvPr/>
        </p:nvSpPr>
        <p:spPr>
          <a:xfrm>
            <a:off x="4321721" y="2920246"/>
            <a:ext cx="198120" cy="152400"/>
          </a:xfrm>
          <a:prstGeom prst="rect">
            <a:avLst/>
          </a:prstGeom>
          <a:solidFill>
            <a:srgbClr val="FFFFFF">
              <a:alpha val="0"/>
            </a:srgbClr>
          </a:solidFill>
          <a:ln w="12700">
            <a:solidFill>
              <a:srgbClr val="FFFFFF">
                <a:alpha val="0"/>
              </a:srgbClr>
            </a:solidFill>
            <a:prstDash val="solid"/>
          </a:ln>
        </p:spPr>
      </p:sp>
      <p:sp>
        <p:nvSpPr>
          <p:cNvPr id="5" name="Shape 2">
            <a:hlinkClick r:id="rId4" tooltip="[3]"/>
          </p:cNvPr>
          <p:cNvSpPr/>
          <p:nvPr/>
        </p:nvSpPr>
        <p:spPr>
          <a:xfrm>
            <a:off x="5166292" y="3095506"/>
            <a:ext cx="198120" cy="152400"/>
          </a:xfrm>
          <a:prstGeom prst="rect">
            <a:avLst/>
          </a:prstGeom>
          <a:solidFill>
            <a:srgbClr val="FFFFFF">
              <a:alpha val="0"/>
            </a:srgbClr>
          </a:solidFill>
          <a:ln w="12700">
            <a:solidFill>
              <a:srgbClr val="FFFFFF">
                <a:alpha val="0"/>
              </a:srgbClr>
            </a:solidFill>
            <a:prstDash val="solid"/>
          </a:ln>
        </p:spPr>
      </p:sp>
      <p:sp>
        <p:nvSpPr>
          <p:cNvPr id="6" name="Shape 3">
            <a:hlinkClick r:id="rId5" tooltip="[4]"/>
          </p:cNvPr>
          <p:cNvSpPr/>
          <p:nvPr/>
        </p:nvSpPr>
        <p:spPr>
          <a:xfrm>
            <a:off x="11470919" y="4375666"/>
            <a:ext cx="198120" cy="152400"/>
          </a:xfrm>
          <a:prstGeom prst="rect">
            <a:avLst/>
          </a:prstGeom>
          <a:solidFill>
            <a:srgbClr val="FFFFFF">
              <a:alpha val="0"/>
            </a:srgbClr>
          </a:solidFill>
          <a:ln w="12700">
            <a:solidFill>
              <a:srgbClr val="FFFFFF">
                <a:alpha val="0"/>
              </a:srgbClr>
            </a:solidFill>
            <a:prstDash val="solid"/>
          </a:ln>
        </p:spPr>
      </p:sp>
      <p:sp>
        <p:nvSpPr>
          <p:cNvPr id="7" name="Shape 4">
            <a:hlinkClick r:id="rId6" tooltip="[1] Purdue STAT course descriptions ↗"/>
          </p:cNvPr>
          <p:cNvSpPr/>
          <p:nvPr/>
        </p:nvSpPr>
        <p:spPr>
          <a:xfrm>
            <a:off x="1188720" y="6401633"/>
            <a:ext cx="1943100" cy="160020"/>
          </a:xfrm>
          <a:prstGeom prst="rect">
            <a:avLst/>
          </a:prstGeom>
          <a:solidFill>
            <a:srgbClr val="FFFFFF">
              <a:alpha val="0"/>
            </a:srgbClr>
          </a:solidFill>
          <a:ln w="12700">
            <a:solidFill>
              <a:srgbClr val="FFFFFF">
                <a:alpha val="0"/>
              </a:srgbClr>
            </a:solidFill>
            <a:prstDash val="solid"/>
          </a:ln>
        </p:spPr>
      </p:sp>
      <p:sp>
        <p:nvSpPr>
          <p:cNvPr id="8" name="Shape 5">
            <a:hlinkClick r:id="rId7" tooltip="[2] MLB Statcast glossary (xBA) ↗"/>
          </p:cNvPr>
          <p:cNvSpPr/>
          <p:nvPr/>
        </p:nvSpPr>
        <p:spPr>
          <a:xfrm>
            <a:off x="3253740" y="6401633"/>
            <a:ext cx="1737360" cy="160020"/>
          </a:xfrm>
          <a:prstGeom prst="rect">
            <a:avLst/>
          </a:prstGeom>
          <a:solidFill>
            <a:srgbClr val="FFFFFF">
              <a:alpha val="0"/>
            </a:srgbClr>
          </a:solidFill>
          <a:ln w="12700">
            <a:solidFill>
              <a:srgbClr val="FFFFFF">
                <a:alpha val="0"/>
              </a:srgbClr>
            </a:solidFill>
            <a:prstDash val="solid"/>
          </a:ln>
        </p:spPr>
      </p:sp>
      <p:sp>
        <p:nvSpPr>
          <p:cNvPr id="9" name="Shape 6">
            <a:hlinkClick r:id="rId8" tooltip="[3] Opta Analyst (2023), xG ↗"/>
          </p:cNvPr>
          <p:cNvSpPr/>
          <p:nvPr/>
        </p:nvSpPr>
        <p:spPr>
          <a:xfrm>
            <a:off x="5113020" y="6401633"/>
            <a:ext cx="1501140" cy="160020"/>
          </a:xfrm>
          <a:prstGeom prst="rect">
            <a:avLst/>
          </a:prstGeom>
          <a:solidFill>
            <a:srgbClr val="FFFFFF">
              <a:alpha val="0"/>
            </a:srgbClr>
          </a:solidFill>
          <a:ln w="12700">
            <a:solidFill>
              <a:srgbClr val="FFFFFF">
                <a:alpha val="0"/>
              </a:srgbClr>
            </a:solidFill>
            <a:prstDash val="solid"/>
          </a:ln>
        </p:spPr>
      </p:sp>
      <p:sp>
        <p:nvSpPr>
          <p:cNvPr id="10" name="Shape 7">
            <a:hlinkClick r:id="rId9" tooltip="[4] Canning &amp; Harackiewicz (2015) ↗"/>
          </p:cNvPr>
          <p:cNvSpPr/>
          <p:nvPr/>
        </p:nvSpPr>
        <p:spPr>
          <a:xfrm>
            <a:off x="6736080" y="6401633"/>
            <a:ext cx="1859280" cy="160020"/>
          </a:xfrm>
          <a:prstGeom prst="rect">
            <a:avLst/>
          </a:prstGeom>
          <a:solidFill>
            <a:srgbClr val="FFFFFF">
              <a:alpha val="0"/>
            </a:srgbClr>
          </a:solidFill>
          <a:ln w="12700">
            <a:solidFill>
              <a:srgbClr val="FFFFFF">
                <a:alpha val="0"/>
              </a:srgbClr>
            </a:solidFill>
            <a:prstDash val="solid"/>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Know the kinds of AI tools and when each is safe to use.">    </p:cNvPr>
          <p:cNvPicPr>
            <a:picLocks noChangeAspect="1"/>
          </p:cNvPicPr>
          <p:nvPr/>
        </p:nvPicPr>
        <p:blipFill>
          <a:blip r:embed="rId1"/>
          <a:stretch>
            <a:fillRect/>
          </a:stretch>
        </p:blipFill>
        <p:spPr>
          <a:xfrm>
            <a:off x="0" y="0"/>
            <a:ext cx="12192000" cy="6858000"/>
          </a:xfrm>
          <a:prstGeom prst="rect">
            <a:avLst/>
          </a:prstGeom>
        </p:spPr>
      </p:pic>
      <p:sp>
        <p:nvSpPr>
          <p:cNvPr id="3" name="Shape 0">
            <a:hlinkClick r:id="rId2" tooltip="[1]"/>
          </p:cNvPr>
          <p:cNvSpPr/>
          <p:nvPr/>
        </p:nvSpPr>
        <p:spPr>
          <a:xfrm>
            <a:off x="5801083" y="2150626"/>
            <a:ext cx="198120" cy="152400"/>
          </a:xfrm>
          <a:prstGeom prst="rect">
            <a:avLst/>
          </a:prstGeom>
          <a:solidFill>
            <a:srgbClr val="FFFFFF">
              <a:alpha val="0"/>
            </a:srgbClr>
          </a:solidFill>
          <a:ln w="12700">
            <a:solidFill>
              <a:srgbClr val="FFFFFF">
                <a:alpha val="0"/>
              </a:srgbClr>
            </a:solidFill>
            <a:prstDash val="solid"/>
          </a:ln>
        </p:spPr>
      </p:sp>
      <p:sp>
        <p:nvSpPr>
          <p:cNvPr id="4" name="Shape 1">
            <a:hlinkClick r:id="rId3" tooltip="[2]"/>
          </p:cNvPr>
          <p:cNvSpPr/>
          <p:nvPr/>
        </p:nvSpPr>
        <p:spPr>
          <a:xfrm>
            <a:off x="8162765" y="2150626"/>
            <a:ext cx="198120" cy="152400"/>
          </a:xfrm>
          <a:prstGeom prst="rect">
            <a:avLst/>
          </a:prstGeom>
          <a:solidFill>
            <a:srgbClr val="FFFFFF">
              <a:alpha val="0"/>
            </a:srgbClr>
          </a:solidFill>
          <a:ln w="12700">
            <a:solidFill>
              <a:srgbClr val="FFFFFF">
                <a:alpha val="0"/>
              </a:srgbClr>
            </a:solidFill>
            <a:prstDash val="solid"/>
          </a:ln>
        </p:spPr>
      </p:sp>
      <p:sp>
        <p:nvSpPr>
          <p:cNvPr id="5" name="Shape 2">
            <a:hlinkClick r:id="rId4" tooltip="[3]"/>
          </p:cNvPr>
          <p:cNvSpPr/>
          <p:nvPr/>
        </p:nvSpPr>
        <p:spPr>
          <a:xfrm>
            <a:off x="8384515" y="2150626"/>
            <a:ext cx="198120" cy="152400"/>
          </a:xfrm>
          <a:prstGeom prst="rect">
            <a:avLst/>
          </a:prstGeom>
          <a:solidFill>
            <a:srgbClr val="FFFFFF">
              <a:alpha val="0"/>
            </a:srgbClr>
          </a:solidFill>
          <a:ln w="12700">
            <a:solidFill>
              <a:srgbClr val="FFFFFF">
                <a:alpha val="0"/>
              </a:srgbClr>
            </a:solidFill>
            <a:prstDash val="solid"/>
          </a:ln>
        </p:spPr>
      </p:sp>
      <p:sp>
        <p:nvSpPr>
          <p:cNvPr id="6" name="Shape 3">
            <a:hlinkClick r:id="rId5" tooltip="[4]"/>
          </p:cNvPr>
          <p:cNvSpPr/>
          <p:nvPr/>
        </p:nvSpPr>
        <p:spPr>
          <a:xfrm>
            <a:off x="8606332" y="2150626"/>
            <a:ext cx="198120" cy="152400"/>
          </a:xfrm>
          <a:prstGeom prst="rect">
            <a:avLst/>
          </a:prstGeom>
          <a:solidFill>
            <a:srgbClr val="FFFFFF">
              <a:alpha val="0"/>
            </a:srgbClr>
          </a:solidFill>
          <a:ln w="12700">
            <a:solidFill>
              <a:srgbClr val="FFFFFF">
                <a:alpha val="0"/>
              </a:srgbClr>
            </a:solidFill>
            <a:prstDash val="solid"/>
          </a:ln>
        </p:spPr>
      </p:sp>
      <p:sp>
        <p:nvSpPr>
          <p:cNvPr id="7" name="Shape 4">
            <a:hlinkClick r:id="rId6" tooltip="[5]"/>
          </p:cNvPr>
          <p:cNvSpPr/>
          <p:nvPr/>
        </p:nvSpPr>
        <p:spPr>
          <a:xfrm>
            <a:off x="3521156" y="2866906"/>
            <a:ext cx="198120" cy="152400"/>
          </a:xfrm>
          <a:prstGeom prst="rect">
            <a:avLst/>
          </a:prstGeom>
          <a:solidFill>
            <a:srgbClr val="FFFFFF">
              <a:alpha val="0"/>
            </a:srgbClr>
          </a:solidFill>
          <a:ln w="12700">
            <a:solidFill>
              <a:srgbClr val="FFFFFF">
                <a:alpha val="0"/>
              </a:srgbClr>
            </a:solidFill>
            <a:prstDash val="solid"/>
          </a:ln>
        </p:spPr>
      </p:sp>
      <p:sp>
        <p:nvSpPr>
          <p:cNvPr id="8" name="Shape 5">
            <a:hlinkClick r:id="rId7" tooltip="[1]"/>
          </p:cNvPr>
          <p:cNvSpPr/>
          <p:nvPr/>
        </p:nvSpPr>
        <p:spPr>
          <a:xfrm>
            <a:off x="5792198" y="2866906"/>
            <a:ext cx="198120" cy="152400"/>
          </a:xfrm>
          <a:prstGeom prst="rect">
            <a:avLst/>
          </a:prstGeom>
          <a:solidFill>
            <a:srgbClr val="FFFFFF">
              <a:alpha val="0"/>
            </a:srgbClr>
          </a:solidFill>
          <a:ln w="12700">
            <a:solidFill>
              <a:srgbClr val="FFFFFF">
                <a:alpha val="0"/>
              </a:srgbClr>
            </a:solidFill>
            <a:prstDash val="solid"/>
          </a:ln>
        </p:spPr>
      </p:sp>
      <p:sp>
        <p:nvSpPr>
          <p:cNvPr id="9" name="Shape 6">
            <a:hlinkClick r:id="rId8" tooltip="[2]"/>
          </p:cNvPr>
          <p:cNvSpPr/>
          <p:nvPr/>
        </p:nvSpPr>
        <p:spPr>
          <a:xfrm>
            <a:off x="8329879" y="2866906"/>
            <a:ext cx="198120" cy="152400"/>
          </a:xfrm>
          <a:prstGeom prst="rect">
            <a:avLst/>
          </a:prstGeom>
          <a:solidFill>
            <a:srgbClr val="FFFFFF">
              <a:alpha val="0"/>
            </a:srgbClr>
          </a:solidFill>
          <a:ln w="12700">
            <a:solidFill>
              <a:srgbClr val="FFFFFF">
                <a:alpha val="0"/>
              </a:srgbClr>
            </a:solidFill>
            <a:prstDash val="solid"/>
          </a:ln>
        </p:spPr>
      </p:sp>
      <p:sp>
        <p:nvSpPr>
          <p:cNvPr id="10" name="Shape 7">
            <a:hlinkClick r:id="rId9" tooltip="[3]"/>
          </p:cNvPr>
          <p:cNvSpPr/>
          <p:nvPr/>
        </p:nvSpPr>
        <p:spPr>
          <a:xfrm>
            <a:off x="8551698" y="2866906"/>
            <a:ext cx="198120" cy="152400"/>
          </a:xfrm>
          <a:prstGeom prst="rect">
            <a:avLst/>
          </a:prstGeom>
          <a:solidFill>
            <a:srgbClr val="FFFFFF">
              <a:alpha val="0"/>
            </a:srgbClr>
          </a:solidFill>
          <a:ln w="12700">
            <a:solidFill>
              <a:srgbClr val="FFFFFF">
                <a:alpha val="0"/>
              </a:srgbClr>
            </a:solidFill>
            <a:prstDash val="solid"/>
          </a:ln>
        </p:spPr>
      </p:sp>
      <p:sp>
        <p:nvSpPr>
          <p:cNvPr id="11" name="Shape 8">
            <a:hlinkClick r:id="rId10" tooltip="[4]"/>
          </p:cNvPr>
          <p:cNvSpPr/>
          <p:nvPr/>
        </p:nvSpPr>
        <p:spPr>
          <a:xfrm>
            <a:off x="8773439" y="2866906"/>
            <a:ext cx="198120" cy="152400"/>
          </a:xfrm>
          <a:prstGeom prst="rect">
            <a:avLst/>
          </a:prstGeom>
          <a:solidFill>
            <a:srgbClr val="FFFFFF">
              <a:alpha val="0"/>
            </a:srgbClr>
          </a:solidFill>
          <a:ln w="12700">
            <a:solidFill>
              <a:srgbClr val="FFFFFF">
                <a:alpha val="0"/>
              </a:srgbClr>
            </a:solidFill>
            <a:prstDash val="solid"/>
          </a:ln>
        </p:spPr>
      </p:sp>
      <p:sp>
        <p:nvSpPr>
          <p:cNvPr id="12" name="Shape 9">
            <a:hlinkClick r:id="rId11" tooltip="[6]"/>
          </p:cNvPr>
          <p:cNvSpPr/>
          <p:nvPr/>
        </p:nvSpPr>
        <p:spPr>
          <a:xfrm>
            <a:off x="3765758" y="3583186"/>
            <a:ext cx="198120" cy="152400"/>
          </a:xfrm>
          <a:prstGeom prst="rect">
            <a:avLst/>
          </a:prstGeom>
          <a:solidFill>
            <a:srgbClr val="FFFFFF">
              <a:alpha val="0"/>
            </a:srgbClr>
          </a:solidFill>
          <a:ln w="12700">
            <a:solidFill>
              <a:srgbClr val="FFFFFF">
                <a:alpha val="0"/>
              </a:srgbClr>
            </a:solidFill>
            <a:prstDash val="solid"/>
          </a:ln>
        </p:spPr>
      </p:sp>
      <p:sp>
        <p:nvSpPr>
          <p:cNvPr id="13" name="Shape 10">
            <a:hlinkClick r:id="rId12" tooltip="Log in: genai.rcac.purdue.edu ↗"/>
          </p:cNvPr>
          <p:cNvSpPr/>
          <p:nvPr/>
        </p:nvSpPr>
        <p:spPr>
          <a:xfrm>
            <a:off x="2499360" y="3819406"/>
            <a:ext cx="1775460" cy="121920"/>
          </a:xfrm>
          <a:prstGeom prst="rect">
            <a:avLst/>
          </a:prstGeom>
          <a:solidFill>
            <a:srgbClr val="FFFFFF">
              <a:alpha val="0"/>
            </a:srgbClr>
          </a:solidFill>
          <a:ln w="12700">
            <a:solidFill>
              <a:srgbClr val="FFFFFF">
                <a:alpha val="0"/>
              </a:srgbClr>
            </a:solidFill>
            <a:prstDash val="solid"/>
          </a:ln>
        </p:spPr>
      </p:sp>
      <p:sp>
        <p:nvSpPr>
          <p:cNvPr id="14" name="Shape 11">
            <a:hlinkClick r:id="rId13" tooltip="[7]"/>
          </p:cNvPr>
          <p:cNvSpPr/>
          <p:nvPr/>
        </p:nvSpPr>
        <p:spPr>
          <a:xfrm>
            <a:off x="6049975" y="3583186"/>
            <a:ext cx="198120" cy="152400"/>
          </a:xfrm>
          <a:prstGeom prst="rect">
            <a:avLst/>
          </a:prstGeom>
          <a:solidFill>
            <a:srgbClr val="FFFFFF">
              <a:alpha val="0"/>
            </a:srgbClr>
          </a:solidFill>
          <a:ln w="12700">
            <a:solidFill>
              <a:srgbClr val="FFFFFF">
                <a:alpha val="0"/>
              </a:srgbClr>
            </a:solidFill>
            <a:prstDash val="solid"/>
          </a:ln>
        </p:spPr>
      </p:sp>
      <p:sp>
        <p:nvSpPr>
          <p:cNvPr id="15" name="Shape 12">
            <a:hlinkClick r:id="rId14" tooltip="[8]"/>
          </p:cNvPr>
          <p:cNvSpPr/>
          <p:nvPr/>
        </p:nvSpPr>
        <p:spPr>
          <a:xfrm>
            <a:off x="8640013" y="3583186"/>
            <a:ext cx="198120" cy="152400"/>
          </a:xfrm>
          <a:prstGeom prst="rect">
            <a:avLst/>
          </a:prstGeom>
          <a:solidFill>
            <a:srgbClr val="FFFFFF">
              <a:alpha val="0"/>
            </a:srgbClr>
          </a:solidFill>
          <a:ln w="12700">
            <a:solidFill>
              <a:srgbClr val="FFFFFF">
                <a:alpha val="0"/>
              </a:srgbClr>
            </a:solidFill>
            <a:prstDash val="solid"/>
          </a:ln>
        </p:spPr>
      </p:sp>
      <p:sp>
        <p:nvSpPr>
          <p:cNvPr id="16" name="Shape 13">
            <a:hlinkClick r:id="rId15" tooltip="[9]"/>
          </p:cNvPr>
          <p:cNvSpPr/>
          <p:nvPr/>
        </p:nvSpPr>
        <p:spPr>
          <a:xfrm>
            <a:off x="3768166" y="4299466"/>
            <a:ext cx="198120" cy="152400"/>
          </a:xfrm>
          <a:prstGeom prst="rect">
            <a:avLst/>
          </a:prstGeom>
          <a:solidFill>
            <a:srgbClr val="FFFFFF">
              <a:alpha val="0"/>
            </a:srgbClr>
          </a:solidFill>
          <a:ln w="12700">
            <a:solidFill>
              <a:srgbClr val="FFFFFF">
                <a:alpha val="0"/>
              </a:srgbClr>
            </a:solidFill>
            <a:prstDash val="solid"/>
          </a:ln>
        </p:spPr>
      </p:sp>
      <p:sp>
        <p:nvSpPr>
          <p:cNvPr id="17" name="Shape 14">
            <a:hlinkClick r:id="rId16" tooltip="[10]"/>
          </p:cNvPr>
          <p:cNvSpPr/>
          <p:nvPr/>
        </p:nvSpPr>
        <p:spPr>
          <a:xfrm>
            <a:off x="3989954" y="4299466"/>
            <a:ext cx="289560" cy="152400"/>
          </a:xfrm>
          <a:prstGeom prst="rect">
            <a:avLst/>
          </a:prstGeom>
          <a:solidFill>
            <a:srgbClr val="FFFFFF">
              <a:alpha val="0"/>
            </a:srgbClr>
          </a:solidFill>
          <a:ln w="12700">
            <a:solidFill>
              <a:srgbClr val="FFFFFF">
                <a:alpha val="0"/>
              </a:srgbClr>
            </a:solidFill>
            <a:prstDash val="solid"/>
          </a:ln>
        </p:spPr>
      </p:sp>
      <p:sp>
        <p:nvSpPr>
          <p:cNvPr id="18" name="Shape 15">
            <a:hlinkClick r:id="rId17" tooltip="[9]"/>
          </p:cNvPr>
          <p:cNvSpPr/>
          <p:nvPr/>
        </p:nvSpPr>
        <p:spPr>
          <a:xfrm>
            <a:off x="5683331" y="4299466"/>
            <a:ext cx="198120" cy="152400"/>
          </a:xfrm>
          <a:prstGeom prst="rect">
            <a:avLst/>
          </a:prstGeom>
          <a:solidFill>
            <a:srgbClr val="FFFFFF">
              <a:alpha val="0"/>
            </a:srgbClr>
          </a:solidFill>
          <a:ln w="12700">
            <a:solidFill>
              <a:srgbClr val="FFFFFF">
                <a:alpha val="0"/>
              </a:srgbClr>
            </a:solidFill>
            <a:prstDash val="solid"/>
          </a:ln>
        </p:spPr>
      </p:sp>
      <p:sp>
        <p:nvSpPr>
          <p:cNvPr id="19" name="Shape 16">
            <a:hlinkClick r:id="rId18" tooltip="[11]"/>
          </p:cNvPr>
          <p:cNvSpPr/>
          <p:nvPr/>
        </p:nvSpPr>
        <p:spPr>
          <a:xfrm>
            <a:off x="10528173" y="2424946"/>
            <a:ext cx="289560" cy="152400"/>
          </a:xfrm>
          <a:prstGeom prst="rect">
            <a:avLst/>
          </a:prstGeom>
          <a:solidFill>
            <a:srgbClr val="FFFFFF">
              <a:alpha val="0"/>
            </a:srgbClr>
          </a:solidFill>
          <a:ln w="12700">
            <a:solidFill>
              <a:srgbClr val="FFFFFF">
                <a:alpha val="0"/>
              </a:srgbClr>
            </a:solidFill>
            <a:prstDash val="solid"/>
          </a:ln>
        </p:spPr>
      </p:sp>
      <p:sp>
        <p:nvSpPr>
          <p:cNvPr id="20" name="Shape 17">
            <a:hlinkClick r:id="rId19" tooltip="[12]"/>
          </p:cNvPr>
          <p:cNvSpPr/>
          <p:nvPr/>
        </p:nvSpPr>
        <p:spPr>
          <a:xfrm>
            <a:off x="10841888" y="2424946"/>
            <a:ext cx="289560" cy="152400"/>
          </a:xfrm>
          <a:prstGeom prst="rect">
            <a:avLst/>
          </a:prstGeom>
          <a:solidFill>
            <a:srgbClr val="FFFFFF">
              <a:alpha val="0"/>
            </a:srgbClr>
          </a:solidFill>
          <a:ln w="12700">
            <a:solidFill>
              <a:srgbClr val="FFFFFF">
                <a:alpha val="0"/>
              </a:srgbClr>
            </a:solidFill>
            <a:prstDash val="solid"/>
          </a:ln>
        </p:spPr>
      </p:sp>
      <p:sp>
        <p:nvSpPr>
          <p:cNvPr id="21" name="Shape 18">
            <a:hlinkClick r:id="rId20" tooltip="[3]"/>
          </p:cNvPr>
          <p:cNvSpPr/>
          <p:nvPr/>
        </p:nvSpPr>
        <p:spPr>
          <a:xfrm>
            <a:off x="10034016" y="3141226"/>
            <a:ext cx="198120" cy="152400"/>
          </a:xfrm>
          <a:prstGeom prst="rect">
            <a:avLst/>
          </a:prstGeom>
          <a:solidFill>
            <a:srgbClr val="FFFFFF">
              <a:alpha val="0"/>
            </a:srgbClr>
          </a:solidFill>
          <a:ln w="12700">
            <a:solidFill>
              <a:srgbClr val="FFFFFF">
                <a:alpha val="0"/>
              </a:srgbClr>
            </a:solidFill>
            <a:prstDash val="solid"/>
          </a:ln>
        </p:spPr>
      </p:sp>
      <p:sp>
        <p:nvSpPr>
          <p:cNvPr id="22" name="Shape 19">
            <a:hlinkClick r:id="rId21" tooltip="[5]"/>
          </p:cNvPr>
          <p:cNvSpPr/>
          <p:nvPr/>
        </p:nvSpPr>
        <p:spPr>
          <a:xfrm>
            <a:off x="10255834" y="3141226"/>
            <a:ext cx="198120" cy="152400"/>
          </a:xfrm>
          <a:prstGeom prst="rect">
            <a:avLst/>
          </a:prstGeom>
          <a:solidFill>
            <a:srgbClr val="FFFFFF">
              <a:alpha val="0"/>
            </a:srgbClr>
          </a:solidFill>
          <a:ln w="12700">
            <a:solidFill>
              <a:srgbClr val="FFFFFF">
                <a:alpha val="0"/>
              </a:srgbClr>
            </a:solidFill>
            <a:prstDash val="solid"/>
          </a:ln>
        </p:spPr>
      </p:sp>
      <p:sp>
        <p:nvSpPr>
          <p:cNvPr id="23" name="Shape 20">
            <a:hlinkClick r:id="rId22" tooltip="[6]"/>
          </p:cNvPr>
          <p:cNvSpPr/>
          <p:nvPr/>
        </p:nvSpPr>
        <p:spPr>
          <a:xfrm>
            <a:off x="10437342" y="3857506"/>
            <a:ext cx="198120" cy="152400"/>
          </a:xfrm>
          <a:prstGeom prst="rect">
            <a:avLst/>
          </a:prstGeom>
          <a:solidFill>
            <a:srgbClr val="FFFFFF">
              <a:alpha val="0"/>
            </a:srgbClr>
          </a:solidFill>
          <a:ln w="12700">
            <a:solidFill>
              <a:srgbClr val="FFFFFF">
                <a:alpha val="0"/>
              </a:srgbClr>
            </a:solidFill>
            <a:prstDash val="solid"/>
          </a:ln>
        </p:spPr>
      </p:sp>
      <p:sp>
        <p:nvSpPr>
          <p:cNvPr id="24" name="Shape 21">
            <a:hlinkClick r:id="rId23" tooltip="[10]"/>
          </p:cNvPr>
          <p:cNvSpPr/>
          <p:nvPr/>
        </p:nvSpPr>
        <p:spPr>
          <a:xfrm>
            <a:off x="10698022" y="4493776"/>
            <a:ext cx="289560" cy="152400"/>
          </a:xfrm>
          <a:prstGeom prst="rect">
            <a:avLst/>
          </a:prstGeom>
          <a:solidFill>
            <a:srgbClr val="FFFFFF">
              <a:alpha val="0"/>
            </a:srgbClr>
          </a:solidFill>
          <a:ln w="12700">
            <a:solidFill>
              <a:srgbClr val="FFFFFF">
                <a:alpha val="0"/>
              </a:srgbClr>
            </a:solidFill>
            <a:prstDash val="solid"/>
          </a:ln>
        </p:spPr>
      </p:sp>
      <p:sp>
        <p:nvSpPr>
          <p:cNvPr id="25" name="Shape 22">
            <a:hlinkClick r:id="rId24" tooltip="[1] Gemini API terms ↗"/>
          </p:cNvPr>
          <p:cNvSpPr/>
          <p:nvPr/>
        </p:nvSpPr>
        <p:spPr>
          <a:xfrm>
            <a:off x="1188720" y="6226373"/>
            <a:ext cx="1135380" cy="160020"/>
          </a:xfrm>
          <a:prstGeom prst="rect">
            <a:avLst/>
          </a:prstGeom>
          <a:solidFill>
            <a:srgbClr val="FFFFFF">
              <a:alpha val="0"/>
            </a:srgbClr>
          </a:solidFill>
          <a:ln w="12700">
            <a:solidFill>
              <a:srgbClr val="FFFFFF">
                <a:alpha val="0"/>
              </a:srgbClr>
            </a:solidFill>
            <a:prstDash val="solid"/>
          </a:ln>
        </p:spPr>
      </p:sp>
      <p:sp>
        <p:nvSpPr>
          <p:cNvPr id="26" name="Shape 23">
            <a:hlinkClick r:id="rId25" tooltip="[2] Claude Code docs ↗"/>
          </p:cNvPr>
          <p:cNvSpPr/>
          <p:nvPr/>
        </p:nvSpPr>
        <p:spPr>
          <a:xfrm>
            <a:off x="2446020" y="6226373"/>
            <a:ext cx="1188720" cy="160020"/>
          </a:xfrm>
          <a:prstGeom prst="rect">
            <a:avLst/>
          </a:prstGeom>
          <a:solidFill>
            <a:srgbClr val="FFFFFF">
              <a:alpha val="0"/>
            </a:srgbClr>
          </a:solidFill>
          <a:ln w="12700">
            <a:solidFill>
              <a:srgbClr val="FFFFFF">
                <a:alpha val="0"/>
              </a:srgbClr>
            </a:solidFill>
            <a:prstDash val="solid"/>
          </a:ln>
        </p:spPr>
      </p:sp>
      <p:sp>
        <p:nvSpPr>
          <p:cNvPr id="27" name="Shape 24">
            <a:hlinkClick r:id="rId26" tooltip="[3] Codex pricing ↗"/>
          </p:cNvPr>
          <p:cNvSpPr/>
          <p:nvPr/>
        </p:nvSpPr>
        <p:spPr>
          <a:xfrm>
            <a:off x="3756660" y="6226373"/>
            <a:ext cx="960120" cy="160020"/>
          </a:xfrm>
          <a:prstGeom prst="rect">
            <a:avLst/>
          </a:prstGeom>
          <a:solidFill>
            <a:srgbClr val="FFFFFF">
              <a:alpha val="0"/>
            </a:srgbClr>
          </a:solidFill>
          <a:ln w="12700">
            <a:solidFill>
              <a:srgbClr val="FFFFFF">
                <a:alpha val="0"/>
              </a:srgbClr>
            </a:solidFill>
            <a:prstDash val="solid"/>
          </a:ln>
        </p:spPr>
      </p:sp>
      <p:sp>
        <p:nvSpPr>
          <p:cNvPr id="28" name="Shape 25">
            <a:hlinkClick r:id="rId27" tooltip="[4] Gemini CLI (GitHub) ↗"/>
          </p:cNvPr>
          <p:cNvSpPr/>
          <p:nvPr/>
        </p:nvSpPr>
        <p:spPr>
          <a:xfrm>
            <a:off x="4838700" y="6226373"/>
            <a:ext cx="1264920" cy="160020"/>
          </a:xfrm>
          <a:prstGeom prst="rect">
            <a:avLst/>
          </a:prstGeom>
          <a:solidFill>
            <a:srgbClr val="FFFFFF">
              <a:alpha val="0"/>
            </a:srgbClr>
          </a:solidFill>
          <a:ln w="12700">
            <a:solidFill>
              <a:srgbClr val="FFFFFF">
                <a:alpha val="0"/>
              </a:srgbClr>
            </a:solidFill>
            <a:prstDash val="solid"/>
          </a:ln>
        </p:spPr>
      </p:sp>
      <p:sp>
        <p:nvSpPr>
          <p:cNvPr id="29" name="Shape 26">
            <a:hlinkClick r:id="rId28" tooltip="[5] Copilot data protection ↗"/>
          </p:cNvPr>
          <p:cNvSpPr/>
          <p:nvPr/>
        </p:nvSpPr>
        <p:spPr>
          <a:xfrm>
            <a:off x="6225540" y="6226373"/>
            <a:ext cx="1463040" cy="160020"/>
          </a:xfrm>
          <a:prstGeom prst="rect">
            <a:avLst/>
          </a:prstGeom>
          <a:solidFill>
            <a:srgbClr val="FFFFFF">
              <a:alpha val="0"/>
            </a:srgbClr>
          </a:solidFill>
          <a:ln w="12700">
            <a:solidFill>
              <a:srgbClr val="FFFFFF">
                <a:alpha val="0"/>
              </a:srgbClr>
            </a:solidFill>
            <a:prstDash val="solid"/>
          </a:ln>
        </p:spPr>
      </p:sp>
      <p:sp>
        <p:nvSpPr>
          <p:cNvPr id="30" name="Shape 27">
            <a:hlinkClick r:id="rId29" tooltip="[6] Purdue RCAC, GenAI Studio (Sept. 29) ↗"/>
          </p:cNvPr>
          <p:cNvSpPr/>
          <p:nvPr/>
        </p:nvSpPr>
        <p:spPr>
          <a:xfrm>
            <a:off x="7810500" y="6226373"/>
            <a:ext cx="2209800" cy="160020"/>
          </a:xfrm>
          <a:prstGeom prst="rect">
            <a:avLst/>
          </a:prstGeom>
          <a:solidFill>
            <a:srgbClr val="FFFFFF">
              <a:alpha val="0"/>
            </a:srgbClr>
          </a:solidFill>
          <a:ln w="12700">
            <a:solidFill>
              <a:srgbClr val="FFFFFF">
                <a:alpha val="0"/>
              </a:srgbClr>
            </a:solidFill>
            <a:prstDash val="solid"/>
          </a:ln>
        </p:spPr>
      </p:sp>
      <p:sp>
        <p:nvSpPr>
          <p:cNvPr id="31" name="Shape 28">
            <a:hlinkClick r:id="rId30" tooltip="[7] Purdue RCAC, API guide ↗"/>
          </p:cNvPr>
          <p:cNvSpPr/>
          <p:nvPr/>
        </p:nvSpPr>
        <p:spPr>
          <a:xfrm>
            <a:off x="609600" y="6401633"/>
            <a:ext cx="1508760" cy="160020"/>
          </a:xfrm>
          <a:prstGeom prst="rect">
            <a:avLst/>
          </a:prstGeom>
          <a:solidFill>
            <a:srgbClr val="FFFFFF">
              <a:alpha val="0"/>
            </a:srgbClr>
          </a:solidFill>
          <a:ln w="12700">
            <a:solidFill>
              <a:srgbClr val="FFFFFF">
                <a:alpha val="0"/>
              </a:srgbClr>
            </a:solidFill>
            <a:prstDash val="solid"/>
          </a:ln>
        </p:spPr>
      </p:sp>
      <p:sp>
        <p:nvSpPr>
          <p:cNvPr id="32" name="Shape 29">
            <a:hlinkClick r:id="rId31" tooltip="[8] GenAI Studio SDK (GitHub) ↗"/>
          </p:cNvPr>
          <p:cNvSpPr/>
          <p:nvPr/>
        </p:nvSpPr>
        <p:spPr>
          <a:xfrm>
            <a:off x="2240280" y="6401633"/>
            <a:ext cx="1653540" cy="160020"/>
          </a:xfrm>
          <a:prstGeom prst="rect">
            <a:avLst/>
          </a:prstGeom>
          <a:solidFill>
            <a:srgbClr val="FFFFFF">
              <a:alpha val="0"/>
            </a:srgbClr>
          </a:solidFill>
          <a:ln w="12700">
            <a:solidFill>
              <a:srgbClr val="FFFFFF">
                <a:alpha val="0"/>
              </a:srgbClr>
            </a:solidFill>
            <a:prstDash val="solid"/>
          </a:ln>
        </p:spPr>
      </p:sp>
      <p:sp>
        <p:nvSpPr>
          <p:cNvPr id="33" name="Shape 30">
            <a:hlinkClick r:id="rId32" tooltip="[9] llama.cpp ↗"/>
          </p:cNvPr>
          <p:cNvSpPr/>
          <p:nvPr/>
        </p:nvSpPr>
        <p:spPr>
          <a:xfrm>
            <a:off x="4015740" y="6401633"/>
            <a:ext cx="739140" cy="160020"/>
          </a:xfrm>
          <a:prstGeom prst="rect">
            <a:avLst/>
          </a:prstGeom>
          <a:solidFill>
            <a:srgbClr val="FFFFFF">
              <a:alpha val="0"/>
            </a:srgbClr>
          </a:solidFill>
          <a:ln w="12700">
            <a:solidFill>
              <a:srgbClr val="FFFFFF">
                <a:alpha val="0"/>
              </a:srgbClr>
            </a:solidFill>
            <a:prstDash val="solid"/>
          </a:ln>
        </p:spPr>
      </p:sp>
      <p:sp>
        <p:nvSpPr>
          <p:cNvPr id="34" name="Shape 31">
            <a:hlinkClick r:id="rId33" tooltip="[10] Ollama documentation ↗"/>
          </p:cNvPr>
          <p:cNvSpPr/>
          <p:nvPr/>
        </p:nvSpPr>
        <p:spPr>
          <a:xfrm>
            <a:off x="4876800" y="6401633"/>
            <a:ext cx="1478280" cy="160020"/>
          </a:xfrm>
          <a:prstGeom prst="rect">
            <a:avLst/>
          </a:prstGeom>
          <a:solidFill>
            <a:srgbClr val="FFFFFF">
              <a:alpha val="0"/>
            </a:srgbClr>
          </a:solidFill>
          <a:ln w="12700">
            <a:solidFill>
              <a:srgbClr val="FFFFFF">
                <a:alpha val="0"/>
              </a:srgbClr>
            </a:solidFill>
            <a:prstDash val="solid"/>
          </a:ln>
        </p:spPr>
      </p:sp>
      <p:sp>
        <p:nvSpPr>
          <p:cNvPr id="35" name="Shape 32">
            <a:hlinkClick r:id="rId34" tooltip="[11] Gemini privacy hub ↗"/>
          </p:cNvPr>
          <p:cNvSpPr/>
          <p:nvPr/>
        </p:nvSpPr>
        <p:spPr>
          <a:xfrm>
            <a:off x="6477000" y="6401633"/>
            <a:ext cx="1287780" cy="160020"/>
          </a:xfrm>
          <a:prstGeom prst="rect">
            <a:avLst/>
          </a:prstGeom>
          <a:solidFill>
            <a:srgbClr val="FFFFFF">
              <a:alpha val="0"/>
            </a:srgbClr>
          </a:solidFill>
          <a:ln w="12700">
            <a:solidFill>
              <a:srgbClr val="FFFFFF">
                <a:alpha val="0"/>
              </a:srgbClr>
            </a:solidFill>
            <a:prstDash val="solid"/>
          </a:ln>
        </p:spPr>
      </p:sp>
      <p:sp>
        <p:nvSpPr>
          <p:cNvPr id="36" name="Shape 33">
            <a:hlinkClick r:id="rId35" tooltip="[12] Anthropic consumer terms ↗"/>
          </p:cNvPr>
          <p:cNvSpPr/>
          <p:nvPr/>
        </p:nvSpPr>
        <p:spPr>
          <a:xfrm>
            <a:off x="7886700" y="6401633"/>
            <a:ext cx="1653540" cy="160020"/>
          </a:xfrm>
          <a:prstGeom prst="rect">
            <a:avLst/>
          </a:prstGeom>
          <a:solidFill>
            <a:srgbClr val="FFFFFF">
              <a:alpha val="0"/>
            </a:srgbClr>
          </a:solidFill>
          <a:ln w="12700">
            <a:solidFill>
              <a:srgbClr val="FFFFFF">
                <a:alpha val="0"/>
              </a:srgbClr>
            </a:solidFill>
            <a:prstDash val="solid"/>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Knowledge bases match meaning; databases match exactly.">    </p:cNvPr>
          <p:cNvPicPr>
            <a:picLocks noChangeAspect="1"/>
          </p:cNvPicPr>
          <p:nvPr/>
        </p:nvPicPr>
        <p:blipFill>
          <a:blip r:embed="rId1"/>
          <a:stretch>
            <a:fillRect/>
          </a:stretch>
        </p:blipFill>
        <p:spPr>
          <a:xfrm>
            <a:off x="0" y="0"/>
            <a:ext cx="12192000" cy="6858000"/>
          </a:xfrm>
          <a:prstGeom prst="rect">
            <a:avLst/>
          </a:prstGeom>
        </p:spPr>
      </p:pic>
      <p:sp>
        <p:nvSpPr>
          <p:cNvPr id="3" name="Shape 0">
            <a:hlinkClick r:id="rId2" tooltip="[1]"/>
          </p:cNvPr>
          <p:cNvSpPr/>
          <p:nvPr/>
        </p:nvSpPr>
        <p:spPr>
          <a:xfrm>
            <a:off x="4895553" y="1998226"/>
            <a:ext cx="198120" cy="152400"/>
          </a:xfrm>
          <a:prstGeom prst="rect">
            <a:avLst/>
          </a:prstGeom>
          <a:solidFill>
            <a:srgbClr val="FFFFFF">
              <a:alpha val="0"/>
            </a:srgbClr>
          </a:solidFill>
          <a:ln w="12700">
            <a:solidFill>
              <a:srgbClr val="FFFFFF">
                <a:alpha val="0"/>
              </a:srgbClr>
            </a:solidFill>
            <a:prstDash val="solid"/>
          </a:ln>
        </p:spPr>
      </p:sp>
      <p:sp>
        <p:nvSpPr>
          <p:cNvPr id="4" name="Shape 1">
            <a:hlinkClick r:id="rId3" tooltip="[2]"/>
          </p:cNvPr>
          <p:cNvSpPr/>
          <p:nvPr/>
        </p:nvSpPr>
        <p:spPr>
          <a:xfrm>
            <a:off x="1893250" y="2729746"/>
            <a:ext cx="198120" cy="152400"/>
          </a:xfrm>
          <a:prstGeom prst="rect">
            <a:avLst/>
          </a:prstGeom>
          <a:solidFill>
            <a:srgbClr val="FFFFFF">
              <a:alpha val="0"/>
            </a:srgbClr>
          </a:solidFill>
          <a:ln w="12700">
            <a:solidFill>
              <a:srgbClr val="FFFFFF">
                <a:alpha val="0"/>
              </a:srgbClr>
            </a:solidFill>
            <a:prstDash val="solid"/>
          </a:ln>
        </p:spPr>
      </p:sp>
      <p:sp>
        <p:nvSpPr>
          <p:cNvPr id="5" name="Shape 2">
            <a:hlinkClick r:id="rId4" tooltip="[3]"/>
          </p:cNvPr>
          <p:cNvSpPr/>
          <p:nvPr/>
        </p:nvSpPr>
        <p:spPr>
          <a:xfrm>
            <a:off x="4995855" y="2729746"/>
            <a:ext cx="198120" cy="152400"/>
          </a:xfrm>
          <a:prstGeom prst="rect">
            <a:avLst/>
          </a:prstGeom>
          <a:solidFill>
            <a:srgbClr val="FFFFFF">
              <a:alpha val="0"/>
            </a:srgbClr>
          </a:solidFill>
          <a:ln w="12700">
            <a:solidFill>
              <a:srgbClr val="FFFFFF">
                <a:alpha val="0"/>
              </a:srgbClr>
            </a:solidFill>
            <a:prstDash val="solid"/>
          </a:ln>
        </p:spPr>
      </p:sp>
      <p:sp>
        <p:nvSpPr>
          <p:cNvPr id="6" name="Shape 3">
            <a:hlinkClick r:id="rId5" tooltip="[4]"/>
          </p:cNvPr>
          <p:cNvSpPr/>
          <p:nvPr/>
        </p:nvSpPr>
        <p:spPr>
          <a:xfrm>
            <a:off x="10166452" y="1998226"/>
            <a:ext cx="198120" cy="152400"/>
          </a:xfrm>
          <a:prstGeom prst="rect">
            <a:avLst/>
          </a:prstGeom>
          <a:solidFill>
            <a:srgbClr val="FFFFFF">
              <a:alpha val="0"/>
            </a:srgbClr>
          </a:solidFill>
          <a:ln w="12700">
            <a:solidFill>
              <a:srgbClr val="FFFFFF">
                <a:alpha val="0"/>
              </a:srgbClr>
            </a:solidFill>
            <a:prstDash val="solid"/>
          </a:ln>
        </p:spPr>
      </p:sp>
      <p:sp>
        <p:nvSpPr>
          <p:cNvPr id="7" name="Shape 4">
            <a:hlinkClick r:id="rId6" tooltip="[3]"/>
          </p:cNvPr>
          <p:cNvSpPr/>
          <p:nvPr/>
        </p:nvSpPr>
        <p:spPr>
          <a:xfrm>
            <a:off x="10887913" y="4985266"/>
            <a:ext cx="198120" cy="152400"/>
          </a:xfrm>
          <a:prstGeom prst="rect">
            <a:avLst/>
          </a:prstGeom>
          <a:solidFill>
            <a:srgbClr val="FFFFFF">
              <a:alpha val="0"/>
            </a:srgbClr>
          </a:solidFill>
          <a:ln w="12700">
            <a:solidFill>
              <a:srgbClr val="FFFFFF">
                <a:alpha val="0"/>
              </a:srgbClr>
            </a:solidFill>
            <a:prstDash val="solid"/>
          </a:ln>
        </p:spPr>
      </p:sp>
      <p:sp>
        <p:nvSpPr>
          <p:cNvPr id="8" name="Shape 5">
            <a:hlinkClick r:id="rId7" tooltip="[1] Purdue RCAC, Knowledge Bases ↗"/>
          </p:cNvPr>
          <p:cNvSpPr/>
          <p:nvPr/>
        </p:nvSpPr>
        <p:spPr>
          <a:xfrm>
            <a:off x="1188720" y="6401633"/>
            <a:ext cx="1935480" cy="160020"/>
          </a:xfrm>
          <a:prstGeom prst="rect">
            <a:avLst/>
          </a:prstGeom>
          <a:solidFill>
            <a:srgbClr val="FFFFFF">
              <a:alpha val="0"/>
            </a:srgbClr>
          </a:solidFill>
          <a:ln w="12700">
            <a:solidFill>
              <a:srgbClr val="FFFFFF">
                <a:alpha val="0"/>
              </a:srgbClr>
            </a:solidFill>
            <a:prstDash val="solid"/>
          </a:ln>
        </p:spPr>
      </p:sp>
      <p:sp>
        <p:nvSpPr>
          <p:cNvPr id="9" name="Shape 6">
            <a:hlinkClick r:id="rId8" tooltip="[2] Silberzahn et al., soccer data (OSF) ↗"/>
          </p:cNvPr>
          <p:cNvSpPr/>
          <p:nvPr/>
        </p:nvSpPr>
        <p:spPr>
          <a:xfrm>
            <a:off x="3246120" y="6401633"/>
            <a:ext cx="2019300" cy="160020"/>
          </a:xfrm>
          <a:prstGeom prst="rect">
            <a:avLst/>
          </a:prstGeom>
          <a:solidFill>
            <a:srgbClr val="FFFFFF">
              <a:alpha val="0"/>
            </a:srgbClr>
          </a:solidFill>
          <a:ln w="12700">
            <a:solidFill>
              <a:srgbClr val="FFFFFF">
                <a:alpha val="0"/>
              </a:srgbClr>
            </a:solidFill>
            <a:prstDash val="solid"/>
          </a:ln>
        </p:spPr>
      </p:sp>
      <p:sp>
        <p:nvSpPr>
          <p:cNvPr id="10" name="Shape 7">
            <a:hlinkClick r:id="rId9" tooltip="[3] all-MiniLM-L6-v2 model card ↗"/>
          </p:cNvPr>
          <p:cNvSpPr/>
          <p:nvPr/>
        </p:nvSpPr>
        <p:spPr>
          <a:xfrm>
            <a:off x="5387340" y="6401633"/>
            <a:ext cx="1737360" cy="160020"/>
          </a:xfrm>
          <a:prstGeom prst="rect">
            <a:avLst/>
          </a:prstGeom>
          <a:solidFill>
            <a:srgbClr val="FFFFFF">
              <a:alpha val="0"/>
            </a:srgbClr>
          </a:solidFill>
          <a:ln w="12700">
            <a:solidFill>
              <a:srgbClr val="FFFFFF">
                <a:alpha val="0"/>
              </a:srgbClr>
            </a:solidFill>
            <a:prstDash val="solid"/>
          </a:ln>
        </p:spPr>
      </p:sp>
      <p:sp>
        <p:nvSpPr>
          <p:cNvPr id="11" name="Shape 8">
            <a:hlinkClick r:id="rId10" tooltip="[4] Data: released runs (GitHub) ↗"/>
          </p:cNvPr>
          <p:cNvSpPr/>
          <p:nvPr/>
        </p:nvSpPr>
        <p:spPr>
          <a:xfrm>
            <a:off x="7246620" y="6401633"/>
            <a:ext cx="1714500" cy="160020"/>
          </a:xfrm>
          <a:prstGeom prst="rect">
            <a:avLst/>
          </a:prstGeom>
          <a:solidFill>
            <a:srgbClr val="FFFFFF">
              <a:alpha val="0"/>
            </a:srgbClr>
          </a:solidFill>
          <a:ln w="12700">
            <a:solidFill>
              <a:srgbClr val="FFFFFF">
                <a:alpha val="0"/>
              </a:srgbClr>
            </a:solidFill>
            <a:prstDash val="solid"/>
          </a:ln>
        </p:spPr>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Let coding agents act only within limits you set.">    </p:cNvPr>
          <p:cNvPicPr>
            <a:picLocks noChangeAspect="1"/>
          </p:cNvPicPr>
          <p:nvPr/>
        </p:nvPicPr>
        <p:blipFill>
          <a:blip r:embed="rId1"/>
          <a:stretch>
            <a:fillRect/>
          </a:stretch>
        </p:blipFill>
        <p:spPr>
          <a:xfrm>
            <a:off x="0" y="0"/>
            <a:ext cx="12192000" cy="6858000"/>
          </a:xfrm>
          <a:prstGeom prst="rect">
            <a:avLst/>
          </a:prstGeom>
        </p:spPr>
      </p:pic>
      <p:sp>
        <p:nvSpPr>
          <p:cNvPr id="3" name="Shape 0">
            <a:hlinkClick r:id="rId2" tooltip="[1]"/>
          </p:cNvPr>
          <p:cNvSpPr/>
          <p:nvPr/>
        </p:nvSpPr>
        <p:spPr>
          <a:xfrm>
            <a:off x="7040812" y="2181106"/>
            <a:ext cx="198120" cy="152400"/>
          </a:xfrm>
          <a:prstGeom prst="rect">
            <a:avLst/>
          </a:prstGeom>
          <a:solidFill>
            <a:srgbClr val="FFFFFF">
              <a:alpha val="0"/>
            </a:srgbClr>
          </a:solidFill>
          <a:ln w="12700">
            <a:solidFill>
              <a:srgbClr val="FFFFFF">
                <a:alpha val="0"/>
              </a:srgbClr>
            </a:solidFill>
            <a:prstDash val="solid"/>
          </a:ln>
        </p:spPr>
      </p:sp>
      <p:sp>
        <p:nvSpPr>
          <p:cNvPr id="4" name="Shape 1">
            <a:hlinkClick r:id="rId3" tooltip="[2]"/>
          </p:cNvPr>
          <p:cNvSpPr/>
          <p:nvPr/>
        </p:nvSpPr>
        <p:spPr>
          <a:xfrm>
            <a:off x="7186216" y="2790706"/>
            <a:ext cx="198120" cy="152400"/>
          </a:xfrm>
          <a:prstGeom prst="rect">
            <a:avLst/>
          </a:prstGeom>
          <a:solidFill>
            <a:srgbClr val="FFFFFF">
              <a:alpha val="0"/>
            </a:srgbClr>
          </a:solidFill>
          <a:ln w="12700">
            <a:solidFill>
              <a:srgbClr val="FFFFFF">
                <a:alpha val="0"/>
              </a:srgbClr>
            </a:solidFill>
            <a:prstDash val="solid"/>
          </a:ln>
        </p:spPr>
      </p:sp>
      <p:sp>
        <p:nvSpPr>
          <p:cNvPr id="5" name="Shape 2">
            <a:hlinkClick r:id="rId4" tooltip="[1]"/>
          </p:cNvPr>
          <p:cNvSpPr/>
          <p:nvPr/>
        </p:nvSpPr>
        <p:spPr>
          <a:xfrm>
            <a:off x="6704853" y="3400306"/>
            <a:ext cx="198120" cy="152400"/>
          </a:xfrm>
          <a:prstGeom prst="rect">
            <a:avLst/>
          </a:prstGeom>
          <a:solidFill>
            <a:srgbClr val="FFFFFF">
              <a:alpha val="0"/>
            </a:srgbClr>
          </a:solidFill>
          <a:ln w="12700">
            <a:solidFill>
              <a:srgbClr val="FFFFFF">
                <a:alpha val="0"/>
              </a:srgbClr>
            </a:solidFill>
            <a:prstDash val="solid"/>
          </a:ln>
        </p:spPr>
      </p:sp>
      <p:sp>
        <p:nvSpPr>
          <p:cNvPr id="6" name="Shape 3">
            <a:hlinkClick r:id="rId5" tooltip="[4]"/>
          </p:cNvPr>
          <p:cNvSpPr/>
          <p:nvPr/>
        </p:nvSpPr>
        <p:spPr>
          <a:xfrm>
            <a:off x="8478546" y="4070866"/>
            <a:ext cx="198120" cy="152400"/>
          </a:xfrm>
          <a:prstGeom prst="rect">
            <a:avLst/>
          </a:prstGeom>
          <a:solidFill>
            <a:srgbClr val="FFFFFF">
              <a:alpha val="0"/>
            </a:srgbClr>
          </a:solidFill>
          <a:ln w="12700">
            <a:solidFill>
              <a:srgbClr val="FFFFFF">
                <a:alpha val="0"/>
              </a:srgbClr>
            </a:solidFill>
            <a:prstDash val="solid"/>
          </a:ln>
        </p:spPr>
      </p:sp>
      <p:sp>
        <p:nvSpPr>
          <p:cNvPr id="7" name="Shape 4">
            <a:hlinkClick r:id="rId6" tooltip="[3]"/>
          </p:cNvPr>
          <p:cNvSpPr/>
          <p:nvPr/>
        </p:nvSpPr>
        <p:spPr>
          <a:xfrm>
            <a:off x="5043152" y="4520446"/>
            <a:ext cx="198120" cy="152400"/>
          </a:xfrm>
          <a:prstGeom prst="rect">
            <a:avLst/>
          </a:prstGeom>
          <a:solidFill>
            <a:srgbClr val="FFFFFF">
              <a:alpha val="0"/>
            </a:srgbClr>
          </a:solidFill>
          <a:ln w="12700">
            <a:solidFill>
              <a:srgbClr val="FFFFFF">
                <a:alpha val="0"/>
              </a:srgbClr>
            </a:solidFill>
            <a:prstDash val="solid"/>
          </a:ln>
        </p:spPr>
      </p:sp>
      <p:sp>
        <p:nvSpPr>
          <p:cNvPr id="8" name="Shape 5">
            <a:hlinkClick r:id="rId7" tooltip="[1] Codex security docs ↗"/>
          </p:cNvPr>
          <p:cNvSpPr/>
          <p:nvPr/>
        </p:nvSpPr>
        <p:spPr>
          <a:xfrm>
            <a:off x="1188720" y="6401633"/>
            <a:ext cx="1295400" cy="160020"/>
          </a:xfrm>
          <a:prstGeom prst="rect">
            <a:avLst/>
          </a:prstGeom>
          <a:solidFill>
            <a:srgbClr val="FFFFFF">
              <a:alpha val="0"/>
            </a:srgbClr>
          </a:solidFill>
          <a:ln w="12700">
            <a:solidFill>
              <a:srgbClr val="FFFFFF">
                <a:alpha val="0"/>
              </a:srgbClr>
            </a:solidFill>
            <a:prstDash val="solid"/>
          </a:ln>
        </p:spPr>
      </p:sp>
      <p:sp>
        <p:nvSpPr>
          <p:cNvPr id="9" name="Shape 6">
            <a:hlinkClick r:id="rId8" tooltip="[2] Claude Code security docs ↗"/>
          </p:cNvPr>
          <p:cNvSpPr/>
          <p:nvPr/>
        </p:nvSpPr>
        <p:spPr>
          <a:xfrm>
            <a:off x="2606040" y="6401633"/>
            <a:ext cx="1615440" cy="160020"/>
          </a:xfrm>
          <a:prstGeom prst="rect">
            <a:avLst/>
          </a:prstGeom>
          <a:solidFill>
            <a:srgbClr val="FFFFFF">
              <a:alpha val="0"/>
            </a:srgbClr>
          </a:solidFill>
          <a:ln w="12700">
            <a:solidFill>
              <a:srgbClr val="FFFFFF">
                <a:alpha val="0"/>
              </a:srgbClr>
            </a:solidFill>
            <a:prstDash val="solid"/>
          </a:ln>
        </p:spPr>
      </p:sp>
      <p:sp>
        <p:nvSpPr>
          <p:cNvPr id="10" name="Shape 7">
            <a:hlinkClick r:id="rId9" tooltip="[3] Shen &amp; Tamkin (2026) ↗"/>
          </p:cNvPr>
          <p:cNvSpPr/>
          <p:nvPr/>
        </p:nvSpPr>
        <p:spPr>
          <a:xfrm>
            <a:off x="4343400" y="6401633"/>
            <a:ext cx="1379220" cy="160020"/>
          </a:xfrm>
          <a:prstGeom prst="rect">
            <a:avLst/>
          </a:prstGeom>
          <a:solidFill>
            <a:srgbClr val="FFFFFF">
              <a:alpha val="0"/>
            </a:srgbClr>
          </a:solidFill>
          <a:ln w="12700">
            <a:solidFill>
              <a:srgbClr val="FFFFFF">
                <a:alpha val="0"/>
              </a:srgbClr>
            </a:solidFill>
            <a:prstDash val="solid"/>
          </a:ln>
        </p:spPr>
      </p:sp>
      <p:sp>
        <p:nvSpPr>
          <p:cNvPr id="11" name="Shape 8">
            <a:hlinkClick r:id="rId10" tooltip="[4] OWASP, Prompt Injection ↗"/>
          </p:cNvPr>
          <p:cNvSpPr/>
          <p:nvPr/>
        </p:nvSpPr>
        <p:spPr>
          <a:xfrm>
            <a:off x="5844540" y="6401633"/>
            <a:ext cx="1577340" cy="160020"/>
          </a:xfrm>
          <a:prstGeom prst="rect">
            <a:avLst/>
          </a:prstGeom>
          <a:solidFill>
            <a:srgbClr val="FFFFFF">
              <a:alpha val="0"/>
            </a:srgbClr>
          </a:solidFill>
          <a:ln w="12700">
            <a:solidFill>
              <a:srgbClr val="FFFFFF">
                <a:alpha val="0"/>
              </a:srgbClr>
            </a:solidFill>
            <a:prstDash val="solid"/>
          </a:ln>
        </p:spPr>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Try one new way to use AI this semester.">    </p:cNvPr>
          <p:cNvPicPr>
            <a:picLocks noChangeAspect="1"/>
          </p:cNvPicPr>
          <p:nvPr/>
        </p:nvPicPr>
        <p:blipFill>
          <a:blip r:embed="rId1"/>
          <a:stretch>
            <a:fillRect/>
          </a:stretch>
        </p:blipFill>
        <p:spPr>
          <a:xfrm>
            <a:off x="0" y="0"/>
            <a:ext cx="12192000" cy="6858000"/>
          </a:xfrm>
          <a:prstGeom prst="rect">
            <a:avLst/>
          </a:prstGeom>
        </p:spPr>
      </p:pic>
      <p:sp>
        <p:nvSpPr>
          <p:cNvPr id="3" name="Shape 0">
            <a:hlinkClick r:id="rId2" tooltip="Log in: genai.rcac.purdue.edu ↗"/>
          </p:cNvPr>
          <p:cNvSpPr/>
          <p:nvPr/>
        </p:nvSpPr>
        <p:spPr>
          <a:xfrm>
            <a:off x="609600" y="3646051"/>
            <a:ext cx="2148840" cy="205740"/>
          </a:xfrm>
          <a:prstGeom prst="rect">
            <a:avLst/>
          </a:prstGeom>
          <a:solidFill>
            <a:srgbClr val="FFFFFF">
              <a:alpha val="0"/>
            </a:srgbClr>
          </a:solidFill>
          <a:ln w="12700">
            <a:solidFill>
              <a:srgbClr val="FFFFFF">
                <a:alpha val="0"/>
              </a:srgbClr>
            </a:solidFill>
            <a:prstDash val="solid"/>
          </a:ln>
        </p:spPr>
      </p:sp>
      <p:sp>
        <p:nvSpPr>
          <p:cNvPr id="4" name="Shape 1">
            <a:hlinkClick r:id="rId3" tooltip="API guide ↗"/>
          </p:cNvPr>
          <p:cNvSpPr/>
          <p:nvPr/>
        </p:nvSpPr>
        <p:spPr>
          <a:xfrm>
            <a:off x="2926080" y="3646051"/>
            <a:ext cx="830580" cy="205740"/>
          </a:xfrm>
          <a:prstGeom prst="rect">
            <a:avLst/>
          </a:prstGeom>
          <a:solidFill>
            <a:srgbClr val="FFFFFF">
              <a:alpha val="0"/>
            </a:srgbClr>
          </a:solidFill>
          <a:ln w="12700">
            <a:solidFill>
              <a:srgbClr val="FFFFFF">
                <a:alpha val="0"/>
              </a:srgbClr>
            </a:solidFill>
            <a:prstDash val="solid"/>
          </a:ln>
        </p:spPr>
      </p:sp>
      <p:sp>
        <p:nvSpPr>
          <p:cNvPr id="5" name="Shape 2">
            <a:hlinkClick r:id="rId4" tooltip="[1]"/>
          </p:cNvPr>
          <p:cNvSpPr/>
          <p:nvPr/>
        </p:nvSpPr>
        <p:spPr>
          <a:xfrm>
            <a:off x="2887980" y="4124563"/>
            <a:ext cx="144780" cy="121920"/>
          </a:xfrm>
          <a:prstGeom prst="rect">
            <a:avLst/>
          </a:prstGeom>
          <a:solidFill>
            <a:srgbClr val="FFFFFF">
              <a:alpha val="0"/>
            </a:srgbClr>
          </a:solidFill>
          <a:ln w="12700">
            <a:solidFill>
              <a:srgbClr val="FFFFFF">
                <a:alpha val="0"/>
              </a:srgbClr>
            </a:solidFill>
            <a:prstDash val="solid"/>
          </a:ln>
        </p:spPr>
      </p:sp>
      <p:sp>
        <p:nvSpPr>
          <p:cNvPr id="6" name="Shape 3">
            <a:hlinkClick r:id="rId5" tooltip="llama.cpp ↗"/>
          </p:cNvPr>
          <p:cNvSpPr/>
          <p:nvPr/>
        </p:nvSpPr>
        <p:spPr>
          <a:xfrm>
            <a:off x="4348401" y="3425309"/>
            <a:ext cx="800100" cy="205740"/>
          </a:xfrm>
          <a:prstGeom prst="rect">
            <a:avLst/>
          </a:prstGeom>
          <a:solidFill>
            <a:srgbClr val="FFFFFF">
              <a:alpha val="0"/>
            </a:srgbClr>
          </a:solidFill>
          <a:ln w="12700">
            <a:solidFill>
              <a:srgbClr val="FFFFFF">
                <a:alpha val="0"/>
              </a:srgbClr>
            </a:solidFill>
            <a:prstDash val="solid"/>
          </a:ln>
        </p:spPr>
      </p:sp>
      <p:sp>
        <p:nvSpPr>
          <p:cNvPr id="7" name="Shape 4">
            <a:hlinkClick r:id="rId6" tooltip="Ollama ↗"/>
          </p:cNvPr>
          <p:cNvSpPr/>
          <p:nvPr/>
        </p:nvSpPr>
        <p:spPr>
          <a:xfrm>
            <a:off x="5316141" y="3425309"/>
            <a:ext cx="647700" cy="205740"/>
          </a:xfrm>
          <a:prstGeom prst="rect">
            <a:avLst/>
          </a:prstGeom>
          <a:solidFill>
            <a:srgbClr val="FFFFFF">
              <a:alpha val="0"/>
            </a:srgbClr>
          </a:solidFill>
          <a:ln w="12700">
            <a:solidFill>
              <a:srgbClr val="FFFFFF">
                <a:alpha val="0"/>
              </a:srgbClr>
            </a:solidFill>
            <a:prstDash val="solid"/>
          </a:ln>
        </p:spPr>
      </p:sp>
      <p:sp>
        <p:nvSpPr>
          <p:cNvPr id="8" name="Shape 5">
            <a:hlinkClick r:id="rId7" tooltip="How agent approvals work ↗"/>
          </p:cNvPr>
          <p:cNvSpPr/>
          <p:nvPr/>
        </p:nvSpPr>
        <p:spPr>
          <a:xfrm>
            <a:off x="8087320" y="3646051"/>
            <a:ext cx="3494961" cy="205740"/>
          </a:xfrm>
          <a:prstGeom prst="rect">
            <a:avLst/>
          </a:prstGeom>
          <a:solidFill>
            <a:srgbClr val="FFFFFF">
              <a:alpha val="0"/>
            </a:srgbClr>
          </a:solidFill>
          <a:ln w="12700">
            <a:solidFill>
              <a:srgbClr val="FFFFFF">
                <a:alpha val="0"/>
              </a:srgbClr>
            </a:solidFill>
            <a:prstDash val="solid"/>
          </a:ln>
        </p:spPr>
      </p:sp>
      <p:sp>
        <p:nvSpPr>
          <p:cNvPr id="9" name="Shape 6">
            <a:hlinkClick r:id="rId8" tooltip="[5]"/>
          </p:cNvPr>
          <p:cNvSpPr/>
          <p:nvPr/>
        </p:nvSpPr>
        <p:spPr>
          <a:xfrm>
            <a:off x="6476405" y="4692968"/>
            <a:ext cx="167640" cy="137160"/>
          </a:xfrm>
          <a:prstGeom prst="rect">
            <a:avLst/>
          </a:prstGeom>
          <a:solidFill>
            <a:srgbClr val="FFFFFF">
              <a:alpha val="0"/>
            </a:srgbClr>
          </a:solidFill>
          <a:ln w="12700">
            <a:solidFill>
              <a:srgbClr val="FFFFFF">
                <a:alpha val="0"/>
              </a:srgbClr>
            </a:solidFill>
            <a:prstDash val="solid"/>
          </a:ln>
        </p:spPr>
      </p:sp>
      <p:sp>
        <p:nvSpPr>
          <p:cNvPr id="10" name="Shape 7">
            <a:hlinkClick r:id="rId9" tooltip="[6]"/>
          </p:cNvPr>
          <p:cNvSpPr/>
          <p:nvPr/>
        </p:nvSpPr>
        <p:spPr>
          <a:xfrm>
            <a:off x="9349145" y="4692968"/>
            <a:ext cx="167640" cy="137160"/>
          </a:xfrm>
          <a:prstGeom prst="rect">
            <a:avLst/>
          </a:prstGeom>
          <a:solidFill>
            <a:srgbClr val="FFFFFF">
              <a:alpha val="0"/>
            </a:srgbClr>
          </a:solidFill>
          <a:ln w="12700">
            <a:solidFill>
              <a:srgbClr val="FFFFFF">
                <a:alpha val="0"/>
              </a:srgbClr>
            </a:solidFill>
            <a:prstDash val="solid"/>
          </a:ln>
        </p:spPr>
      </p:sp>
      <p:sp>
        <p:nvSpPr>
          <p:cNvPr id="11" name="Shape 8">
            <a:hlinkClick r:id="rId10" tooltip="[1] Purdue RCAC, GenAI Studio (Sept. 29) ↗"/>
          </p:cNvPr>
          <p:cNvSpPr/>
          <p:nvPr/>
        </p:nvSpPr>
        <p:spPr>
          <a:xfrm>
            <a:off x="1188720" y="6226373"/>
            <a:ext cx="2209800" cy="160020"/>
          </a:xfrm>
          <a:prstGeom prst="rect">
            <a:avLst/>
          </a:prstGeom>
          <a:solidFill>
            <a:srgbClr val="FFFFFF">
              <a:alpha val="0"/>
            </a:srgbClr>
          </a:solidFill>
          <a:ln w="12700">
            <a:solidFill>
              <a:srgbClr val="FFFFFF">
                <a:alpha val="0"/>
              </a:srgbClr>
            </a:solidFill>
            <a:prstDash val="solid"/>
          </a:ln>
        </p:spPr>
      </p:sp>
      <p:sp>
        <p:nvSpPr>
          <p:cNvPr id="12" name="Shape 9">
            <a:hlinkClick r:id="rId11" tooltip="[2] Purdue RCAC, API guide ↗"/>
          </p:cNvPr>
          <p:cNvSpPr/>
          <p:nvPr/>
        </p:nvSpPr>
        <p:spPr>
          <a:xfrm>
            <a:off x="3520440" y="6226373"/>
            <a:ext cx="1508760" cy="160020"/>
          </a:xfrm>
          <a:prstGeom prst="rect">
            <a:avLst/>
          </a:prstGeom>
          <a:solidFill>
            <a:srgbClr val="FFFFFF">
              <a:alpha val="0"/>
            </a:srgbClr>
          </a:solidFill>
          <a:ln w="12700">
            <a:solidFill>
              <a:srgbClr val="FFFFFF">
                <a:alpha val="0"/>
              </a:srgbClr>
            </a:solidFill>
            <a:prstDash val="solid"/>
          </a:ln>
        </p:spPr>
      </p:sp>
      <p:sp>
        <p:nvSpPr>
          <p:cNvPr id="13" name="Shape 10">
            <a:hlinkClick r:id="rId12" tooltip="[3] llama.cpp ↗"/>
          </p:cNvPr>
          <p:cNvSpPr/>
          <p:nvPr/>
        </p:nvSpPr>
        <p:spPr>
          <a:xfrm>
            <a:off x="5151120" y="6226373"/>
            <a:ext cx="739140" cy="160020"/>
          </a:xfrm>
          <a:prstGeom prst="rect">
            <a:avLst/>
          </a:prstGeom>
          <a:solidFill>
            <a:srgbClr val="FFFFFF">
              <a:alpha val="0"/>
            </a:srgbClr>
          </a:solidFill>
          <a:ln w="12700">
            <a:solidFill>
              <a:srgbClr val="FFFFFF">
                <a:alpha val="0"/>
              </a:srgbClr>
            </a:solidFill>
            <a:prstDash val="solid"/>
          </a:ln>
        </p:spPr>
      </p:sp>
      <p:sp>
        <p:nvSpPr>
          <p:cNvPr id="14" name="Shape 11">
            <a:hlinkClick r:id="rId13" tooltip="[4] Codex security docs ↗"/>
          </p:cNvPr>
          <p:cNvSpPr/>
          <p:nvPr/>
        </p:nvSpPr>
        <p:spPr>
          <a:xfrm>
            <a:off x="6012180" y="6226373"/>
            <a:ext cx="1295400" cy="160020"/>
          </a:xfrm>
          <a:prstGeom prst="rect">
            <a:avLst/>
          </a:prstGeom>
          <a:solidFill>
            <a:srgbClr val="FFFFFF">
              <a:alpha val="0"/>
            </a:srgbClr>
          </a:solidFill>
          <a:ln w="12700">
            <a:solidFill>
              <a:srgbClr val="FFFFFF">
                <a:alpha val="0"/>
              </a:srgbClr>
            </a:solidFill>
            <a:prstDash val="solid"/>
          </a:ln>
        </p:spPr>
      </p:sp>
      <p:sp>
        <p:nvSpPr>
          <p:cNvPr id="15" name="Shape 12">
            <a:hlinkClick r:id="rId14" tooltip="[5] Purdue Science, CS/SCI 173 ↗"/>
          </p:cNvPr>
          <p:cNvSpPr/>
          <p:nvPr/>
        </p:nvSpPr>
        <p:spPr>
          <a:xfrm>
            <a:off x="7429500" y="6226373"/>
            <a:ext cx="1691640" cy="160020"/>
          </a:xfrm>
          <a:prstGeom prst="rect">
            <a:avLst/>
          </a:prstGeom>
          <a:solidFill>
            <a:srgbClr val="FFFFFF">
              <a:alpha val="0"/>
            </a:srgbClr>
          </a:solidFill>
          <a:ln w="12700">
            <a:solidFill>
              <a:srgbClr val="FFFFFF">
                <a:alpha val="0"/>
              </a:srgbClr>
            </a:solidFill>
            <a:prstDash val="solid"/>
          </a:ln>
        </p:spPr>
      </p:sp>
      <p:sp>
        <p:nvSpPr>
          <p:cNvPr id="16" name="Shape 13">
            <a:hlinkClick r:id="rId15" tooltip="[6] Computational Data Science, Ch. 6 ↗"/>
          </p:cNvPr>
          <p:cNvSpPr/>
          <p:nvPr/>
        </p:nvSpPr>
        <p:spPr>
          <a:xfrm>
            <a:off x="609600" y="6401633"/>
            <a:ext cx="2034540" cy="160020"/>
          </a:xfrm>
          <a:prstGeom prst="rect">
            <a:avLst/>
          </a:prstGeom>
          <a:solidFill>
            <a:srgbClr val="FFFFFF">
              <a:alpha val="0"/>
            </a:srgbClr>
          </a:solidFill>
          <a:ln w="12700">
            <a:solidFill>
              <a:srgbClr val="FFFFFF">
                <a:alpha val="0"/>
              </a:srgbClr>
            </a:solidFill>
            <a:prstDash val="solid"/>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Build what interests you with AI, then learn how it works.">    </p:cNvPr>
          <p:cNvPicPr>
            <a:picLocks noChangeAspect="1"/>
          </p:cNvPicPr>
          <p:nvPr/>
        </p:nvPicPr>
        <p:blipFill>
          <a:blip r:embed="rId1"/>
          <a:stretch>
            <a:fillRect/>
          </a:stretch>
        </p:blipFill>
        <p:spPr>
          <a:xfrm>
            <a:off x="0" y="0"/>
            <a:ext cx="12192000" cy="6858000"/>
          </a:xfrm>
          <a:prstGeom prst="rect">
            <a:avLst/>
          </a:prstGeom>
        </p:spPr>
      </p:pic>
      <p:sp>
        <p:nvSpPr>
          <p:cNvPr id="3" name="Shape 0">
            <a:hlinkClick r:id="rId2" tooltip="[1]"/>
          </p:cNvPr>
          <p:cNvSpPr/>
          <p:nvPr/>
        </p:nvSpPr>
        <p:spPr>
          <a:xfrm>
            <a:off x="7678171" y="4619506"/>
            <a:ext cx="198120" cy="152400"/>
          </a:xfrm>
          <a:prstGeom prst="rect">
            <a:avLst/>
          </a:prstGeom>
          <a:solidFill>
            <a:srgbClr val="FFFFFF">
              <a:alpha val="0"/>
            </a:srgbClr>
          </a:solidFill>
          <a:ln w="12700">
            <a:solidFill>
              <a:srgbClr val="FFFFFF">
                <a:alpha val="0"/>
              </a:srgbClr>
            </a:solidFill>
            <a:prstDash val="solid"/>
          </a:ln>
        </p:spPr>
      </p:sp>
      <p:sp>
        <p:nvSpPr>
          <p:cNvPr id="4" name="Shape 1">
            <a:hlinkClick r:id="rId3" tooltip="[2]"/>
          </p:cNvPr>
          <p:cNvSpPr/>
          <p:nvPr/>
        </p:nvSpPr>
        <p:spPr>
          <a:xfrm>
            <a:off x="7109064" y="4832866"/>
            <a:ext cx="198120" cy="152400"/>
          </a:xfrm>
          <a:prstGeom prst="rect">
            <a:avLst/>
          </a:prstGeom>
          <a:solidFill>
            <a:srgbClr val="FFFFFF">
              <a:alpha val="0"/>
            </a:srgbClr>
          </a:solidFill>
          <a:ln w="12700">
            <a:solidFill>
              <a:srgbClr val="FFFFFF">
                <a:alpha val="0"/>
              </a:srgbClr>
            </a:solidFill>
            <a:prstDash val="solid"/>
          </a:ln>
        </p:spPr>
      </p:sp>
      <p:sp>
        <p:nvSpPr>
          <p:cNvPr id="5" name="Shape 2">
            <a:hlinkClick r:id="rId4" tooltip="[1] MLB Statcast glossary (xBA) ↗"/>
          </p:cNvPr>
          <p:cNvSpPr/>
          <p:nvPr/>
        </p:nvSpPr>
        <p:spPr>
          <a:xfrm>
            <a:off x="1188720" y="6401633"/>
            <a:ext cx="1737360" cy="160020"/>
          </a:xfrm>
          <a:prstGeom prst="rect">
            <a:avLst/>
          </a:prstGeom>
          <a:solidFill>
            <a:srgbClr val="FFFFFF">
              <a:alpha val="0"/>
            </a:srgbClr>
          </a:solidFill>
          <a:ln w="12700">
            <a:solidFill>
              <a:srgbClr val="FFFFFF">
                <a:alpha val="0"/>
              </a:srgbClr>
            </a:solidFill>
            <a:prstDash val="solid"/>
          </a:ln>
        </p:spPr>
      </p:sp>
      <p:sp>
        <p:nvSpPr>
          <p:cNvPr id="6" name="Shape 3">
            <a:hlinkClick r:id="rId5" tooltip="[2] Baseball Savant CSV fields ↗"/>
          </p:cNvPr>
          <p:cNvSpPr/>
          <p:nvPr/>
        </p:nvSpPr>
        <p:spPr>
          <a:xfrm>
            <a:off x="3048000" y="6401633"/>
            <a:ext cx="1615440" cy="160020"/>
          </a:xfrm>
          <a:prstGeom prst="rect">
            <a:avLst/>
          </a:prstGeom>
          <a:solidFill>
            <a:srgbClr val="FFFFFF">
              <a:alpha val="0"/>
            </a:srgbClr>
          </a:solidFill>
          <a:ln w="12700">
            <a:solidFill>
              <a:srgbClr val="FFFFFF">
                <a:alpha val="0"/>
              </a:srgbClr>
            </a:solidFill>
            <a:prstDash val="solid"/>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You do the thinking; let AI support your growth at Purdue.">    </p:cNvPr>
          <p:cNvPicPr>
            <a:picLocks noChangeAspect="1"/>
          </p:cNvPicPr>
          <p:nvPr/>
        </p:nvPicPr>
        <p:blipFill>
          <a:blip r:embed="rId1"/>
          <a:stretch>
            <a:fillRect/>
          </a:stretch>
        </p:blipFill>
        <p:spPr>
          <a:xfrm>
            <a:off x="0" y="0"/>
            <a:ext cx="12192000" cy="6858000"/>
          </a:xfrm>
          <a:prstGeom prst="rect">
            <a:avLst/>
          </a:prstGeom>
        </p:spPr>
      </p:pic>
      <p:sp>
        <p:nvSpPr>
          <p:cNvPr id="3" name="Shape 0">
            <a:hlinkClick r:id="rId2" tooltip="[1]"/>
          </p:cNvPr>
          <p:cNvSpPr/>
          <p:nvPr/>
        </p:nvSpPr>
        <p:spPr>
          <a:xfrm>
            <a:off x="5692140" y="4524137"/>
            <a:ext cx="167640" cy="137160"/>
          </a:xfrm>
          <a:prstGeom prst="rect">
            <a:avLst/>
          </a:prstGeom>
          <a:solidFill>
            <a:srgbClr val="FFFFFF">
              <a:alpha val="0"/>
            </a:srgbClr>
          </a:solidFill>
          <a:ln w="12700">
            <a:solidFill>
              <a:srgbClr val="FFFFFF">
                <a:alpha val="0"/>
              </a:srgbClr>
            </a:solidFill>
            <a:prstDash val="solid"/>
          </a:ln>
        </p:spPr>
      </p:sp>
      <p:sp>
        <p:nvSpPr>
          <p:cNvPr id="4" name="Shape 1">
            <a:hlinkClick r:id="rId3" tooltip="[2]"/>
          </p:cNvPr>
          <p:cNvSpPr/>
          <p:nvPr/>
        </p:nvSpPr>
        <p:spPr>
          <a:xfrm>
            <a:off x="10591800" y="4524137"/>
            <a:ext cx="167640" cy="137160"/>
          </a:xfrm>
          <a:prstGeom prst="rect">
            <a:avLst/>
          </a:prstGeom>
          <a:solidFill>
            <a:srgbClr val="FFFFFF">
              <a:alpha val="0"/>
            </a:srgbClr>
          </a:solidFill>
          <a:ln w="12700">
            <a:solidFill>
              <a:srgbClr val="FFFFFF">
                <a:alpha val="0"/>
              </a:srgbClr>
            </a:solidFill>
            <a:prstDash val="solid"/>
          </a:ln>
        </p:spPr>
      </p:sp>
      <p:sp>
        <p:nvSpPr>
          <p:cNvPr id="5" name="Shape 2">
            <a:hlinkClick r:id="rId4" tooltip="[1] Sinha &amp; Kapur (2021) ↗"/>
          </p:cNvPr>
          <p:cNvSpPr/>
          <p:nvPr/>
        </p:nvSpPr>
        <p:spPr>
          <a:xfrm>
            <a:off x="1188720" y="6401633"/>
            <a:ext cx="1356360" cy="160020"/>
          </a:xfrm>
          <a:prstGeom prst="rect">
            <a:avLst/>
          </a:prstGeom>
          <a:solidFill>
            <a:srgbClr val="FFFFFF">
              <a:alpha val="0"/>
            </a:srgbClr>
          </a:solidFill>
          <a:ln w="12700">
            <a:solidFill>
              <a:srgbClr val="FFFFFF">
                <a:alpha val="0"/>
              </a:srgbClr>
            </a:solidFill>
            <a:prstDash val="solid"/>
          </a:ln>
        </p:spPr>
      </p:sp>
      <p:sp>
        <p:nvSpPr>
          <p:cNvPr id="6" name="Shape 3">
            <a:hlinkClick r:id="rId5" tooltip="[2] Strömberg et al. (2026) ↗"/>
          </p:cNvPr>
          <p:cNvSpPr/>
          <p:nvPr/>
        </p:nvSpPr>
        <p:spPr>
          <a:xfrm>
            <a:off x="2667000" y="6401633"/>
            <a:ext cx="1455420" cy="160020"/>
          </a:xfrm>
          <a:prstGeom prst="rect">
            <a:avLst/>
          </a:prstGeom>
          <a:solidFill>
            <a:srgbClr val="FFFFFF">
              <a:alpha val="0"/>
            </a:srgbClr>
          </a:solidFill>
          <a:ln w="12700">
            <a:solidFill>
              <a:srgbClr val="FFFFFF">
                <a:alpha val="0"/>
              </a:srgbClr>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Using AI appropriately throughout your Purdue education</dc:title>
  <dc:subject>Match AI use to the learning goal, demonstrated understanding, and the rules of the setting throughout Purdue</dc:subject>
  <dc:creator>Purdue AI talk</dc:creator>
  <cp:lastModifiedBy>Purdue AI talk</cp:lastModifiedBy>
  <cp:revision>1</cp:revision>
  <dcterms:created xsi:type="dcterms:W3CDTF">2026-10-14T02:07:28Z</dcterms:created>
  <dcterms:modified xsi:type="dcterms:W3CDTF">2026-10-14T02:07:28Z</dcterms:modified>
</cp:coreProperties>
</file>