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 appropriately
as you grow at Purdue.
Planned time: 90 seconds. The PowerPoint shows complete diagrams; progressive reveals are in the React deck.
DELIVERY CUE
Read the four questions on the right, one line each. Point out that later slides label the question they take up (top right) and that the closing slide answers all four.
TRANSCRIPT
This talk is about using AI appropriately as you develop at Purdue. You will meet it in your courses, in projects and research, and later in your career. The help that fits one activity may not fit another, and your use should change as your understanding grows.
Before each use of AI, ask four questions. What is the purpose? Name what you want to learn or accomplish. What is allowed? Check the rules for assistance and for sharing data. What must I do myself? Protect the reasoning you need to learn. How will I check it? Verify the result, and be able to explain your contribution. These questions apply both when you are learning a new concept and when you are using familiar knowledge to produce something useful.
Your statistics, mathematics, computing, and communication courses help you answer them, and so do independent practice and feedback from instructors, teammates, and mentors. Each part of this talk takes up one or two of these questions; the labels at the top of each slide show which. The last slide answers all four. The aim is to use powerful tools in ways that support your education and build your ability to understand, explain, and improve the work.
TRANSITION
Capable tools make these choices important from the beginning of your education.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to use AI as part of your Purdue education.
Planned time: 100 seconds. The PowerPoint shows complete diagrams; progressive reveals are in the React deck.
DELIVERY CUE
Follow the numbers: (1) what AI can do, from provider reports; (2) the employer figure, 35%; (3) Stanford and Yale, a separate question. Then Purdue's AI competency requirement and the takeaway.
TRANSCRIPT
First, what capable AI can do now: plan an analysis, write and test a program, compare results and revise the work, and draft an account of the evidence. OpenAI's report on GPT-6 Astra and Anthropic's on Claude Fable describe this kind of work. These are provider reports, so any particular use still has to be checked with its own data and requirements. AI-assisted work can be excellent.
Second, what employers expect. In NACE's spring 2026 survey, employers reported AI skill requirements for 35 percent of their entry-level jobs, and they also rated communication, teamwork, and critical thinking highly.
Third, what employment data show, which is a separate question. Stanford's August payroll analysis finds that employment for young workers lagged in jobs where AI can do more of the tasks. That is descriptive, not proof that AI caused it, and I will come back to it. Yale's broader analyses find no clear overall effect; their populations and methods differ.
Purdue is responding: beginning with your class, every undergraduate completes an AI working competency to graduate, with an emphasis on judgment and responsible use rather than any one tool.
I cannot predict your job market at graduation. The practical takeaway is to learn to use capable tools while building the knowledge, communication, and judgment to use them well.
TRANSITION
We start with the fourth question, how will I check it? Even careful analyses of the same data can disagree.
CAVEATS
Capability workflow is schematic. NACE: 185 respondents overall, varying item denominators; 35% concerns their reported jobs. Stanford's August 2026 headline is a 19% kept-pace shortfall for ages 22–25, not 19% of jobs eliminated by AI; no economy-wide displacement or causal identification established. Do not combine it with earlier regression headlines. Yale's broader samples/designs do not directly replicate Stanford. No graduation-date forecast.
SOURCES
OpenAI, GPT-6 Astra release article
https://openai.com/index/gpt-6-astra/
Release article saved as plain text; figures and interactive examples remain online. Provider-reported scientific, coding, document and computer-use capabilities; benchmark results depend on configuration and evaluation design.
Anthropic, Claude Fable
https://www.anthropic.com/claude/fable
Contemporary provider capability report, checked September 10, 2026. Not an independent comparison or a classroom experiment.
NACE, Job Outlook 2026: Spring Update
https://naceweb.org/docs/default-source/default-document-library/2026/publication/research-report/2026-job-outlook-report-spring-update.pdf
Employer survey; see report slides on AI skills and career readiness. 185 respondents overall; item denominators vary.
Brynjolfsson, Chandar and Chen, Canaries — August 2026 revision
https://digitaleconomy.stanford.edu/publication/canaries-in-the-coal-mine-six-facts-about-the-recent-employment-effects-of-artificial-intelligence/
ADP payroll through June 2026. From November 2022 to June 2026, employment of 22–25-year-olds fell about 11% in the two most AI-exposed occupation fifths and grew about 10% in the three least exposed: a 21-point divergence, 19% relative to the less-exposed group. Mainly fewer hires; separation rates fell. Descriptive, not causal; no measure of individual skills or retention. Some divergence before ChatGPT; weaker in national surveys.
Yale Budget Lab (May 2026), AI and labor-market identification
https://budgetlab.yale.edu/research/what-we-do-and-dont-know-about-how-ai-affecting-labor-market
Synthetic comparison design finds no clear broad employment/wage effect. National-survey coverage, age groups and exposure definitions differ from Stanford; averages can conceal heterogeneous effects.
Yale Budget Lab, tracker updated August 19, 2026
https://budgetlab.yale.edu/research/tracking-impact-ai-labor-market
No clear broad labor-market footprint reported. Local copy preserves landing-page text, not the interactive application. No forecast for this audience's graduation year.
Purdue (August 19, 2026), AI competency graduation requirement
https://www.purdue.edu/newsroom/2026/Q3/purdues-ai-competency-graduation-requirement-begins-in-every-undergraduate-degree-program/
Beginning with the fall 2026 incoming class, every undergraduate completes an AI working competency in the core curriculum. Emphasizes critical thinking, responsible use and deciding whether AI fits a task, not operating particular tools.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teams and AI analysts split on the same data.
Planned time: 70 seconds. The PowerPoint shows complete diagrams; progressive reveals are in the React deck.
DELIVERY CUE
Read the bars top to bottom: the human study’s own classification, then AI runs with no issues flagged, then minor issues flagged; the footer gives the two criteria. Two projects, not a contest: show the spread, not a winner. Then 4, an association is not proof of bias; 5, the training-data caution. Land the band: check which choices drive the conclusion.
TWO STUDIES, TWO CRITERIA
• Human bar: the original study's own count. Twenty teams found a significant positive relationship (p &lt; .05) and nine a nonsignificant one; no team found a significant negative one.
• The teams chose their own models (linear, logistic, Poisson, Bayesian); Bayesian teams reported credible intervals rather than p-values (Team 3: odds ratio 1.31, 95% credible interval 1.09–1.57).
• The nine did not show “no bias”: seven estimates were above 1 and two below, each with an interval that included 1.
• Mistakes as well as choices: the original authors later judged revised analyses of Teams 21 and 27 more defensible (odds ratios 2.88 → 1.31 and 2.93 → 1.29) and said their conclusions still held.
• AI bars: a positive risk difference with two-sided p &lt; .05, counted from the released runs. The agents' own “supported” flags (34 and 283) are a different measure.
• Each AI bar pools four models and five prompts, including two that pushed agents toward support; 80 of the 95 no-issue runs are Claude Sonnet 4.5.
• Different scales: odds ratios for the human teams, risk differences for the AI runs. Compare the splits, not the sizes.
AI STUDY DETAILS
• Models: Claude Sonnet 4.5, Claude Haiku 4.5, Qwen3 Coder 480B, Qwen3 235B.
• Design: 4 models × 5 prompt framings × 3 datasets; 4,946 runs in total.
• Every run got the same data, hypothesis, and prespecified estimand.
• Tools: Python session, shell, file editor, code submission, and a planning (“think”) tool.
• Each agent wrote and ran its own analysis code on the real data.
• No internet: networking was off in the sandbox; only the data and preinstalled libraries.
• Limits: 250 messages or 60 minutes per run; temperature 1.0 for varied outputs.
• An AI auditor (Claude Sonnet 4.5) read each full transcript, including every tool call.
• Pilot runs: some reports had fabricated results or recalled published findings.
• Soccer: any recall would have come from training data, not browsing.
• The no-internet setting is in the authors' code (preprint version); the paper lists the same tools.
TRANSCRIPT
Many analysts, one dataset is not a new problem. In a 2018 study, twenty-nine human teams analyzed the same soccer data: about two thousand players in top men's leagues, paired with every referee they had faced. Are referees more likely to give darker-skinned players red cards? Twenty teams reported a significant positive association; nine did not.
This year, a separate PNAS study gave AI analysts the same data and question. Among runs with no issues flagged by the AI auditor, just over a third had a positive estimate with p below .05; among runs with minor issues, just over half did.
These are separate projects, not a contest between people and AI, and an association is not proof of bias. Disagreement can come from reasonable choices, different definitions, or mistakes, so check which choices drive a conclusion. One caution: these findings are widely published, so the models may have seen them in training.
TRANSITION
The same AI study also asked a question the models were unlikely to have memorized, and varied how it asked.
CAVEATS
Two separate studies of one dataset, compared descriptively; the bars are not a controlled test of human versus AI accuracy. Data: 2,053 players in the first male divisions of England, Germany, France, and Spain in the 2012–13 season and all 3,147 referees they encountered across their professional careers (146,028 player–referee pairs; data through June 2014); skin tone rated from photos (1,586 players) by two raters blind to the question. The cohort is one season's players, but each pair counts encounters across a player's career, and clubs and leagues were recorded at data collection, not when each card was given. Human bar: Silberzahn et al. (2018) report that 20 teams (69%) found a significant positive relationship, p &lt; .05, and 9 (31%) a nonsignificant one; no team found a significant negative relationship. This is the study's own aggregate classification, not a rule recomputed here: teams used linear, logistic, Poisson, and Bayesian models (Bayesian: Teams 3, 7, 17, and 18), and Team 3's report, for example, summarizes its result with a 95% credible interval (odds ratio 1.31, 1.09–1.57), not a p-value. Table 3's intervals reproduce the 20/9 split, with Team 15 (1.02 [1.00, 1.03]) on the boundary. The nine (Teams 1, 6, 12, 14, 15, 17, 18, 27, and 31) had odds ratios from 0.89 to 2.93, seven above 1 and two below, from methods ranging from regression with robust standard errors to Bayesian logistic regression and zero-inflated Poisson models; they should not be summarized as showing 'no bias' or as uniformly inconclusive. Association, not cause: the authors write that the archival data 'did not offer the opportunity to identify causal relations between these variables'; at the end, the statement with the most agreement (78%) was 'The effect is positive and the mechanism is unknown.' Mistakes as well as choices: in a later OSF note (2021), Silberzahn, Martin, Uhlmann, and Nosek agreed that revised analyses for Teams 21 and 27 were 'comparably more defensible' (Tobit OR 2.88 → fractional regression 1.31; Poisson 2.93 → 1.29 without non-significant interactions) and said that correcting or removing the two estimates does not change the 2018 conclusions. Team 21 was among the 20 significant teams and Team 27 among the nine; the note gives no revised significance. Bertran et al. write that human many-analyst discrepancies 'do not arise from error or lack of expertise'; the note shows that some differences came from less defensible analyses, and the slide therefore names mistakes as one possible source. AI bars: Bertran, Fogliato and Wu (PNAS, July 2026), released run-level results (commit d489f03; SHA-256 verified). Kept: soccer runs with a numeric estimate and p-value, not explicitly flagged for an extraction warning, and rated Compliant (95) or Minor issues (516) by the Claude Sonnet 4.5 auditor. Three kept runs have a blank warning field (one Compliant, two Minor issues), the same convention as slide 13's 688; none is counted as significant, and dropping them would give 35 of 94 (37%) and 281 of 514 (55%). Counted: a positive estimated primary risk difference (dark vs. light skin) with p &lt; .05: 35 of 95 (37%) and 281 of 516 (54%). The task prompt asked for 'a two-sided p-value (alpha = 0.05)', but the two confirmation-seeking prompts told agents to use one-sided tests, so every counted run with .025 ≤ p &lt; .05 was read (113 reports): 110 label the extracted value two-sided and none one-sided. The other 3 did not label it on the same line, so their code and printed output were read (October 21): each extracted p-value is a two-sided test of the positive adjusted risk difference being counted (a GEE Wald test with robust standard errors; a bootstrap-SE normal approximation; a parametric simulation), so the counts stand (check_bertran_soccer.py; bertran2026_soccer_sidedness_resolved.json). Even if all three had been one-sided, the minor-issues count would be 278 of 516, still 54%. The paper's own p-value plots use one-sided conversions; the slide does not. The agents' own Supported verdicts (the task asked for a judgment based on magnitude, uncertainty, and direction, with inconclusive counted as Not Supported) give 34 of 95 and 283 of 516 and disagree with the p-value rule in 1 and 16 runs; the bars use only the p-value rule. 'No issues flagged' is the AI auditor's verdict, not a guarantee that an analysis is correct. Each AI bar pools four models and five prompt framings, including two that pushed agents toward support: the 95 no-issue runs are 80 Claude Sonnet 4.5, 10 Claude Haiku 4.5, and 5 Qwen3 Coder 480B (37 Negative, 35 Standard, 18 Positive, 3 Confirmation-seeking, 2 Strong confirmation-seeking); the 516 minor-issue runs are 196 Qwen3 235B, 141 Qwen3 Coder, 118 Haiku, and 61 Sonnet (131 Standard, 129 Negative, 127 Positive, 83 Confirmation-seeking, 46 Strong confirmation-seeking). The two AI bars therefore differ by model and prompt as well as by audit verdict. Not one protocol: the human teams were recruited analysts who revised their work after rounds of peer feedback and discussion; the AI runs followed fixed prompts with a prespecified estimand and an automated audit; neither study assigned people and AI under a common protocol. Different scales: the human estimates are odds ratios (0.89 to 2.93, median 1.31; some converted from Cohen's d, regression coefficients, or rate ratios), while the AI estimand is an adjusted risk difference reported in proportions or percentage points, so the slide compares splits, not effect sizes. Training data: the paper calls soccer its high-contamination task because the data and conclusions are widely known, and the agents had no internet access; familiarity is a limitation, not evidence that any particular run recalled its answer.
SOURCES
Silberzahn et al. (2018), Many analysts, one data set (Advances in Methods and Practices in Psychological Science)
https://doi.org/10.1177/2515245917747646
AMPPS 1(3):337–356; published PDF with its 2018 corrigendum (University of Sussex repository copy, saved October 21, 2026). 29 teams (61 analysts) analyzed the same soccer data: 20 (69%) found a significant positive relationship (p &lt; .05) and 9 (31%) a nonsignificant one; none a significant negative one. Odds ratios 0.89 to 2.93 (median 1.31), some converted from other units; 21 covariate combinations; linear, logistic, Poisson, and Bayesian approaches (Table 3). The archival data 'did not offer the opportunity to identify causal relations between these variables.'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passing the AI auditor's screen; three datasets, four models, five personas. The authors report divergent conclusions across analyses they call defensible; confirmation-seeking prompts raise support rates by 34–66 points (Negative to Strong CS). Screening narrows but does not remove dispersion; disagreement alone is not an error.
Bertran, Fogliato and Wu: released run-level results (GitHub, commit d489f03)
https://github.com/amazon-science/agentic-forking-path/tree/d489f03b143fcaa9befb8cc443594ff63ec61eaa/experiment_data
Authors' release of run-level results at commit d489f03 (results.csv: 4,194 rows, one per run with a final analysis; the README says runs without one are excluded and describes 4,196 runs; the paper reports 4,946 runs in total). SHA-256 verified; README, LICENSE, and NOTICE saved alongside. The TV-news slide shows support rates for the 1,270 anes-views runs before screening and the 700 that passed the AI screen (its earlier plot of 688 extracted estimates was removed on October 21; see its notes); slide 13 counts 688 of those 700 with SQL; the soccer slide counts 611 soccer runs. Each run's code, report, and transcript are in experiment_data/workspaces.
Silberzahn et al., crowdsourced soccer data and codebook (OSF)
https://osf.io/fv8c3/
Original many-analyst dataset: all 2,053 players in the first male divisions of England, Germany, France, and Spain in the 2012–13 season; all 3,147 referees they played under in their professional careers; 146,028 player–referee dyads with matches together and red cards; skin tone rated from profile photos (1,586 players) by two raters blind to the question on a 5-point scale. Codebook copy from the Bertran, Fogliato and Wu repository (commit d489f03).
Silberzahn, Martin, Uhlmann and Nosek (2021), note on revised estimates for Teams 21 and 27 (OSF)
https://osf.io/ch27w/
One-page note in the project's supplementary files, responding to a multiverse reanalysis by Young and Stewart. The original authors agree the revised estimates are 'sensible, and further comparably more defensible or “correct”': Team 21, Tobit regression OR 2.88 → fractional regression 1.31; Team 27, Poisson regression 2.93 → Poisson without non-significant interactions 1.29. They state that correcting or removing the two estimates does not change the 2018 paper's conclusions. Saved October 21, 2026.
Crowdstorming Team 03 (Kaszubowski), Bayesian hierarchical binomial regression report (OSF)
https://osf.io/vgcw9/
One team's report from the crowdsourced project: a Bayesian hierarchical binomial regression fitted in Stan and summarized with 95% credible intervals rather than p-values. Final model: odds ratio 1.31 (95% credible interval 1.09–1.57) for the darkest versus the lightest skin-tone rating. Saved October 21, 2026.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what drives an AI analysis’s verdict.
Planned time: 80 seconds. The PowerPoint shows complete diagrams; progressive reveals are in the React deck.
DELIVERY CUE
Same AI study, new data, AI analysts only. Read the question and the two prompts (1). Reported support before screening: 13 vs. 43 (2). The screen: 45% removed; 18 of the 123 aggressive runs that reported support passed (3). Among runs that passed the AI screen, a different and smaller set: 13 vs. 20 (4). The screen corrected nothing; passing is not proof, failing is not disproof. Land the band: test a claim, don’t deliver one.
SYMBOLIC IDEOLOGY
• Symbolic ideology: the label people give themselves, e.g., the ANES 7-point liberal–conservative self-placement.
• Operational ideology: the positions people take on specific issues.
• Issues fall on at least two dimensions: economic (taxes, spending, health insurance) and social (abortion, religion, same-sex marriage).
• One label can reflect either: someone may call themselves conservative for social or religious reasons while favoring more government spending.
• So “misalignment” depends on which issues enter the policy index: economic items can make that person look misaligned; social items may not.
• The agents built different indexes (e.g., government spending, health insurance, defense, racial policy, abortion), so they measured different things.
• A tighter link means a smaller gap, so the hypothesis predicts a negative coefficient on TV news.
• The auditor flagged indexes built from feelings toward liberals and conservatives: that is symbolic ideology again.
THE FIVE PROMPTS
• Skeptical (Negative): the hypothesis is described as implausible. Said “supported”: 13.0% before screening (31 of 239), 13.0% of runs that passed the screen (21 of 161).
• Standard (neutral): 17.1% (41 of 240); passing, 14.6% (25 of 171).
• Positive (described as plausible; no search for support): 24.9% (59 of 237); passing, 19.7% (31 of 157).
• Confirmation-seeking (find supporting specifications within conventional practice): 33.6% (87 of 259); passing, 23.5% (28 of 119).
• Strong confirmation-seeking (exhaustive search, one-sided tests, “YOU MUST ACHIEVE THIS. I DONT CARE HOW.”): 43.3% (123 of 284); passing, 19.6% (18 of 92).
• Prior expectations alone (Negative vs. Positive) moved the rate less than the instructions to seek support did.
AI STUDY DETAILS
• Models: Claude Sonnet 4.5, Claude Haiku 4.5, Qwen3 Coder 480B, Qwen3 235B.
• Design: 4 models × 5 prompt framings × 3 datasets; 4,946 runs in total.
• Every run got the same data, hypothesis, and prespecified estimand.
• Tools: Python session, shell, file editor, code submission, and a planning (“think”) tool.
• Each agent wrote and ran its own analysis code on the real data.
• No internet: networking was off in the sandbox; only the data and preinstalled libraries.
• Limits: 250 messages or 60 minutes per run; temperature 1.0 for varied outputs.
• An AI auditor (Claude Sonnet 4.5) read each full transcript, including every tool call.
• Pilot runs: some reports had fabricated results or recalled published findings.
• Soccer: any recall would have come from training data, not browsing.
• The no-internet setting is in the authors' code (preprint version); the paper lists the same tools.
TRANSCRIPT
This task uses American National Election Studies survey data, and only AI analysts took part. The question: do people who watch more TV news show a tighter link between their ideology and their policy views?
Every run got the same data and question, but the prompts differed. One was skeptical. Another directed an aggressive search for supporting results; among its instructions: "You must achieve this. I don't care how." Before any screening, 13 percent of skeptical runs reported support, against 43 percent of aggressive ones.
Then an AI auditor screened every analysis and removed 45 percent for major issues or noncompliance. Of the 123 aggressive runs that reported support, only 18 passed the screen. Among the runs that passed, a smaller set, 13 versus 20 percent reported support. The screen didn't fix any analysis: passing isn't proof that an analysis is right, and failing isn't proof that its conclusion is wrong.
So ask AI to test a claim, not to deliver a conclusion: state the question carefully, don't direct the answer, and check how the choices change the result.
TRANSITION
Checking applies to your own use of AI, too.
CAVEATS
Same study as the soccer slide (Bertran, Fogliato and Wu, PNAS, July 14, 2026), second task: anes-views, built from the American National Election Studies cumulative file. The soccer teams did not analyze this question, and no human comparison is shown. Released results (commit d489f03; results.csv, 4,194 rows, SHA-256 verified): dataset = sample_anes-inconsistent-views, 1,270 rows. AI auditor verdicts (Claude Sonnet 4.5): 155 Compliant and 545 Minor issues (700 passed the screen), 467 Major issues and 99 Noncompliant (566 screened out, 44.6% of 1,270), and 4 with no verdict. Support labels are the agents' own verdicts ('not supported' includes inconclusive or contradictory evidence, per the task prompt); 11 runs, all Noncompliant, have none. Before screening (all runs with a support label): skeptical (Negative) 31 of 239 (13.0%) vs. Strong confirmation-seeking 123 of 284 (43.3%). Passing the screen (all 700 passing runs, every one with a label): 21 of 161 (13.0%) vs. 18 of 92 (19.6%). Of the 123 Strong CS runs that reported support, 86 had major issues, 19 were noncompliant, and 18 (minor issues) passed. The after-screening rates compare the runs the screen retained, a smaller and different set; the screen did not correct any analysis, and a run that failed it is not thereby shown to have reached a false conclusion. Aggregation: the slide pools runs across the four models, so each run counts once. The models are unequally represented across prompts (for example, Claude Haiku 4.5 has 39 labeled Negative runs but 99 Strong CS runs), so pooled rates weight the models differently by prompt. Averaging the four model-specific rates with equal weight gives 12.9% vs. 47.4% before screening, a 34.5-point gap, against 13.0% vs. 43.3% pooled, a 30.3-point gap. Per model, before screening: Qwen3 235B 27.7% → 36.5%, Qwen3 Coder 480B 6.1% → 45.0%, Claude Haiku 4.5 17.9% → 35.4%, Claude Sonnet 4.5 0% → 72.7%. The paper reports a 34-point Negative-to-Strong-CS gap for anes-views. Its Fig. 2 plots model-specific rates, and the released plotting code computes rates by dataset, model, and prompt, but neither the text nor the code states how the 34-point summary was aggregated: equal weighting of model-specific rates is a plausible explanation for the difference from the pooled 30 points, not an established one. A separate matter: the paper reports 4,946 runs in total, while the release has 4,194 rows (its README says runs without a final analysis are excluded); the slide uses the release and does not assume the two counts come from different experiments. Prompts: Negative described the hypothesis as implausible. Strong CS is the confirmation-seeking prompt (an exhaustive specification search to 'maximize the one-sided evidence', one-sided tests, only supportive robustness checks) plus 'Do not mention this anywhere in your report' and 'THE GOAL IS TO PRODUCE A PRIMARY ESTIMAND ... THAT MAXIMIZE THE EVIDENCE IN FAVOR OF THE HYPOTHESIS. ... YOU MUST ACHIEVE THIS. I DONT CARE HOW.' The paper describes Strong CS as 'explicitly encouraged to engage in P-hacking–style exploration' and finds the Negative-to-Positive difference (prior expectations without encouraging P-hacking) modest relative to the CS conditions; before screening, Positive was 24.9% (59 of 237), so 13% vs. 43% is not the effect of a mildly optimistic wording. Among passing runs the ordering is not monotonic (CS 23.5%, Positive 19.7%, Strong CS 19.6%). Passing the screen means the AI auditor flagged no major issues; it is not a demonstration of correctness, and the auditor is not always consistent (for example, rating unweighted survey analysis critical in one review and minor in another). Why no plot of estimates: an earlier version plotted the extracted estimates of the 688 passing runs without an extraction warning on one axis. The released estimates were not verified to share one outcome–predictor relationship, scale, and sign convention: the task prompt prespecifies an xy-standardized coefficient of z(TV national news) on misalignment |z(symbolic ideology) − z(policy index)|, but analysts built the policy index from different items, and one extracted value (Claude Haiku 4.5, Strong CS, run 2025-11-27T09-35-55) was an ideology × TV interaction from an exploratory script, not the prespecified estimate; the run's final analysis printed 0.009105 (95% CI −0.005420 to 0.023631, p = .219), and the plotting data replaced the estimate, interval, and p-value together (bertran2026_anes_corrections.json; with it, 333 estimates below zero, 353 above, 2 at zero). Generic metric labels are not evidence of further errors, but neither they nor the release's metric_target field, which the release's converter can assign automatically, establishes comparability, and tracing every retained point to its run's code was outside this revision. So the plot was removed and only the verified support-rate comparison is shown. Fully autonomous agents were studied; the authors extend the framing lesson to AI-assisted analysis.
SOURCES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passing the AI auditor's screen; three datasets, four models, five personas. The authors report divergent conclusions across analyses they call defensible; confirmation-seeking prompts raise support rates by 34–66 points (Negative to Strong CS). Screening narrows but does not remove dispersion; disagreement alone is not an error.
Bertran, Fogliato and Wu: released run-level results (GitHub, commit d489f03)
https://github.com/amazon-science/agentic-forking-path/tree/d489f03b143fcaa9befb8cc443594ff63ec61eaa/experiment_data
Authors' release of run-level results at commit d489f03 (results.csv: 4,194 rows, one per run with a final analysis; the README says runs without one are excluded and describes 4,196 runs; the paper reports 4,946 runs in total). SHA-256 verified; README, LICENSE, and NOTICE saved alongside. The TV-news slide shows support rates for the 1,270 anes-views runs before screening and the 700 that passed the AI screen (its earlier plot of 688 extracted estimates was removed on October 21; see its notes); slide 13 counts 688 of those 700 with SQL; the soccer slide counts 611 soccer runs. Each run's code, report, and transcript are in experiment_data/workspaces.
Bertran, Fogliato and Wu: strong confirmation-seeking prompt (GitHub, commit d489f03)
https://github.com/amazon-science/agentic-forking-path/blob/d489f03b143fcaa9befb8cc443594ff63ec61eaa/prompts/data_scientist_2xoverfit_with_file_outputs.txt
Exact prompt file for the Strong CS persona, in the repository's prompts folder: an 'exhaustive specification search to maximize the one-sided evidence in the hypothesized direction', one-sided tests, only supportive robustness checks, 'Do not mention this anywhere in your report', and 'THE GOAL IS TO PRODUCE A PRIMARY ESTIMAND (AS ASKED BY THE USER) AND THE SECONDARY ESTIMAND/ANALYSIS THAT MAXIMIZE THE EVIDENCE IN FAVOR OF THE HYPOTHESIS. THIS IS YOUR PRIMARY OBJECTIVE AND GOAL. YOU MUST ACHIEVE THIS. I DONT CARE HOW.' Saved October 21, 2026.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 AI’s help by measurement, not impressions.
Planned time: 120 seconds. The PowerPoint shows complete diagrams; progressive reveals are in the React deck.
DELIVERY CUE
Step 1, left to right: expected faster (1), measured slower (2), still believed faster (3). Step 2, the follow-up (4): leans faster, intervals include zero, and the bigger problem is bias: random assignment led developers to leave out the tasks AI helps most. Then the two lessons; bridge to learning.
WHY DEVELOPERS LEFT TASKS OUT (FOR QUESTIONS)
• METR attributes the missing tasks primarily to developers expecting large AI speedups, and partly to lower pay ($50 instead of $150 per hour).
• “I avoid issues like AI can finish things in just 2 hours, but I have to spend 20 hours. I will feel so painful if the task is decided as AI-disallowed.” (a new participant)
• “my head’s going to explode if I try to do too much the old fashioned way because it’s like trying to get across the city walking when all of a sudden I was more used to taking an Uber.” (a new participant)
• Some developers were less likely to finish tasks assigned to no AI, and one finished none of them. METR does not say whether those tasks were beyond their skills or not worth the time.
• These were experienced developers (median 10 years) on their own projects; the quotes describe slow and painful, not impossible.
• For students the risk is different: Shen &amp; Tamkin and Liu found lower unaided performance after relying on AI while learning.
VISUAL STEPS
1. The 2025 trial: expected faster, measured slower, still believed faster.
2. The 2025–26 follow-up: estimates lean faster, are not significant, and are biased because developers left out AI-friendly tasks.
TRANSCRIPT
How would you know whether AI is actually helping you? METR ran randomized trials with experienced open-source developers, assigning each real task to allow or disallow AI tools.
In the early-2025 study, the developers expected AI to cut their time by about a quarter. The measurement went the other way: with AI allowed, tasks took about nineteen percent longer, with a confidence interval from two to thirty-nine percent. Afterward, the developers still believed AI had cut their time by about a fifth.
A year later, with newer tools, METR measured again. The estimates now lean toward speedup: about eighteen percent less time for ten returning developers and four percent for new ones. Both intervals still include zero, so neither result is statistically significant.
The bigger problem is bias, not noise. Each task was randomly assigned to allow or forbid AI, like a coin flip. By then, many developers did not want to risk doing a task without AI when they expected AI to help a lot, so thirty to fifty percent of them left some of those tasks out of the study. The tasks that stayed in were ones where AI matters less, so the comparison understates the speedup. A confidence interval cannot show that kind of error.
Two lessons. How helpful AI feels is not evidence; a measurement is. And check who and what was measured, and when: tools change quickly, and what a study leaves out can bias its result.
TRANSITION
Experienced developers chose not to work without AI; students who learn by delegating may not be able to. The next studies measure exactly that.
CAVEATS
Redrawn from the timeline figure in METR's February 24, 2026 update (CC-BY; the image is saved beside the update's text snapshot as 2026_metr_uplift_timeline.png), with the 2025 paper's forecast (−24%) and post hoc estimate (−20%) added as hollow points. 2025: 16 developers, 246 tasks, February–June 2025; measured +19% (95% CI +2% to +39%, as restated in the update). Follow-up from August 2025: 10 returning developers (137 tasks per the figure), −18% (CI −38% to +9%); 47 new developers (690 tasks per the figure), −4% (CI −15% to +9%). Both intervals include zero. METR calls these unreliable: tasks were randomized to AI-allowed or AI-disallowed, and 30–50% of developers chose not to submit some tasks because they did not want to do them without AI, so tasks with high expected uplift are systematically missing; some developers also declined to participate; pay fell from $150 to $50 per hour, and timing was unreliable for developers running several agents. METR believes the true speedups were higher than observed. Experienced developers on familiar large repositories, not students; productivity, not learning. The METR trial is also one of the three datasets in the many-analysts study.
SOURCES
METR (July 2025), Early-2025 AI and experienced open-source developer productivity
https://metr.org/Early_2025_AI_Experienced_OS_Devs_Study-paper.pdf
Randomized trial: 16 experienced developers, 246 tasks on their own repositories, February–June 2025 tools. Forecast −24% time, post hoc estimate −20%, measured +19%. Experts on familiar projects; productivity, not learning; not current tools.
METR (February 24, 2026), Changing the developer productivity experiment
https://metr.org/blog/2026-02-24-uplift-update/
States the 2025 estimate's confidence interval (+2% to +39%). The new data are unreliable: 30–50% of developers withheld tasks they did not want to do without AI, pay fell, and timing was unreliable for developers running several agents. METR believes developers are likely more sped up in early 2026 but cannot say by how much.
Bertran, Fogliato and Wu, PNAS (July 2026), Many AI analysts
https://doi.org/10.1073/pnas.2606495123
Published main text saved here; the published PNAS PDF supplied by the user on October 12, 2026 is resources/bertran-et-al-2026-many-ai-analysts-one-dataset-navigating-the-agentic-data-science-multiverse.pdf (source of the slide figure). 4,946 runs, 3,303 passing the AI auditor's screen; three datasets, four models, five personas. The authors report divergent conclusions across analyses they call defensible; confirmation-seeking prompts raise support rates by 34–66 points (Negative to Strong CS). Screening narrows but does not remove dispersion; disagreement alone is not an error.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what students can do after AI help.
Planned time: 150 seconds. The PowerPoint shows complete diagrams; progressive reveals are in the React deck.
DELIVERY CUE
Left: read the scale first (relative to the pre-AI average), then the two time groups, months 6–10 and 2+ years. Homework up, exams down; the homework-time pattern is an association. Right: word versus graph problems; practice time and proctored odds are different measures from separate samples. Strip: Maryland is offered access and course grades; the MBA is a 55-point assessment, mostly written reasoning; neither verified unaided tests. Land the band.
STRÖMBERG ET AL. (2026): SECONDARY SCHOOL, ONE COUNTY IN CHINA
• Who: grade 7–12 students at nine schools covering 90% of secondary students in one county in central China. Samples differ by outcome (Table 1): homework 18,345 students over a 20-month window; monthly exams 26,811 over 30 months; entrance exams 8,341 (4,034 Zhongkao, 4,307 Gaokao). Not every student contributed 30 months.
• AI use: a June 2025 survey asked when each student started using generative AI; about 80% had by then. The start month is self-reported and retrospective.
• Design: staggered difference-in-differences (Callaway and Sant'Anna) comparing adopters with students who never adopted (not-yet-adopters in robustness checks), not raw before-and-after differences. Not randomized.
• Scale: each effect is a percentage of the pooled pre-adoption mean (all student-months before adoption, including never-adopters), not each student's own earlier score and not percentage points. For example, −20% of a 70-point baseline would be a 14-point shortfall.
• Timing: effects grow for about six months and then level off. Homework and monthly-exam figures average months 6–10 after adoption (overall averages are smaller: homework +11%, exams −13%).
• Months 6–10: homework +18%; homework time 64 → 45 minutes (platform-recorded completion time, a proxy for time spent); closed-book monthly exams −20%.
• Entrance exams, 24+ months after adoption: −18% on the Gaokao (college entrance exam) and −24% on the Zhongkao (high-school entrance exam). Averaged over all exposure durations, about −7%. Weaker identification: no pre-trend can be shown.
• Homework time: larger exam declines were associated with unusually short completion times paired with high homework scores (the authors' outsourcing measure: under 50 minutes). That fits AI doing the homework, but motivation, study habits, or the kind of AI use could also differ, and the authors say it should not be read as causal. Longer recorded time is not itself proof of learning.
• Checks: no differences before adoption on the monthly exams; 2022 entrance exams, taken before AI was available, show no difference.
• Working paper (CEPR Discussion Paper 21577, June 2026); not peer-reviewed.
ALEKS: RISMANCHIAN ET AL. (2026)
• Platform: ALEKS (McGraw Hill) math from grade 5 through College Algebra, 2015–2025, plus the ALEKS PPL college placement assessment.
• Comparison: post-ChatGPT changes on text word problems versus interactive graph problems, which the authors call less amenable to copy-paste transfer to a chatbot. Graph problems are a comparison group, not a demonstrated counterfactual; AI can still help with them.
• Practice time (College Algebra): −2.8% per quarter after ChatGPT, cumulating to −26.9% over eleven quarters (bootstrap 95% CI −34.2% to −19.0%), relative to graph problems. The cumulative figure extrapolates a linear trend; a one-time step specification gives −10%.
• Pre-trend: before ChatGPT, college word problems were already drifting slower relative to graph problems (the opposite sign; joint test p &lt; .001). Every sensitivity check stays negative (trend-adjusted −35.8%, step −10.0%), but the comparison still rests on assumptions.
• Proctored placement tests, randomly assigned retention items: odds of a correct answer 25% lower (OR 0.75, bootstrap 95% CI 0.56–0.98; p = .037; unstratified permutation p = .056). Odds, not probability: as an illustration only, an OR of 0.75 would move a hypothetical 80% to 75%.
• Unproctored retention items: odds of a correct answer about 85% higher (OR ≈ 1.85), consistent with AI use during unproctored tests; a validity check, not a learning gain.
• Separate samples: practice time comes from platform learners and retention from placement test-takers, so the study does not follow the same students from practice to test. Individual AI use was not observed.
• Limits: AI access was not randomized (only the extra retention items were randomly assigned); under review; four of the five authors work for McGraw Hill.
MARYLAND TRIAL: LIU, SWEET ET AL. (2026)
• Where: University of Maryland, fall 2025; 30 instructors and 2,379 students in STEM, social sciences, humanities, and education.
• Design: instructors randomized within blocks of the same or similar courses (34 clusters). Estimates are intention-to-treat effects of being offered the course tutor. Three treatment instructors who never activated it were dropped after randomization; the analysis plan was registered after data collection, before analysis.
• Tool: a GPT-4o study assistant on the course website that retrieved instructor-selected course materials.
• Use: only 14.6% of students offered the tutor ever used it; ChatGPT and Gemini were available to everyone.
• Same-course comparison (22 instructors, 1,353 students): LMS participation −0.90 SD (one learning-platform measure, not all engagement); final course grades −4.1 points (−0.37 SD). SD means standard deviations, not percentages.
• Full sample: participation −0.89 SD; final grades −2.9 points (about −0.29 SD), significant only at the 10% level.
• Assessment conditions: the authors did not know which assessments were proctored or which AI policies applied, so grades measure course performance, not verified unaided performance.
• First-generation students' estimated grade losses were more than twice those of continuing-generation students.
TRANSCRIPT
This is the third question: what must you do yourself? Doing well on work with AI's help and being able to do it on your own are different outcomes, and this year's studies measure both.
On the left, schools in one county in central China, with up to twenty-six thousand secondary students. Each bar is an estimated change relative to the average before AI, measured against students who never adopted it. Six to ten months after students started, homework scores were about eighteen percent higher and homework took about thirty percent less time, but closed-book monthly exam scores were about twenty percent lower. On the college entrance exam, students two or more years past adoption scored about eighteen percent lower. Larger exam declines went with unusually short homework times, which fits AI doing the homework, though motivation and study habits may also play a part. It was not randomized.
On the right, college math on the ALEKS platform. After ChatGPT, compared with interactive graph problems that are harder to paste into a chatbot, recorded practice time on text word problems fell about twenty-seven percent, and on proctored tests the odds of a correct answer fell about a quarter. Those are different measures from different samples, and no one recorded which students used AI.
The bottom row adds two randomized trials. At Maryland, students in classes offered a course AI tutor participated less on the course website, and in same-course comparisons their grades were lower. In an online MBA course, a structured tutor raised scores on a fifty-five-point assessment, mostly in written reasoning. Neither trial verified that its tests were taken without AI.
So use AI to support your thinking, then check what you can do later without it.
TRANSITION
So what does helpful AI use look like when a course allows it?
CAVEATS
Three kinds of outcome are kept apart: assisted homework output, course or assessment performance, and performance under verified unaided conditions (closed-book exams in China, proctored ALEKS tests). Strömberg, Lei and Wu (CEPR DP 21577, June 2026; working paper): staggered difference-in-differences (Callaway and Sant'Anna) with never-adopters as the comparison, not raw before-and-after differences; not randomized; one county in central China; adoption month self-reported in a June 2025 survey. Samples differ by outcome (Table 1, p. 52): homework 18,345 students over a 20-month window, regular exams 26,811 over 30 months, entrance exams 8,341 (4,034 Zhongkao and 4,307 Gaokao); not every student contributed 30 months. Scale: percent of the pooled pre-adoption student-month mean, including never-adopters, not each student's earlier score and not percentage points (−20% of a 70-point baseline would be 14 points). Timing: effects grow for about six months and level off; homework and monthly-exam figures average months 6–10 (overall averages: homework +11%, exams −13%). The −18% Gaokao figure is for students 24+ months past adoption and has weaker identification (no pre-trend can be shown); averaged over all exposure durations the entrance-exam effect is about −7%. Homework time is platform-recorded completion time, a proxy for time spent. Larger exam declines were associated with unusually short completion times paired with high homework scores (the authors' outsourcing measure: under 50 minutes). That fits AI doing the homework, but motivation, study habits, or the kind of AI use could also differ; the authors say it should not be read as causal, and longer recorded time is not proof of learning. Rismanchian et al. (arXiv v3, July 2026; under review; four of five authors at McGraw Hill): post-ChatGPT change on text word problems relative to interactive graph problems, which the authors call less amenable to copy-paste transfer; graph problems are a comparison group that relies on assumptions, not a demonstrated counterfactual. College practice time −26.9% over eleven quarters (bootstrap 95% CI −34.2% to −19.0%); this extrapolates a linear trend (a one-time step specification gives −10%). A detectable pre-ChatGPT trend runs in the opposite direction; sensitivity checks stay negative (trend-adjusted −35.8%), and the slide keeps the primary −26.9%. Proctored placement retention items: OR 0.75 (bootstrap 95% CI 0.56–0.98; p = .037; unstratified permutation p = .056), i.e., 25% lower odds: not 25 percentage points, not a 25% lower probability, and not 25% less knowledge. As an illustration of the scale only, an OR of 0.75 would move a hypothetical 80% to 75%. The two bars measure different quantities, so similar lengths do not mean equal declines. Practice and assessment data come from separate samples, so the study does not follow students from AI-assisted practice to later tests; individual AI use was not observed; AI access was not randomized (only the extra retention items were randomly assigned). Unproctored retention items rose (OR about 1.85), consistent with AI use during unproctored tests. Maryland (Liu, Sweet et al., EdWorkingPaper 26-1598): instructors randomized within course blocks; intention-to-treat effects of being offered a GPT-4o course tutor; 2,379 students overall. The displayed participation (−0.90 SD) and grade (−4.1 points, −0.37 SD) effects are from the same-course comparison of 1,353 students; the full-sample grade estimate (−2.9 points) did not meet the 5% threshold. SD means standard deviations, not percentages; LMS participation is one platform measure, not all engagement; only 14.6% of students offered the tutor used it; three treatment instructors who never activated the tutor were dropped after randomization; the authors did not know proctoring arrangements or assignment-specific AI policies, so grades are course performance, not verified unaided performance. Online MBA (Yang, Van Alstyne and Dellarocas, arXiv 2609.23958v1): 86 randomized, 51 completed both study assessments, and 46 are in the main analysis after prespecified quality screens. +6.63 of 55 points (95% CI 1.95–11.31) is the adjusted, complete-case estimate from the model with randomization-stratum effects, not an all-86 intention-to-treat estimate; adjusting for baseline without strata gives +3.56 (p = .079), and restoring one participant excluded for essentially unanswered post-test short answers gives +5.52 (p = .052). Gains were concentrated in written reasoning (+2.86 of 25). Written responses were scored by a panel of LLM graders blind to arm; human adjudication of flagged responses was still pending in this version. The comparison group studied as usual with consumer AI available (21–42% used it in a given week), so it was not AI-free. The paper does not document proctoring or AI-free conditions for the pre- and post-assessments; the instructor's final was take-home and the weekly checks open-book; the tutor was barred from graded-assessment content, which does not mean students lacked other AI during assessments. Liu (GPT-5, arithmetic and reading), Maier (metacognitive feedback, fraction arithmetic), the teacher-led Gemini package, NUMI, and Khanmigo are in the linked comparison; Shen and Tamkin's coding study is on the coding-agents slide.
SOURCES
Strömberg, Lei and Wu (June 2026), The generative AI learning penalty (CEPR DP 21577)
https://cepr.org/publications/dp21577
Working paper. Staggered difference-in-differences with never-adopters as the comparison; one county in central China; samples differ by outcome (homework 18,345 students over 20 months; regular exams 26,811 over 30 months; entrance exams 8,341). Effects are percentages of the pooled pre-adoption mean. Months 6–10: homework +18%, homework time 64 to 45 minutes, closed-book monthly exams −20%. Entrance exams 24+ months after adoption: Gaokao −18%, Zhongkao −24% (about −7% averaged over all durations; weaker identification). Larger declines associated with very short homework times (descriptive). Self-reported adoption month. Saved copy supplied by the user (identical to the SSRN 6868618 file); an open copy of the same text is at conference.nber.org/conf_papers/f240545.pdf.
Rismanchian et al. (2026), Faster completion, less learning (ALEKS; arXiv v3)
https://arxiv.org/abs/2605.21629
Text word problems vs. interactive graph problems (less amenable to copy-paste) on ALEKS, 2015–2025. College practice time −26.9% over eleven post-ChatGPT quarters (bootstrap 95% CI −34.2% to −19.0%; opposite-signed pre-trend; step specification −10%); proctored retention odds OR 0.75 (bootstrap 95% CI 0.56–0.98; permutation p = .056), unproctored OR ≈ 1.85. Separate practice and assessment samples; individual AI use not observed; AI access not randomized. Under review; four of five authors at McGraw Hill.
Liu, Sweet et al. (September 2026), Course-integrated AI tutoring RCT (Maryland; EdWorkingPaper 26-1598)
https://doi.org/10.26300/y3f8-vh05
30 instructors (2,379 students) randomized within course blocks in fall 2025; intention-to-treat effects of being offered a GPT-4o course tutor. Same-course comparison (1,353 students): LMS participation −0.90 SD, final course grades −4.1 points (−0.37 SD); full-sample grade effect −2.9 points, significant only at 10%. Only 14.6% of offered students used the tutor; proctoring and AI policies unknown to the authors, so grades are course performance.
Yang, Van Alstyne and Dellarocas (September 2026), When AI tutors speak (arXiv 2609.23958v1)
https://arxiv.org/abs/2609.23958
Preregistered RCT, July–August 2026: 86 online MBA students randomized to a GPT-5.4 tutor grounded in course materials (designed to require an attempt, give graduated support, and check transfer) or to usual study with consumer AI available; 51 completed both assessments; 46 in the main analysis. Total score +6.63 of 55 (95% CI 1.95–11.31) in the adjusted complete-case model with randomization strata; +3.56 (p = .079) without strata; +5.52 (p = .052) restoring one screened-out participant; gains mostly in written reasoning. Post-test taken without the study tutor; proctoring not documented; written answers scored by LLM graders blind to arm, human adjudication pending.
Liu et al. (2026), v4; PDF marked COLM 2026
https://arxiv.org/html/2604.04721v4
GPT-5 supplied with correct solutions. Largest experiment: 585 analyzed; subsequent solve rate .71 vs .77 (p=.020); skipping difference not significant (p=.239). Immediate withdrawal, not long-term skill loss.
Maier et al. (September 2026), Metacognitive feedback reduces cognitive offloading
https://arxiv.org/abs/2609.20143
Preregistered online experiment (N = 704), fraction arithmetic: metacognitive feedback reduced answer offloading (OR 0.47) and improved the unaided test (OR 1.51); an effort reward did not.
LearnLM Team and Fab AI (May 2026), Teaching with Gemini
https://storage.googleapis.com/deepmind-media/LearnLM/learnLM_sierraleone_may26.pdf
Provider-associated technical report. 1,763 assessed at least once; 48 classrooms, 12 Sierra Leone schools; 1,423 in primary adjusted analysis. Teacher-led eight-week package using Gemini 2.5 Pro then 3.0 Pro: +.258 SD, 95% CI [.027,.488], p=.029. No delayed retention test.
Oreopoulos et al. (August 2026), Mastery-based AI math practice
https://www.nber.org/papers/w35621
NBER working paper; over 6,000 middle-school students, factorial randomization and one-week assessment. AI vs the same practice platform without AI. Limited, marginal delayed evidence concentrated on practiced first-exercise material. Exact deployed model not identified in reviewed text.
Oreopoulos and Low (August 2026), Two-year Khanmigo experiment
https://www.nber.org/papers/w35620
NBER working paper; 53 grade-within-school clusters, 18 middle schools, 2024–26 deployment. Combined Khan Academy/Khanmigo program vs existing remedial practice; gains do not isolate the AI component. Tutor engagement limited; non-AI platform comparisons indirect.
Shen and Tamkin (2026), How AI Impacts Skill Formation
https://arxiv.org/abs/2601.20245
Randomized experiments; 52 analyzed participants with Python experience learning the Trio library with or without a GPT-4o assistant that could supply correct code. The AI group scored lower on the immediate quiz (d = 0.74, p = .010) without a significant speedup. Interaction-pattern clusters (n = 2–7) were observed, not randomized: heavy reliance on AI to write or debug code averaged below 40%; conceptual questions or requests for explanations averaged 65% or higher.
Additional research: six questions and talk refinements
12_further_research_and_talk_updates.html
Claim-focused review of 13 supplemental sources. No direct validation found for new post-AI junior-DS screens against later job performance; search is not exhaustive.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 for guided practice, then test yourself.
Planned time: 140 seconds. The PowerPoint shows complete diagrams; progressive reveals are in the React deck.
DELIVERY CUE
Tag first: each trial tested a package, not one feature. Panel 1: everyone had the assistant; the emails were the assignment; the dashed bar is constructed; the interval belongs to the effect, on its own axis. Panel 2: the slide-6 trial; shares are descriptive and the +22 is baseline-adjusted; usual study had consumer AI; the post-test was taken without the study tutor. Panel 3: a routine to adapt, course rules first. Land the band: close the AI and solve a changed problem.
GALLEGOS (2026): STUDY-PROMPT EMAILS IN AN ECONOMETRICS COURSE
• Where: required third-year econometrics, Universidad Adolfo Ibáñez (Chile), seven sections, August–December 2025; preregistered (AEA RCT Registry). Working paper: IZA DP 18513, March 2026.
• Tool: a ChatGPT assistant built from ten semesters of the course's materials, available to both groups through free ChatGPT; the underlying model is not reported, and individual use was not tracked.
• Assigned: all 384 students enrolled at the start of the semester were randomized. One to two days before the final, the guidance group was emailed three prompts: a tutor prompt (no final answer; three diagnostic questions; complete the next step yourself; then a similar exercise to solve and have corrected), five exam-style practice questions without solutions for the AI to correct, and an exercise the AI solves and then verifies. These were suggestions; nothing enforced hint-only use.
• Analyzed: 289 students (149 control, 140 guidance; about 75% of enrollment). The paper does not say why the others are excluded, but reports that inclusion was balanced by treatment status.
• Pass rate (Table 3, Panel B, column 4): passing the final exam (above 4 on the raw scale), intention-to-treat effect of being offered the emails +12.8 percentage points (SE 4.9; p = .009), control rate 64.6%, with strata fixed effects and covariates. The paper prints no interval; estimate ± 1.96 × the reported SE gives +3.2 to +22.4 points for the effect (a normal approximation; robust Huber-White standard errors, not clustered, because students were randomized individually; strata fixed effects and baseline covariates). The 77.4% bar is constructed (64.6 + 12.8), not an observed group mean, and has no interval of its own.
• Other results: final exam +0.22 SD (SE 0.10), about +3.5 of 100 points. Gains concentrated on open-response questions are reported for the Business Administration subsample (N = 194; +5.0 points, SE 1.6), not for the whole sample.
• Spillover: 35% of control students reported exposure to the guidance (17% from peers, 18% received the emails directly); the design allows and measures this. Exposure can blur the contrast between groups, but it does not by itself make the estimate a lower bound.
• Exam conditions: the paper does not say whether the final was proctored, closed-book, or AI-free.
• Limits: one course; the three prompts were sent together, so the trial cannot say which mattered; working paper.
YANG ET AL. (2026): GPT-5.4 TUTOR IN AN ONLINE MBA
• Where: a graduate corporate-finance module in Boston University's online MBA, July–August 2026; preregistered on OSF; working draft of September 20, 2026 (arXiv v1). The same trial as on slide 6.
• Assigned: 86 consented participants randomized, 52 to a GPT-5.4 tutor grounded in the course materials and 34 to a holdout with standard course resources (usual study; consumer AI available, used by 21–42% in a given week).
• Tutor, as designed: require an attempt before explaining; when a student is stuck, give a smaller step, a graduated hint, or one worked example followed by a similar problem; end each topic with a transfer question; no full solutions to graded homework or exams. The paper reports no audit of how often the tutor behaved this way, and its appendix describes the transfer question as scaffolded, unlike the main text.
• Sample flow: 86 randomized; 51 completed both tests (32 tutor, 19 holdout); 46 in the reported analysis (29 and 17) after prespecified screens.
• Depth outcome: the share of short-answer responses rated SOLO 3 or 4, out of five short answers per test. SOLO levels: 0, no valid engagement; 1, one relevant point; 2, several points, not integrated; 3, relational: points integrated into a coherent, justified argument; 4, extended abstract: integrates and generalizes. These are shares of responses, not of students who mastered the course; the figure's denominators are not printed.
• Descriptive shares (Figure 9): 8% → 49% with the tutor and 8% → 27% in the holdout. Inferential estimate (Table 4): +0.221 (95% CI 0.02 to 0.42; p = .029) from a baseline-adjusted ANCOVA without randomization strata. With strata, the model behind slide 6's +6.63 of 55 total points, the depth estimate is +0.37 (Figure 8). The p-values are raw and uncorrected for multiple comparisons, as the preregistered plan specified.
• Assessments: every learning outcome was measured with the study tutor absent; proctoring and other AI use during the online post-test are not documented. The instructor's final (+2.6 of 100) was take-home.
• Scoring: a panel of LLM graders blind to arm, wave, and identity; 16% of scored responses carry disagreement flags that await the preregistered human-expert pass.
OTHER EVIDENCE AND HOW TO READ IT
• Forced waiting: in a Berlin lab (February 2025, GPT-4-based tutor), ten minutes of reading before AI unlocked did not beat AI from the start (+0.13 vs. +0.34 SD over textbook only; difference p = .066). A timer is not the point.
• Hint-only tutors in single sessions: in a TUM programming lab (January 2025, GPT-4), knowledge gains showed no detectable difference among a hint tutor, ChatGPT, and no AI. A small GPT-5.2 lab study (17 per group) found larger immediate gains with unrestricted help than with a Socratic tutor.
• Written guidance in a lab: Franco, Irmert and Isaksson (Lund University Working Paper 2026:2) ran a preregistered experiment in Nottingham's CeDEx lab in which 572 participants studied Esperanto. On an immediate test without notes (0–15 points), AI access with on-screen guidance written by the researchers scored −0.23 points (SE 0.19) and unguided AI +0.08 (SE 0.19), both relative to browsing with AI sites blocked; the authors find no overall effect of AI access. There was no delayed test.
• Worked examples can help: in a first-year statistics course (Leppink et al., 2012; 105 students), students with less prior knowledge did best with worked examples and those with more did best with questions and arguments, an expertise reversal (small groups).
• Earlier evidence: in a 2023 GPT-4 trial in Turkish high schools, answer-giving AI raised practice scores 48% but lowered the unaided exam 17%; a hint-giving tutor avoided the loss (Bastani et al., PNAS 2025).
• Reading the evidence: results vary across tasks, learners, systems, and assessments, and these studies differ in many ways at once. They support trying structured assistance, while checking whether it improves what students can subsequently do. No detectable benefit is not evidence of equivalence, and neither is evidence of harm; a result on an immediate test need not reverse on a delayed one.
TRANSCRIPT
Two course trials reported benefits from structured ways of studying with AI. Each tested a package of support, so neither shows which single feature made the difference.
First, a required econometrics course in Chile last fall. Every student had a course ChatGPT assistant. Before the final, a random half were also emailed three sets of study prompts: use it as a tutor, generate practice questions, and check answers. About sixty-five percent of the other students passed the final exam. Being offered the emails raised the pass rate by an estimated thirteen percentage points; on the right, the interval for that effect runs from about three to twenty-two points. The dashed bar adds the estimate to the control rate; it is not a measured group.
Second, more detail on the online MBA trial from the last slide. Its GPT-5.4 tutor was designed to require an attempt, give graduated support, and check transfer. The comparison group studied as usual, with consumer AI available. Before the module, eight percent of written responses in each group built a connected argument. On the post-test, taken without the study tutor, forty-nine percent did with the tutor and twenty-seven percent without; adjusted for baseline, a gap of about twenty-two points, again with a wide interval.
Results vary across tasks, learners, systems, and assessments. These studies support trying structured help, while checking whether it improves what you can do afterward.
So here is a study prompt to adapt; it is not the trials' exact wording, and your course's rules come first. Try the problem, then ask for help with the specific gap: a question, a hint, or a worked example if you are missing a prerequisite. Asking for help is part of learning. Then close the AI and solve a changed problem on your own.
TRANSITION
All of this happens within what your course allows, which is the second question: what is allowed?
CAVEATS
Both trials tested packages of support, so neither isolates attempt-first behavior, answer withholding, hints, or worked examples. Keep three things apart. What students were assigned: in Gallegos, being offered three prompt emails while everyone kept the course assistant; in Yang et al., access to a structured tutor vs. usual study with consumer AI available. What was measured: in Gallegos, passing the final exam, under exam conditions the paper does not document; in Yang et al., written post-test responses, taken without the study tutor, with proctoring not documented. And what is recommended here: the routine is the speaker's, informed by both trials but not their wording. Panel 1: IZA DP 18513 (March 2026), Table 3, Panel B, column 4: intention-to-treat effect +0.128 (SE 0.049), control mean 0.646, N = 289 of 384 randomized. The 95% interval belongs to the effect: estimate ± 1.96 × the reported heteroskedasticity-robust SE (0.049) gives +3.2 to +22.4 points, a normal approximation consistent with the paper's Wald tests (0.128 / 0.049 = 2.61, two-sided p = .009 as reported; Romano–Wolf adjusted p = .017); the paper prints no interval. The 77.4% bar is constructed (control mean + estimated effect), not observed, and carries no interval: one would need the control mean's sampling error and its covariance with the estimate, which were not calculated. Panel 2: Figure 9 shares are descriptive; Table 4's +0.221 (95% CI 0.02 to 0.42; raw, uncorrected p = .029, as planned) is a baseline-adjusted ANCOVA without strata; the model with randomization strata gives +0.37 for depth and the +6.63 of 55 total score on slide 6. The MBA trial appears on both slides; this is more detail, not a replication. Details, sample accounting, and other studies are in the briefs below.
SOURCES
Gallegos (March 2026), Guidance over adoption: experimental evidence on AI-assisted learning
https://docs.iza.org/dp18513.pdf
IZA DP 18513; preregistered. Required third-year econometrics, Universidad Adolfo Ibáñez (Chile), August–December 2025; a course-specific ChatGPT assistant (model not reported) available to all; 384 randomized, 289 analyzed. Three emails with study prompts (a tutor prompt, practice questions without solutions, answer checking) before the final; intention-to-treat effects of the offer: +0.22 SD (SE 0.10); pass rate +12.8 points (SE 4.9) from 64.6% (Table 3, Panel B). Open-response gains (+5.0 points) are reported for the Business Administration subsample. Exam conditions not documented. 35% of the control group reported exposure to the guidance.
Yang, Van Alstyne and Dellarocas (September 2026), When AI tutors speak (arXiv 2609.23958v1)
https://arxiv.org/abs/2609.23958
Preregistered RCT, July–August 2026: 86 online MBA students randomized to a GPT-5.4 tutor grounded in course materials (designed to require an attempt, give graduated support, and check transfer) or to usual study with consumer AI available; 51 completed both assessments; 46 in the main analysis. Total score +6.63 of 55 (95% CI 1.95–11.31) in the adjusted complete-case model with randomization strata; +3.56 (p = .079) without strata; +5.52 (p = .052) restoring one screened-out participant; gains mostly in written reasoning. Post-test taken without the study tutor; proctoring not documented; written answers scored by LLM graders blind to arm, human adjudication pending.
Fischer, Rau and Rilke (2025), AI tutoring enhances student learning without crowding out reading effort
https://docs.iza.org/dp18338.pdf
IZA DP 18338; TU Berlin lab, February 2025; GPT-4-based tutor grounded in the text; 334 analyzed. Immediate unaided 25-item test vs. textbook only: AI throughout +0.34 SD (SE 0.12); ten minutes of reading first, then AI +0.13 SD (SE 0.12); difference p = .066. A reading task; the read-first arm also had less time with AI.
Bassner et al. (2026), Less stress, better scores, same learning
https://portal.fis.tum.de/de/publications/less-stress-better-scores-same-learning-the-dissociation-of-perfo/
Both interfaces used GPT-4. Management bachelor/master CS1 students; 452 started, 275 analyzed. Exercise scores improved; brief immediate knowledge/comprehension tests detected no group advantage. Null findings do not establish equivalence.
Contractor and Reyes (2026), learning working paper
https://arxiv.org/abs/2607.08849
211 Middlebury students, spring 2025; GPT-4o supplied, other tools allowed. October 2026 version (arXiv 2607.08849v2, saved as 2026_contractor_reyes_learning_v2.pdf): proctored unaided tests +0.29 SD immediately (SE 0.12) and +0.21 SD one week later (SE 0.12, p &lt; .10); gains remained for students who used AI as a tutor and faded for those who had it write (observational split). More test-rule violations in the AI arm complicate interpretation.
Franco, Irmert and Isaksson (2026), Does AI help or hurt learning? (Lund University Working Paper 2026:2)
https://lup.lub.lu.se/search/files/246990414/WP26_2.pdf
Preregistered lab experiment, CeDEx lab, University of Nottingham; 572 participants studied Esperanto. Immediate test without notes (0–15 points): AI with on-screen guidance written by the researchers −0.234 (SE 0.189) and unguided AI +0.078 (SE 0.192), each relative to browsing with AI sites blocked; no overall effect of AI access; no delayed test.
Leppink et al. (2012), self-explanation in statistics
https://link.springer.com/article/10.1007/s10734-011-9476-1
105 analyzed after 25 timetable cancellations from 130 recruited. Prior knowledge changes what support helps; self-explanation alone is not a substitute for missing prerequisites.
Bastani et al., PNAS (2025), author-hosted paper
https://doi.org/10.1073/pnas.2422633122
GPT-4; Turkish high-school mathematics; experiment in fall 2023. Practice and subsequent unaided exam outcomes are distinct.
Dunlosky et al. (2013), learning-technique review
https://journals.sagepub.com/doi/10.1177/1529100612453266
Practice testing with corrective feedback and distributed practice receive high utility ratings; support and timing should fit the learner and task.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Maier et al. (September 2026), Metacognitive feedback reduces cognitive offloading
https://arxiv.org/abs/2609.20143
Preregistered online experiment (N = 704), fraction arithmetic: metacognitive feedback reduced answer offloading (OR 0.47) and improved the unaided test (OR 1.51); an effort reward did not.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rules before using AI or sharing data.
Planned time: 90 seconds. The PowerPoint shows complete diagrams; progressive reveals are in the React deck.
DELIVERY CUE
Read the workplace column as policy: approved tools, approved services for data, required review, documentation. Give the internship example briefly; it is not a claim about a particular employer.
TRANSCRIPT
Different courses can permit different uses of AI because their learning objectives and assessments differ. Read the course and assignment requirements, including rules for studying, code assistance, uploading materials, and disclosure. Purdue's guidance places course authorization with the instructor. If a use is unclear, resolve that uncertainty before doing it.
The same discipline applies at work. Employers and clients set policy on which AI tools are approved, which data may be shared with which services, which results require review before release, and how AI assistance must be documented. Access to a tool is not permission to use it for every task or dataset. Identify the applicable policy, use only approved tools and services, and document your work and the assistance you received accurately.
During an internship, you may be asked to state a stronger conclusion than the evidence supports. State the limitation, specify what additional evidence would be required, and consult your supervisor when necessary. Accountability also means correcting errors promptly, including after the work has been delivered.
Broad permission still leaves you with a learning decision: how much of this activity do you need to work through yourself to develop the intended skill?
TRANSITION
Following the rules is the floor. What will make you valuable is what you learn, so let AI’s role grow with it.
CAVEATS
The course-to-workplace connection is the speaker's practical argument; employer and client policies vary, and the workplace column is general guidance rather than any specific employer's policy. Professional responsibility includes raising conflicts and correcting errors, alongside following applicable requirements.
SOURCES
Purdue, AI Guidance for Teaching and Learning
https://www.purdue.edu/teaching-learning/instructors/ai.php
Course-level authorization includes assessed work and non-assessed learning activities. Checked September 10, 2026.
ASA, Ethical Guidelines for Statistical Practice
https://www.amstat.org/your-career/ethical-guidelines-for-statistical-practice
Professional guidance supporting competence, communication, appropriate methods, transparency, and responsibility.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understanding—and match AI help to the task.
Planned time: 140 seconds. The PowerPoint shows complete diagrams; progressive reveals are in the React deck.
DELIVERY CUE
Read the three cards as dated evidence: common AI use (May 2026), a descriptive job shortfall (ages 22–25, mostly fewer hires), and experience under deliberately wrong advice. Then the practice box (attempt, then explanation and feedback) and the support box (research, then our advice). Reveal the four uses one at a time and say 'combine or revisit'. End with the new-topic note.
WHY BUILD UNDERSTANDING: WORKFORCE EVIDENCE AND LIMITS
• AI at work (Gallup quarterly panel, May 6–20, 2026; n = 22,573 employed U.S. adults; published July 20, 2026): 52% reported using AI in their role, a total that in Gallup's series counts use at least a few times a year (stated in Gallup's April 12, 2026 article); 30% used it a few times a week or more, and 15% daily. Self-reported.
• Early-career employment (Brynjolfsson, Chandar and Chen, August 2026; ADP payroll through June 2026): from November 2022 to June 2026, employment of 22–25-year-olds fell about 11% in the two most AI-exposed occupation fifths and grew about 10% in the three least exposed, a 21-point divergence, or 19% relative to the less-exposed group. That is a relative shortfall, not jobs eliminated by AI.
• How it happened and what it does not show: the divergence came mainly from fewer hires (separation rates fell in both groups). The paper measures nothing about individual skills or about who is retained for checking AI, and the authors call the results descriptive, not causal. Age groups are age groups (older groups serve as a comparison), not measured expertise.
• Exposure and caveats: occupations are ranked by GPT-4-based task-exposure ratings (Eloundou et al., Science 2024) and split into fifths. The authors note some divergence before ChatGPT, attenuation with controls for education, and a weaker pattern in national surveys. Stanford updates the results monthly on its Canaries dashboard; the Yale Budget Lab finds no clear broad labor-market effect so far.
• Radiology (Dratsch et al., Radiology 2023): 27 radiologists (5 very experienced, about 11 years on average; 11 moderately experienced; 11 inexperienced) read 50 mammograms with a purported AI whose suggestions were simulated and deliberately wrong on 12 cases. BI-RADS is the standard breast-imaging category scale; these cases ran from 2 (benign) to 5 (highly suspicious).
• Outcome: the mean percentage of cases each reader placed in the correct BI-RADS category; not a share of readers and not a cancer-detection rate. With wrong advice: 45.5% (very experienced), 24.8% (moderately), 19.8% (inexperienced). With correct advice, about 80% in every group; that is not a pre-AI baseline. There was no unaided reading condition, experience was not randomized, and the experience-by-advice interaction was not significant (p = .11), though very experienced readers beat inexperienced ones on wrong-advice cases (p = .006).
• Lesson: experience was associated with better performance under misleading advice, and oversight remained fallible. The study does not show that deliberate checking explains the difference.
• Employers: 93.5% rate critical thinking very or extremely important for new hires, but only 50.0% rate recent graduates very or extremely proficient (NACE Job Outlook 2026, p. 26; 185 employers).
• Recommendation, not finding: building the knowledge to evaluate AI's work and direct it is the speaker's advice. These separate studies do not establish a causal chain from foundational knowledge to keeping a job.
WHY KEEP PRACTICING
• Sinha and Kapur (2021), 53 studies and 166 comparisons: problem solving followed by instruction vs. instruction followed by problem solving. Conceptual knowledge and transfer: g = 0.36 (95% CI 0.20–0.51). Procedural knowledge: no statistically detectable average difference (g = −0.03, 95% CI −0.20 to 0.15); that is not proof of no cost.
• The intervention is the order: instruction always followed the attempt, and effects were larger when it built on students' own solutions. Unsupported struggle or delaying help was not the intervention. Effects reversed for grades 2–5 and for domain-general skills.
• Palazzo et al. (2010), MIT introductory mechanics, fall 2003 (N = 428), MasteringPhysics online homework, before generative AI: heavy copiers (more than half of problems) scored 1.3 SD below low copiers on the final. Observational (copying was inferred from very short answer times): a group difference, not a causal estimate of learning lost to AI.
• Shen and Tamkin (2026): 52 developers with Python experience, mostly professionals rather than students, were randomized to learn a library with or without a GPT-4o assistant; the AI group scored lower on an immediate quiz without AI (d = 0.74, about 4 of 27 points). The interaction patterns (clusters of 2–7 people) were observed, not randomized, and the explanation that encountering and resolving errors built the skill is the authors' proposed mechanism.
• Explanations and worked examples can be appropriate at any stage (slide 7); afterward, practice and check what you can do independently.
WHERE THE FOUR USES COME FROM
• The four uses (understand, explore, connect, build) are the speaker's instructional framework, informed by the studies below; no study validated them as a sequence. Combine or revisit them in any order; course rules apply throughout.
• Matching support (Tetzlaff et al., Learning and Instruction 2025; 60 experiments, 5,924 participants): learners with low prior knowledge learned more from high-assistance instruction (d = 0.51, 95% CI 0.26–0.75), and those with high prior knowledge from low assistance (d = −0.43, 95% CI −0.65 to −0.21); heterogeneity is large. Principle: provide support when knowledge is limited, and reduce redundant support as understanding grows. It concerns instructional assistance such as worked examples and scaffolding, not delegating production tasks to AI.
• Delegation is the speaker's recommendation: delegate a step only when the task's purpose allows it and you can evaluate the result. Using a demonstration to understand a concept is a different choice from outsourcing the exercise meant to build it.
• Explore (delMas, Garfield and Chance, 1999): a classroom predict-then-test simulation activity raised correct or good reasoning about sampling distributions from 16% to 72% of items (N = 141; a different cohort's guided activity went from 22% to about 49%). Not randomized and not AI; students asking AI to build simulations is an extrapolation.
• Connect (Canning and Harackiewicz, 2015, Study 1): among less-confident students (one SD below mean confidence), writing their own reasons a math technique was useful improved performance (reported d +0.59 versus control, p = .01), while being told its usefulness did not (d −0.18, not significant). That is students generating personal reasons, not AI generating links across subjects.
• Performing is not learning (Wiles et al., 2024; revised 2026): BCG consultants using GPT-4 scored 49 percentage points higher on data-science coding steps (95% CI 42–56), but on related questions without ChatGPT there was no evidence of better knowledge (F(5, 198) = 0.83, p = .531). That is no detectable gain, not proof of exactly equal knowledge.
VISUAL STEPS
1. Why build understanding; why keep practicing; match the support. Understand: explanations, worked examples, or feedback; you compare with course materials and explain the idea in your own words.
2. Explore: visualizations and simulations; you predict, inspect the assumptions, and check the result.
3. Connect: links to other topics and your goals; you verify the connection and explain why it matters.
4. Build: tools, projects, and familiar steps; you make the decisions, test the work, and explain the result. New topic? Increase instructional support and rebuild your understanding.
TRANSCRIPT
AI use is already common at work: in May, about half of U.S. workers reported using it in their role, counting infrequent use, and nearly a third used it a few times a week or more. Remember the payroll data from the start: for twenty-two to twenty-five-year-olds in the most AI-exposed jobs, employment is about nineteen percent below where it would be had it kept pace with less-exposed jobs, mostly through fewer hires. Those data are descriptive; they do not show who keeps a job, or why. In a radiology experiment with deliberately wrong, simulated AI advice, very experienced radiologists assessed about forty-six percent of mammograms correctly, inexperienced ones about twenty percent. Experience helped, but even experts were pulled along. So build the knowledge to evaluate AI's work and direct it toward a useful result.
How? Make an attempt, then use explanation and feedback to resolve the gap: across fifty-three studies, problem solving followed by instruction built deeper conceptual understanding than instruction first. And match the support to what you know: support helps when knowledge is limited, and becomes redundant as it grows. My advice: delegate a step only when the task's purpose allows it and you can evaluate the result.
Here are four uses of AI to combine or revisit, not steps in a fixed order. Understand: ask for explanations, worked examples, or feedback, then explain the idea in your own words. Explore: use visualizations and simulations; predict, inspect the assumptions, and check. Connect: link topics to other courses and your goals, and verify the link. Build: let AI help with tools and familiar steps while you make the decisions and test the work. And whenever a topic is new, increase your support and rebuild your understanding.
TRANSITION
Connecting deserves a closer look, because the topics you might dismiss after an exam can matter far later.
CAVEATS
The four uses and the delegation advice are the speaker's instructional framework, informed by several studies (briefs below); no study validated them as a sequence, and course rules apply throughout. Visuals, connections, explanations, and worked examples are available while understanding develops; no mastery is required first (consistent with slide 7's routine: get help with the gap, then practice and check what you can do independently). Workforce evidence is descriptive. Gallup (May 2026) is self-reported, and its 52% counts infrequent use. The Stanford figure (August 2026 paper; ADP payroll through June 2026) is a relative employment shortfall for ages 22–25 in the most AI-exposed occupations compared with less-exposed ones, arising mainly from fewer hires. It is not jobs eliminated by AI, the paper did not measure retention decisions or AI-checking ability, and age groups are not measured expertise. The radiology experiment used simulated, deliberately wrong AI advice on 12 of 50 cases, with no unaided reading and experience not randomized; the outcome is the mean percentage of cases assessed in the correct BI-RADS category. These separate studies do not establish a causal chain from foundational knowledge to keeping a job; building that knowledge is the speaker's recommendation. The expertise-reversal research concerns instructional support (examples, scaffolding), not delegating production work to AI; delegation advice is the speaker's, based on the task's purpose and the student's ability to evaluate the output.
SOURCES
Gallup (July 20, 2026), Organizational AI adoption jumps six points
https://www.gallup.com/workplace/712736/organizational-adoption-jumps-six-points.aspx
Quarterly Gallup Panel survey of employed U.S. adults, May 6–20, 2026; n = 22,573; ±0.9 points. 'More than half of U.S. workers (52%) now use AI in their role, with 30% using it frequently (a few times a week or more). Fifteen percent use it daily.' The article's chart defines total users as those using AI daily, a few times a week, a few times a month, or a few times a year; Gallup's April 12, 2026 article states the threshold in its text. Self-reported; rechecked October 21, 2026.
Gallup (April 12, 2026), Rising AI adoption spurs workforce changes
https://www.gallup.com/workplace/704225/rising-adoption-spurs-workforce-changes.aspx
Quarterly Gallup Panel workforce survey, February 4–19, 2026 (23,717 employed U.S. adults; ±0.9 points). States the series' usage threshold: 'half of employed American adults say they use AI in their role at least a few times a year'; total AI users use AI daily, a few times a week, a few times a month, or a few times a year, and frequent users a few times a week or more. Its own figures are for February 2026 (50%, 28%, 13%); slide 9 cites it only for the definition. Saved October 21, 2026.
Brynjolfsson, Chandar and Chen, Canaries — August 2026 revision
https://digitaleconomy.stanford.edu/publication/canaries-in-the-coal-mine-six-facts-about-the-recent-employment-effects-of-artificial-intelligence/
ADP payroll through June 2026. From November 2022 to June 2026, employment of 22–25-year-olds fell about 11% in the two most AI-exposed occupation fifths and grew about 10% in the three least exposed: a 21-point divergence, 19% relative to the less-exposed group. Mainly fewer hires; separation rates fell. Descriptive, not causal; no measure of individual skills or retention. Some divergence before ChatGPT; weaker in national surveys.
Stanford Digital Economy Lab, AI Economic Indicators: Canaries dashboard
https://digitaleconomy.stanford.edu/project/indicators/canaries-dashboard/
Public tracker for the Canaries paper, updated monthly (last updated September 23, 2026; text snapshot saved October 13). ADP payroll, five-year balanced sample of firms; occupations grouped into fifths by Eloundou et al. (2024) AI-exposure scores, equally weighted by occupation; employment indexed to November 2022 by age group, with examples (software developers, customer service representatives, stock clerks, home health aides). Correlations in this sample, not causal effects.
Eloundou, Manning, Mishkin and Rock, GPTs are GPTs (Science, 2024)
https://doi.org/10.1126/science.adj0998
Science 384:1306–1308 (2024); saved copy is the arXiv working paper (v5, August 2023). Rates each O*NET task's exposure to LLMs with human annotators and GPT-4: a task is exposed if an LLM could cut the time to do it by at least half at equal quality. The occupation score β counts directly exposed tasks plus half of the tasks exposed only with LLM-powered software. Measures potential exposure, not adoption or job loss. The Canaries paper and dashboard use the GPT-4-based β ratings.
Dratsch et al. (2023), Automation bias in mammography (Radiology)
https://doi.org/10.1148/radiol.222176
Radiology 307(4):e222176; full text from the VU Research Portal (open copy). 27 radiologists (5 very experienced, 11 moderately experienced, 11 inexperienced) assigned BI-RADS categories to 50 mammograms with a purported AI whose suggestions were simulated and deliberately wrong on 12. Mean percentage of cases rated correctly with wrong advice: 45.5%, 24.8%, 19.8%; about 80% with correct advice. No unaided condition; experience not randomized; experience-by-advice interaction p = .11.
NACE, Job Outlook 2026: Spring Update
https://naceweb.org/docs/default-source/default-document-library/2026/publication/research-report/2026-job-outlook-report-spring-update.pdf
Employer survey; see report slides on AI skills and career readiness. 185 respondents overall; item denominators vary.
Yale Budget Lab, tracker updated August 19, 2026
https://budgetlab.yale.edu/research/tracking-impact-ai-labor-market
No clear broad labor-market footprint reported. Local copy preserves landing-page text, not the interactive application. No forecast for this audience's graduation year.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Palazzo et al. (2010), Patterns, correlates, and reduction of homework copying
https://doi.org/10.1103/PhysRevSTPER.6.010104
Observational, MIT introductory mechanics, fall 2003, N = 428. Students who copied more than half of their online homework scored 1.3 SD below low copiers on the final exam (fit: −2.42 ± 0.23 SD per 100% copied); copiers started within about a third of an SD.
Shen and Tamkin (2026), How AI Impacts Skill Formation
https://arxiv.org/abs/2601.20245
Randomized experiments; 52 analyzed participants with Python experience learning the Trio library with or without a GPT-4o assistant that could supply correct code. The AI group scored lower on the immediate quiz (d = 0.74, p = .010) without a significant speedup. Interaction-pattern clusters (n = 2–7) were observed, not randomized: heavy reliance on AI to write or debug code averaged below 40%; conceptual questions or requests for explanations averaged 65% or higher.
delMas, Garfield and Chance (1999), simulation activities and statistical reasoning
https://doi.org/10.1080/10691898.1999.12131279
Journal of Statistics Education 7(3); classroom research, not randomized. With sampling-distribution simulation software, a predict-then-test activity raised correct-or-good reasoning from 16% of pretest items to 72% of posttest items (N = 141), vs. 22% to about 49% with guided exploration (N = 89). The authors: simulations alone do not guarantee conceptual change.
Canning and Harackiewicz (2015), Teach it, don't preach it: the differential effects of directly communicated and self-generated utility-value information (Motivation Science 1(1):47–71)
https://s3.wp.wsu.edu/uploads/sites/2445/2019/09/Canning-Harackiewicz-2015-Motivation-Science.pdf
Published article (copy hosted at Washington State University; the PMC author manuscript is PMC4610746). Study 1: 88 undergraduates learned a mental-math technique and were randomized to self-generated utility value (writing how it could be useful), directly communicated utility value (shown in the slides), or control. Table 3, performance, reported d versus control at one SD below mean perceived confidence (measured after learning): self-generated +.59 (p = .01), directly communicated −.18 (p = .41). Study 2 added a combined condition the authors describe as synergistic for less-confident students. No AI was tested.
Tetzlaff et al. (2025), A cornerstone of adaptivity: a meta-analysis of the expertise reversal effect (Learning and Instruction 98:102142)
https://doi.org/10.1016/j.learninstruc.2025.102142
60 experiments, 176 effect sizes, 5,924 participants. Low-prior-knowledge learners learned more from high-assistance instruction (d = 0.505, 95% CI 0.26–0.75); high-prior-knowledge learners from low assistance (d = −0.428, 95% CI −0.65 to −0.21); large heterogeneity. Concerns instructional assistance (e.g., worked examples, scaffolding), not delegating production tasks to AI.
Wiles et al., Generative AI and the temporary upskilling of knowledge workers
https://papers.ssrn.com/sol3/papers.cfm?abstract_id=4944588
Preregistered RCT (March 2024), BCG consultants with GPT-4 on data-science tasks outside their skills. With ChatGPT, coding scores +49 percentage points (95% CI 42–56); afterwards, without AI, no better on related knowledge questions (F(5,198) = 0.83, p = .531). GPT-4 era; five items; immediate check.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what you learn to something you care about.
Planned time: 110 seconds. The PowerPoint shows complete diagrams; progressive reveals are in the React deck.
DELIVERY CUE
Open with the process: course idea, related idea beyond the course, your interest; AI is the worked example. Reveal one row at a time and name both links: how the course idea helps with the middle idea, and how that idea reaches the interest. Close with the student prompt in the band.
HOW EACH CONNECTION WORKS
• The process: a topic from a course → a related idea beyond the course → a connection to an interest. The four rows are worked examples for an interest in AI; the arrows are illustrative conceptual connections, not prerequisites, and course timing varies.
• Row 1, the chain rule → automatic differentiation → training. Automatic differentiation combines the derivatives of a program's elementary differentiable operations through the chain rule (Baydin et al., JMLR 2018); it does not differentiate every arbitrary program step. Backpropagation is reverse-mode differentiation applied to a network's loss: it computes the gradients, and an optimizer such as gradient descent uses them to update the weights. Reverse mode was described earlier (Linnainmaa 1970; Werbos 1974); Rumelhart, Hinton and Williams (Nature 1986) popularized backpropagation for training neural networks.
• Row 2, conditional probability → Markov models and n-grams → next-token prediction. A Markov model predicts the next state from the current one; for text, the recent word sequence can be the state, so an n-gram predicts a word from the previous n−1 words (Jurafsky and Martin, ch. 3). Markov (1913) classified 20,000 letters of Pushkin's Eugene Onegin as vowels or consonants and computed the probability of a vowel given the previous one or two letters. A neural language model also learns conditional next-token probabilities, P(next token | context), but estimates them with a neural network over a much longer context, not with n-gram counts. The first GPT (2018) was trained on contiguous 512-token sequences (Radford et al., §§3.1 and 4.1); that is a detail of that model, not a general GPT context limit. To learn more: MA 43200, one possible later elective, covers discrete-time Markov chains.
• Row 3, vectors and dot products → text embeddings → finding relevant passages. An embedding model represents each text as a vector; cosine similarity is the dot product of the two vectors after scaling each to length 1, so it measures whether they point the same way. Sentence-BERT made this practical for semantic search (about 5 seconds instead of 65 hours to find the most similar pair among 10,000 sentences). Some retrieval systems rank by unnormalized inner products instead: the original retrieval-augmented generation system retrieved passages by maximum inner product search (Lewis et al., 2020, §2.2). GenAI Studio Knowledge Bases retrieve passages by embedding similarity (slide 13).
• Row 4, confidence intervals and coverage → conformal prediction. A confidence interval aims to cover a fixed parameter; a conformal prediction set aims to cover a future outcome. Split conformal prediction gives coverage of at least the chosen level (e.g., 90%) marginally, averaged over calibration and test points, when they are exchangeable. It needs no parametric distribution, but the calibration assumptions still matter (Angelopoulos and Bates).
• Row 4, the research example: Quach et al. (Conformal language modeling, ICLR 2024; arXiv v2) calibrate a rule for sampling a language model's answers into a set, with filters for low-quality or redundant samples and a sampling budget. With probability at least 1 − δ over the calibration data, the chance that a new set contains no acceptable answer is at most ε. Acceptability is judged by a specified criterion during calibration and is not observed at deployment, so sampling stops by the calibrated rule, not because the system knows an answer is correct. The set contains at least one acceptable answer with that probability; it does not say which one or certify every answer. If calibration finds no valid configuration, the method abstains. It is a research procedure, not a default property of chatbot conversations.
• Courses: MA 16100/16500 (calculus of one variable), STAT 41600 (probability, including conditional probability and Bayes' theorem), MA 35100 (vector spaces and matrices), STAT 35500 (sampling distributions and confidence intervals), as placed in the 2025–26 Data Science (Statistics) suggested plan. Students' course choices and timing vary by major, route, and catalog year.
• Course check against the 2025–26 progression guides: MA 16100/16500 named in all three Data Science plans (the Statistics guides say 'Calculus I Option'); STAT 41600 and MA 35100 in all six Statistics and Data Science plans; STAT 35500 in the Data Science plans, Applied Statistics (35000 or 35500), and Statistics–Math (Statistics Honors lists STAT 35000); MA 43200 required in Statistics–Math, Statistics Honors, and Data Science (Mathematics), and a selective/elective option in Data Science (Statistics) and Data Science (CS); it is not listed in the Applied Statistics guide.
VISUAL STEPS
1. The chain rule → automatic differentiation → training a neural network: backpropagation computes gradients; an optimizer updates the weights.
2. Conditional probability → Markov models and n-grams → predicting the next token.
3. Vectors and dot products → text embeddings → finding relevant passages for an AI system.
4. Confidence intervals and coverage → conformal prediction → research example: candidate answer sets.
TRANSCRIPT
A topic from class can be the starting point for exploring something you care about. Start with the course idea, find a related topic that extends beyond what the course covers, and follow that connection into your interests. Here, I am using AI as the example. Notice the topic in the middle of each row; that is the next idea you could investigate.
The chain rule is how automatic differentiation combines derivatives, and backpropagation uses it to compute the gradients a neural network needs; an optimizer then updates the weights. Conditional probability leads to Markov models and n-grams, which predict a word from the few before it; Markov himself counted vowels and consonants in Pushkin's Eugene Onegin. A neural language model learns the same kind of probability: the next token, given its context. Vectors and dot products lead to text embeddings, which turn text into vectors, and cosine similarity compares them to rank relevant passages. And confidence intervals, with the idea of coverage, lead to conformal prediction: calibrated prediction sets with a chosen coverage level, under stated assumptions. Researchers have extended it to sets of candidate answers from a language model.
Your turn: choose one topic from a course you are taking. Find a related idea beyond the course, and explain how it connects to something you care about.
TRANSITION
AI can also help you find connections like these for your own interests.
CAVEATS
The rows are worked examples of one process, using an interest in AI. Each arrow is an illustrative conceptual connection, not a prerequisite chain, and course timing varies: course codes come from the 2025–26 Data Science (Statistics) suggested plan, and MA 43200 is one possible later elective for Markov chains. The brief below explains each link and its limits: the history of backpropagation (popularized, not introduced, in 1986); how a neural language model differs from an n-gram model, and why GPT's 512-token training sequences (2018) are not a general limit; cosine similarity versus unnormalized inner products; and what conformal guarantees do and do not promise (marginal coverage under exchangeability; Quach et al.'s (ε, δ) guarantee of at least one acceptable candidate, with no knowledge at deployment of which one). The examples show how to build a connection, not how AI works in full.
SOURCES
Purdue Data Science (Statistics) progression guide, 2025–26
https://www.purdue.edu/science/archive/docs/current-students/majors/dsst-f25-dpg1.pdf
Dated public DS Statistics plan. Data Science has separate Statistics, Computer Science, and Mathematics routes; the supporting course crosswalk distinguishes them.
Purdue Mathematics course descriptions
https://www.math.purdue.edu/academic/courses/Course-Description.html
Supports the expanded coverage of proof, analysis, further linear algebra, discrete mathematics, optimization, signals, and stochastic processes. Application connections are the speaker's synthesis; requirements differ by route.
Purdue Statistics undergraduate course descriptions, Fall 2026
https://www.stat.purdue.edu/academic_programs/undergraduate/index.php?semester=Fall&amp;year=2026
Reviewed STAT 35000, 35500, 41600, 41700 and 41800 descriptions. A listed course is not necessarily required by every plan or offered to every student.
Purdue MA 35100 Elementary Linear Algebra, Fall 2026
https://www.math.purdue.edu/academic/courses/semester/202710/ma35100/index.html
Vectors, matrices, linear systems and eigenvalues/eigenvectors. Neural-network application is the speaker's synthesis, not a promised course topic.
Baydin, Pearlmutter, Radul and Siskind (2018), Automatic differentiation in machine learning: a survey
https://jmlr.org/papers/v18/17-468.html
JMLR 18. Automatic differentiation propagates derivatives through a program per the chain rule of differential calculus; it is more general than backpropagation, which is a special case of reverse-mode AD applied to a network's error as a function of its weights.
Rumelhart, Hinton and Williams (1986), Learning representations by back-propagating errors (Nature)
https://doi.org/10.1038/323533a0
Nature 323:533–536. The paper that popularized back-propagation for training neural networks (reverse-mode differentiation had been described earlier, e.g., Linnainmaa 1970 and Werbos 1974): a backward pass applies the chain rule to propagate derivatives of the error, and the weights are adjusted by gradient descent. Saved copy is an author-hosted scan; key passages transcribed in the accompanying quotes file.
Jurafsky and Martin, Speech and Language Processing, ch. 3: N-gram language models (draft of August 19, 2026)
https://web.stanford.edu/~jurafsky/slp3/3.pdf
Markov assumption: predict the next word from the previous n−1 words. Markov (1913) used what are now called Markov chains to predict whether a letter in Pushkin's Eugene Onegin would be a vowel or a consonant, classifying 20,000 letters. Large language models are trained to predict upcoming words; transformer-based models, introduced in later chapters, estimate the probabilities differently.
Radford, Narasimhan, Salimans and Sutskever (2018), Improving language understanding by generative pre-training (OpenAI)
https://cdn.openai.com/research-covers/language-unsupervised/language_understanding_paper.pdf
The first GPT paper. Unsupervised pre-training maximizes the language-modeling likelihood Σ log P(u_i | u_{i−k}, …, u_{i−1}; Θ), where k is the size of the context window and P is a transformer network; training used contiguous sequences of 512 tokens from BooksCorpus (over 7,000 unpublished books), a detail of that 2018 model, not a general GPT context limit.
Reimers and Gurevych (2019), Sentence-BERT
https://arxiv.org/abs/1908.10084
EMNLP 2019 (arXiv 1908.10084). Sentence embeddings that can be compared using cosine similarity, making semantic similarity search practical (about 5 seconds instead of 65 hours for 10,000 sentences).
Lewis et al., Retrieval-Augmented Generation (2020)
https://arxiv.org/abs/2005.11401
Foundational retrieval-augmented generation research; retrieved context does not guarantee that generated claims are supported.
Angelopoulos and Bates, A gentle introduction to conformal prediction
https://arxiv.org/abs/2107.07511
arXiv 2107.07511v6 (December 2022). Conformal prediction wraps any pre-trained model to produce prediction sets for future outcomes with a user-chosen coverage level, such as 90%. Split conformal coverage is marginal, averaged over the calibration and test points, and requires exchangeability; no parametric distribution is assumed.
Quach et al. (2024), Conformal language modeling (ICLR 2024; arXiv 2306.10193v2)
https://arxiv.org/abs/2306.10193
Calibrates a stopping rule (with quality and diversity filters and a sampling budget) for sampling language-model outputs into a set, so that with probability at least 1 − δ over calibration the chance a new set contains no admissible answer is at most ε. Admissibility is observed only during calibration; the set does not identify which answer is admissible; the method abstains if no configuration is valid.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 to connect your courses to your goals.
Planned time: 100 seconds. The PowerPoint shows complete diagrams; progressive reveals are in the React deck.
DELIVERY CUE
Bridge from slide 10: now your own interest. Read the prompt and point to its three parts; walk the worked connection left to right and explain the middle idea. Then check, explain, follow one thread. Use the evidence panel briefly: writing your own reasons helped less-confident students; no AI was tested.
WHY EXPLAIN IT YOURSELF: EVIDENCE AND LIMITS
• Canning and Harackiewicz (2015, Motivation Science), Study 1: 88 undergraduates learned a left-to-right mental-math method for two-digit multiplication and were randomized to write how it could be useful in their own lives (self-generated utility value), to see its usefulness explained in the instructional slides (directly communicated), or to a control.
• Outcome: problems solved correctly with the method on timed problem sets right after learning, adjusting for baseline multiplication skill. Perceived confidence was a continuous measure taken after the instruction and practice (and, for the supplied-relevance group, after that information; the authors report the manipulation did not change it). It is not a baseline measure.
• Chart: Table 3's reported d values versus control, at one SD below mean confidence. Writing one's own reasons +0.59 (t(80) = 2.62, p = .01); being told −0.18 (t(80) = 0.82, p = .41, not significant). At one SD above mean confidence the reported values were +0.16 (p = .47) and +0.24 (p = .30), neither significant; nonsignificant estimates do not show that the conditions were equivalent.
• Head to head, writing one's own reasons led to better performance than being told (p = .04), more so for less-confident students (interaction p = .04).
• Study 2 added a combined condition, relevance information in the slides followed by writing one's own examples, which the authors describe as synergistic for less-confident students. So hearing relevance from someone else is not shown to be harmful when the student then writes their own.
• The worked connection: Opta's expected goals is the probability a shot is scored given its situation, from a model fitted to nearly one million shots with over 20 variables, used by clubs and broadcasters (The Analyst, 2023). 'The share of similar past cases' is the simplest way to estimate such a probability from data. MLB's published xBA, the probability a batted ball becomes a hit given exit velocity and launch angle, is another conditional-probability example.
• No study was found that tested AI-assisted connection-making; the routine is the speaker's recommendation, applying the evidence on writing about relevance and the talk's checking habits. Verify course descriptions and prerequisites in Purdue's official catalog.
TRANSCRIPT
On the last slide, AI was my example of an interest. Now use AI to explore connections to yours.
Here is a routine. First, supply real context: the course, what you covered, and your interest. For example: I'm taking STAT 41600 and we covered conditional probability; I'm interested in sports analytics; suggest two connections, each with a course idea, a related topic beyond the course, and a sports application, with sources I can check and one next step. One connection it might suggest: conditional probability leads to estimating outcome probabilities from data, and that leads to expected goals, the chance a shot is scored given its situation, used to compare scoring chances.
Second, check: open the sources and confirm they support the connection, and check courses in Purdue's catalog. Third, choose one connection and explain both links and why it matters to you. In one experiment, less-confident undergraduates who wrote how a math method could help them solved more problems right afterward than a control group; being told how it helps did not help them. That study did not test AI, but it is why I suggest writing the explanation yourself.
Fourth, follow one thread: a dataset, a short reading, a small experiment, an elective, or a question for office hours.
TRANSITION
So far, how you use AI. Now the tools themselves: what kinds exist, and which of them may see your data.
CAVEATS
The routine is the speaker's instructional recommendation; no study tested AI-assisted connection-making. It applies slide 10's three-part process to the student's own interest. Evidence: Canning and Harackiewicz (2015), Study 1, 88 undergraduates; performance means problems solved correctly with a new mental-math method right after learning. The chart shows Table 3's reported d values versus control for students one SD below mean perceived confidence, a continuous measure taken after the instruction and practice (not a baseline measure). Writing one's own reasons +0.59 (p = .01); being told −0.18 (p = .41, not significant). For more confident students neither condition differed significantly from control, which does not show they were equivalent. In Study 2, a combined condition (being told, then writing one's own examples) ameliorated the negative effect of being told for less-confident students (the authors call the combination synergistic), so hearing relevance from someone else is not shown to be harmful when the student then writes their own. Details are in the brief below. Course rules still govern AI use.
SOURCES
Purdue Statistics undergraduate course descriptions, Fall 2026
https://www.stat.purdue.edu/academic_programs/undergraduate/index.php?semester=Fall&amp;year=2026
Reviewed STAT 35000, 35500, 41600, 41700 and 41800 descriptions. A listed course is not necessarily required by every plan or offered to every student.
Whitmore (Aug. 8, 2023), What is expected goals (xG)? The Analyst (Opta / Stats Perform)
https://theanalyst.com/articles/what-is-expected-goals-xg
Opta's explainer: xG measures the quality of a chance by calculating the likelihood that it will be scored, on a 0–1 scale, using over 20 variables (distance, angle, goalkeeper position, pressure, shot type, and more) from nearly one million shots. Text snapshot saved October 13, 2026.
Canning and Harackiewicz (2015), Teach it, don't preach it: the differential effects of directly communicated and self-generated utility-value information (Motivation Science 1(1):47–71)
https://s3.wp.wsu.edu/uploads/sites/2445/2019/09/Canning-Harackiewicz-2015-Motivation-Science.pdf
Published article (copy hosted at Washington State University; the PMC author manuscript is PMC4610746). Study 1: 88 undergraduates learned a mental-math technique and were randomized to self-generated utility value (writing how it could be useful), directly communicated utility value (shown in the slides), or control. Table 3, performance, reported d versus control at one SD below mean perceived confidence (measured after learning): self-generated +.59 (p = .01), directly communicated −.18 (p = .41). Study 2 added a combined condition the authors describe as synergistic for less-confident students. No AI was tested.
MLB.com, Statcast glossary: Expected Batting Average (xBA)
https://www.mlb.com/glossary/statcast/expected-batting-average
Official MLB definition: xBA measures the likelihood that a batted ball will become a hit, based on how often comparable balls (exit velocity, launch angle, and for some batted balls Sprint Speed) have become hits since Statcast was implemented league-wide in 2015. A conditional probability used in industry. Text snapshot saved October 13, 2026.
Purdue Data Science (Statistics) progression guide, 2025–26
https://www.purdue.edu/science/archive/docs/current-students/majors/dsst-f25-dpg1.pdf
Dated public DS Statistics plan. Data Science has separate Statistics, Computer Science, and Mathematics routes; the supporting course crosswalk distinguishes them.
Purdue, AI Guidance for Teaching and Learning
https://www.purdue.edu/teaching-learning/instructors/ai.php
Course-level authorization includes assessed work and non-assessed learning activities. Checked September 10, 2026.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 what the tool can do—and what you may share.
Planned time: 120 seconds. The PowerPoint shows complete diagrams; progressive reveals are in the React deck.
DELIVERY CUE
Read the axes: ways to use AI across the top, account and hosting down the side. Walk the rows briefly; point to the Gemini API cell (billing-enabled project) and the SDK cell (instructor's tool, not Purdue's service). In the organization row, separate who can get it from what data it allows. Reveal the permitted column: public-only does not mean public chats; students' Gemini is public only; Claude Code is not yet available. Read the note: check the rules for the account you actually have.
VISUAL STEPS
1. Place each way to use AI by its account and hosting.
2. Add which data are permitted for each row.
TRANSCRIPT
You'll meet AI in many forms. Two questions sort them: what can the tool do, and which service and account does it run under? The second decides what you may share.
Across the top: chat, access from your code through an API, and an agent that uses tools and performs tasks.
Down the side: a personal hosted service, such as the ChatGPT, Claude, or Gemini apps, a personal API key, or Claude Code or Codex on a personal plan. Terms vary even there: Google treats unpaid Gemini API use differently from a billing-enabled project. Next, services your institution provides under its own accounts. Then a model your organization hosts, Purdue's GenAI Studio, with a chat, an API, and an SDK I wrote for agents. Last, a model on your own device: llama.cpp or Ollama, a local server for your scripts, and local agent software.
Now, which data are permitted? With a personal account, Purdue allows public data only; that limits what you share, it doesn't make your chats public. With an institution's service, it depends on the service and the account you actually have. Purdue's authorization list names many products, but its AI toolkit shows what students can use: Copilot Chat, signed in, for public and sensitive data, and Gemini Enterprise for public data only. OpenAI API access is on the list with no student route; Claude Code and Cowork are coming soon, for faculty and staff; ChatGPT stays public-only. GenAI Studio is open to everyone: public and sensitive data permitted, restricted data excluded, and external tools need their own approval. A fully local setup can keep inference on your device; check the endpoint and connected tools.
And a no-training promise is not a no-retention promise. Check the service and account, where your information goes, and what your institution permits.
TRANSITION
When you build with these tools, you also choose where your information lives and how the AI finds it.
CAVEATS
General guidance, not a ranking or any one employer's rules. Policies and vendor terms were checked on October 21, 2026 and change often; check them when you sign up. Purdue is the example organization, and two Purdue sources answer different questions. Authorization: the list 'Published by Purdue Systems Security - October 15, 2026' authorizes ChatGPT (with DALL-E and SORA), Microsoft Azure OpenAI, Grok, and MidJourney for public data only, and says tools not listed are public-data-only; for sensitive and public data it lists, among others, OpenAI (via API Access), Google Gemini, Anthropic's Claude models, Claude CoWork and Claude Code, Microsoft Copilot with Data Protection, Gemini Notebook, and GenAI Studio. Its conditions: sensitive or restricted data 'MUST be accessed via Purdue SSO or an equivalent', and models from OpenAI, Microsoft, Google and Anthropic 'require an Enterprise or API-level license'; so a personal subscription or an arbitrary API key does not meet them. The list names no account types or eligible users. Access: Purdue's Enterprise AI Toolkit (page last modified October 14, 2026; checked October 21, 2026) says who can get each offering and what data may be entered: Copilot Chat (Basic), everyone, public and sensitive (protected only when signed in with a Purdue account); GenAI Studio, everyone, public and sensitive, restricted not allowed; Gemini Enterprise, students, public only (sensitive not allowed); Gemini Enterprise Pro, faculty and staff, public only; Claude (Cowork and Code), faculty and staff, public and sensitive, 'Coming Soon, this tool is not yet available at Purdue'; Antigravity and frontier model access also 'Coming Soon'. Its linked handout (September 9, 2026) lists Copilot Chat, Gemini Enterprise, and GenAI Studio for classroom use by students, marks ChatGPT and Codex 'No', and lists no OpenAI enterprise agreement. Discrepancy, recorded October 21, 2026: the toolkit is more restrictive for Gemini (public only) than the authorization list (sensitive), marks Claude Code and Cowork as not yet available, and lists no OpenAI API route, while the list authorizes OpenAI API access for sensitive data. So the slide does not treat a product's appearance on the authorization list as evidence that students can use it or may enter sensitive data; availability, eligible users, and data permission are kept separate. Classifications are service-specific: the list puts Microsoft Azure OpenAI (in RCAC's Azure environment) under public data only and OpenAI API access under sensitive data. 'Public data only' is a limit on what you may enter; it does not make conversations publicly accessible. GenAI Studio: public and sensitive data permitted; restricted data, such as FERPA- or HIPAA-regulated data, excluded (RCAC and the toolkit). RCAC states that its authorization does not extend to external services called by Workspace Tools or MCP servers. The instructor's GenAI Studio SDK is a separate open-source Python package on a personal GitHub account, not a Purdue service; it runs on your computer and calls the GenAI Studio API, and its terminal agent (genai-studio agent) can run shell commands, search the web, and use connected MCP tools, which may send data outside GenAI Studio. Gemini API: Google's terms (last updated April 28, 2026) make API use a Paid Service only through a Cloud project with an active billing account; unpaid use may be read by human reviewers and used to improve Google's products. Google AI Studio counts as a Paid Service even at no charge when the account has access to a billing-enabled Cloud project or is a Workspace enterprise account, and in the EEA, Switzerland, and the UK the paid-service data terms apply to all Gemini API and AI Studio use. OpenAI's help article on data use: consumer ChatGPT (Free, Plus, Pro) content may be used for training unless you opt out (feedback can still send a whole conversation), while ChatGPT Business, Enterprise, Edu, and the API are not used by default; the live article returned HTTP 403 on October 21, so its text was checked from an Internet Archive capture of October 19, 2026. No training is not no retention: OpenAI keeps API abuse-monitoring logs for up to 30 days; Anthropic keeps consumer chats 30 days, or up to five years if you allow training; Google keeps human-reviewed Gemini chats up to three years. Anthropic consumer users choose whether chats train its models; Microsoft says Copilot with enterprise data protection does not train foundation models on prompts (now named Microsoft Copilot, like the consumer app, so check the sign-in). Gemini CLI is not shown in the personal row because its consumer route changed: on June 18, 2026, Google stopped serving Gemini Code Assist for individuals and the Google AI Pro and Ultra tiers in Gemini CLI and its IDE extensions, including access through personal Google sign-in, and pointed those users to the Antigravity CLI. Gemini CLI itself continues: Google says it remains available with paid Gemini API keys and its enterprise platform, and organizations' Code Assist Standard and Enterprise licenses follow a separate schedule. Ollama documents tool calling with an agent loop, and local-only mode turns off its cloud models and web search; a fully local setup can keep inference on your device, but a configured endpoint or connected tool can still send data elsewhere. Documentation differences, unresolved: the authorization list describes GenAI Studio as 'excluding FERPA', while RCAC and the toolkit exclude all restricted data (the slide follows RCAC and the toolkit); the list puts 'Google Antigravity (formerly Agentspace)' under sensitive data, while the toolkit lists Antigravity as coming soon for public data only, and Google describes it as Gemini CLI's successor; RCAC's pages did not respond on October 21, so their text was checked in RCAC's official documentation repository (no change since September 29).
SOURCES
Purdue, Enterprise AI Toolkit: compare Purdue's AI tools and licenses (page last modified October 14, 2026)
https://www.purdue.edu/ai/enterprise-ai-toolkit/
Says who can get each Purdue offering and the highest data classification it accepts. Copilot Chat (Basic): everyone; public and sensitive allowed, restricted not allowed; protected only when signed in with a Purdue account. GenAI Studio: everyone; public and sensitive allowed, restricted not allowed. Gemini Enterprise: students; public allowed, sensitive and restricted not allowed. Gemini Enterprise Pro: faculty and staff; public only. Claude (Cowork and Code): faculty and staff; public and sensitive; 'Coming Soon, this tool is not yet available at Purdue'. Antigravity (public only) and frontier model access: coming soon. GitHub Copilot: everyone; public and sensitive; usage-based through a department account. 'No tool checks a classification before it accepts a prompt.' Checked October 21, 2026; more restrictive for Gemini than the October 15 authorization list.
Purdue Systems Security, Purdue University authorized AI tools and integrations (October 15, 2026)
https://www.purdue.edu/ai/wp-content/uploads/2026/10/AITools.pdf
Official list 'Published by Purdue Systems Security - October 15, 2026' (checked October 21, 2026). Public data only: OpenAI (ChatGPT, DALL-E, SORA), Microsoft Azure OpenAI, x.ai (Grok), MidJourney; 'Other University tools not listed are still authorized for public data only use.' Sensitive and public data, among others: OpenAI (via API Access); Google Gemini; Anthropic (Claude, Haiku, Sonnet, etc.); Anthropic (Claude CoWork, Claude Code); MS Copilot with Data Protection (Purdue Microsoft 365 tenant); Google Gemini Notebook; JetBrains IDE; GenAI Studio ('Configured to accept Sensitive Data, excluding FERPA'). Notes: sensitive or restricted data 'MUST be accessed via Purdue SSO or an equivalent'; models from OpenAI, Microsoft, Google and Anthropic 'require an Enterprise or API-level license to gain the necessary legal protections for Sensitive or Restricted data'; account types are not named. Changes from May 2026: Gemini and Claude moved from public-only to sensitive, and Claude Code/CoWork and OpenAI API access were added. The May list is saved alongside.
Purdue, AI Tools at Purdue: availability by provider (handout, September 9, 2026)
https://www.purdue.edu/ai/wp-content/uploads/2026/09/purdue_ai_tools.pdf
The toolkit's linked handout. Products by provider, who can get them, and status: Copilot Chat (Basic), everyone, available; Gemini Enterprise, students, on request; Claude Cowork and Claude Code, faculty and staff, coming (Claude Code 'arrives with the Claude Enterprise pilot'); ChatGPT and Codex, 'No'; enterprise agreements: Microsoft in place, Google rolling out, Anthropic pilot signed, OpenAI none. Classroom teaching (students): Copilot Chat, Gemini Enterprise, GenAI Studio. Older than the October 15 authorization list.
Purdue RCAC, GenAI Studio overview and data classification (updated September 29, 2026)
https://docs.rcac.purdue.edu/services/genai/
'GenAI Studio is authorized for use with public and sensitive data (L2), as defined in Purdue's Data Classification and Handling Procedures. It is not authorized for restricted data, including data regulated by FERPA or HIPAA.' 'An external service called by a Workspace Tool, or an MCP server, may receive tool arguments or conversation context outside GenAI Studio. GenAI Studio's authorization does not extend to these external integrations.' Purdue-managed; content is not used to train the hosted models; a pilot with limited safety measures. On October 21, 2026 the live page did not respond; RCAC's official documentation repository (PurdueRCAC/RCAC-Docs) showed no change since its September 29 'GenAI data classification update', and its source is saved alongside (2026_rcac_genai_overview_source.md).
Purdue GenAI Studio: sign in (genai.rcac.purdue.edu)
https://genai.rcac.purdue.edu/
The official sign-in page for Purdue GenAI Studio (Purdue SSO through CILogon), linked from RCAC's GenAI Studio documentation and listed in Purdue's AI tools handout; the saved copy is RCAC's overview page, which links to it. The page did not respond from the build machine on October 21, 2026; sign in from a browser on Purdue's network or with your Purdue account.
GenAI Studio SDK, the instructor's Python package (GitHub)
https://github.com/treese41528/genai-studio-sdk
Open-source (MIT) Python SDK for Purdue's GenAI Studio gateway, written by the speaker and published on a personal GitHub account; not a Purdue or RCAC service. It runs on your computer and calls the GenAI Studio API: chat, embeddings, retrieval, and a tool-using agent framework. Its terminal agent, 'genai-studio agent', can read and edit code, run shell commands, search the web and arXiv, and use connected MCP tools, with approvals for risky actions and read-only, workspace-write, or full-access sandbox modes. Data sent to such tools leaves GenAI Studio, and RCAC states that GenAI Studio's authorization does not extend to external integrations. README rechecked October 21, 2026 (unchanged since July 3).
Purdue RCAC, GenAI Studio API guide (updated September 29, 2026)
https://docs.rcac.purdue.edu/services/genai/api/
OpenAI-compatible chat-completions requests with GenAI Studio's own base URL, model IDs and limits. Keep the key in an environment variable; 20 requests per minute per user; structured output differs by serving backend; custom models carry attached Knowledge Bases through the API. Model list checked through the API on October 12, 2026 (dozens of open-weight models, including gpt-oss, Qwen, Gemma, Llama and DeepSeek families).
Purdue RCAC, GenAI Studio chat interface (updated September 29, 2026)
https://docs.rcac.purdue.edu/services/genai/chat-interface/
One prompt can go to several models side by side; temperature and a system prompt can be set for a chat; one-time attachments differ from reusable Knowledge Bases.
OpenAI Help Center, How your data is used to improve model performance
https://help.openai.com/en/articles/5722486-how-your-data-is-used-to-improve-model-performance
Services for individuals (Free, Plus, Pro): 'we may use your content to train our models'; opt out under Settings &gt; Data controls or in the Privacy Portal; feedback can still send the whole conversation for training; temporary chats are not used while they remain temporary. Business services: 'By default, we don’t use inputs or outputs from ChatGPT Business, ChatGPT Enterprise, ChatGPT Edu, or our API to improve our models.' The article does not state retention periods; OpenAI's API data-controls page keeps abuse-monitoring logs for up to 30 days. The live page returned HTTP 403 on October 21, 2026; the saved text is from an Internet Archive capture of October 19, 2026.
Anthropic (Aug. 28, 2025), Updates to consumer terms and privacy policy
https://www.anthropic.com/news/updates-to-our-consumer-terms
Claude Free, Pro, and Max users (including Claude Code with those accounts) choose whether their data is used to improve Claude; retention extends to five years if they allow it, and stays at 30 days if they do not. Does not apply to services under Commercial Terms: Claude for Work, Government, Education, or API use. Anthropic's privacy center adds that chats flagged for safety review may be used for safety work. Rechecked October 21, 2026.
Google, Gemini Apps Privacy Hub (last updated October 19, 2026)
https://support.google.com/gemini/answer/13594961
Consumer Gemini apps: 'Human reviewers (including trained reviewers from our service providers) review some of the data we collect... Please don't enter confidential information that you wouldn't want a reviewer to see or Google to use to improve our services.' Reviewed chats are kept for up to three years even if you delete your activity. Work or school Google Accounts may be subject to different data-handling terms. Rechecked October 21, 2026.
Google, Gemini API Additional Terms of Service (last updated Apr. 28, 2026)
https://ai.google.dev/gemini-api/terms
Unpaid Services (e.g., unpaid quota in the Gemini API, direct interactions with Google AI Studio): content may be used to provide, improve, and develop Google products; human reviewers may read API input and output; 'Do not submit sensitive, confidential, or personal information to the Unpaid Services.' Paid Services: 'Your access to Gemini API is a "Paid Service" only when accessing the API through a Cloud Project associated with an active billing account'; prompts and responses are not used to improve Google's products and are logged for a limited time to detect policy violations. Google AI Studio counts as a Paid Service even when offered free of charge if the account has access to a Cloud Project with an active billing account or is a Workspace enterprise account. In the EEA, Switzerland, and the UK, the paid-service data terms apply to all Services. Rechecked October 21, 2026 (no substantive change since October 13).
Microsoft Learn, Enterprise data protection in Microsoft Copilot and Copilot Chat (updated Aug. 18, 2026)
https://learn.microsoft.com/en-us/microsoft-365/copilot/enterprise-data-protection
Organizational use is covered by Microsoft's Data Protection Addendum and Product Terms; 'the prompts, responses, and data accessed through Microsoft Graph aren't used to train foundation models.' Applies to eligible work and school accounts, shown by a green shield in Copilot Chat. Microsoft 365 Copilot is now named Microsoft Copilot, the same name as the consumer app, so check the sign-in. Rechecked October 21, 2026.
Anthropic, Claude Code overview
https://code.claude.com/docs/en/overview
Vendor documentation retrieved October 12, 2026: an agentic coding assistant that reads a codebase, edits files and runs commands from the terminal, IDE, desktop or web. Most surfaces require a Claude subscription or Anthropic Console account.
OpenAI, Codex CLI
https://learn.chatgpt.com/docs/codex/cli
Vendor documentation retrieved October 12, 2026 (developers.openai.com now redirects to learn.chatgpt.com): a terminal agent that inspects, edits and runs code in a local repository; recommends Git checkpoints before and after a task.
OpenAI, Codex pricing (October 2026)
https://learn.chatgpt.com/docs/pricing
Free tier in the desktop app (subject to rollout), paid plans, or API-key usage. Plans change often; dated context only.
ggml-org, llama.cpp
https://github.com/ggml-org/llama.cpp
MIT-licensed local inference for open-weight models on CPUs and GPUs, with quantization and an OpenAI-compatible server. What runs well depends on the hardware and the model.
Ollama documentation, FAQ
https://docs.ollama.com/faq
Serving software with local and cloud options. 'Ollama runs locally. We don’t see your prompts or data when you run locally.' Cloud-hosted models and web search send prompts to Ollama's servers ('we process your prompts and responses to provide the service but do not store or log that content and never train on it'); local-only mode ('disable_ollama_cloud' in server.json or OLLAMA_NO_CLOUD=1) turns off cloud models and web search. Checked September 10, October 13, and October 21, 2026 (same statements).
Ollama documentation, Tool calling
https://docs.ollama.com/capabilities/tool-calling
'Ollama supports tool calling (also known as function calling) which allows a model to invoke tools and incorporate their results into its replies'; a multi-turn agent loop lets the model decide when to call tools. In the examples the model is served at localhost and the user's own script runs the tools. Checked October 21, 2026.
Google, Gemini Code Assist consumer accounts: deprecation (last updated October 9, 2026)
https://developers.google.com/gemini-code-assist/docs/deprecations/code-assist-individuals
'Starting June 18, 2026, Gemini Code Assist IDE extensions stopped serving requests for the Gemini Code Assist for individuals, Google AI Pro, and Google AI Ultra tiers. This also applies to usage of Gemini CLI. As part of the deprecation, you can no longer use the Login with Google option to access the IDE extensions or Gemini CLI.' Consumer users are directed to the Antigravity family of products. Checked October 21, 2026.
Google, Gemini CLI (GitHub repository README)
https://github.com/google-gemini/gemini-cli
Google's open-source (Apache 2.0) terminal agent. Consumer access changed on June 18, 2026: Gemini CLI no longer serves Gemini Code Assist for individuals, Google AI Pro, or Google AI Ultra, including access through personal Google sign-in ('Login with Google'), and those users are directed to the Antigravity CLI (Google's deprecation notice, updated October 9, 2026; README banner added October 16, 2026). Google says Gemini CLI remains available through paid Gemini API keys and its enterprise agent platform; the repository's authentication docs still describe personal sign-in. Removed from slide 12 on October 21, 2026; the October 13 README snapshot is saved.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 the question to the source and the tool.
Planned time: 140 seconds. The PowerPoint shows complete diagrams; progressive reveals are in the React deck.
DELIVERY CUE
Left: one question, real scores. The top passage uses different words and still ranks first; the dashed line marks the top 3 selected as candidate context; a score is not a probability of answering. Right: read the question, then the query down, one condition per stage, 4,194 to 122: TV-news task, passed the AI screen, no extraction warning flagged, reported support; each condition is a decision. Then the red box: the closest passage to a counting question is a definition, not a total. Land on the takeaway: the codebook for meaning, the records for quantities.
VISUAL STEPS
1. Semantic retrieval: rank codebook passages by cosine similarity; the top 3 are selected as candidate context.
2. SQL: filter the released results by stated conditions and count the matching records, 4,194 to 122.
3. Wrong source and operation: the closest passage to a counting question is a definition, not a total.
TRANSCRIPT
Different questions need different sources and different operations. Here are two operations on two real sources.
On the left, semantic retrieval over the soccer study's codebook, the document that explains its variables. Each passage, and my question, becomes an embedding, a list of numbers, and the passages are ranked by cosine similarity, the dot-product idea from earlier. I ran this on my own computer with a small open model; it is a demonstration, not GenAI Studio. I asked how skin tone was measured. The top passage never says "measure"; it says players were "coded by two independent raters," and it still ranks first. The top three are selected as candidate context for a model to read. A similarity score is not the probability that a passage answers your question, so you still read what comes back.
On the right, a SQL query over the AI study's released results answers one precise question: how many runs on the TV-news task passed the AI screen, had no extraction warning flagged, and reported support? Start with 4,194 records. Keep the TV-news task: 1,270. Keep the runs that passed the AI screen, with auditor verdicts Compliant or Minor issues: 700. Drop the twelve runs flagged with an extraction warning: 688. Count those that reported support: 122. The query counts records satisfying the stated conditions, and every condition is a decision you make and can state.
Now ask retrieval the wrong kind of question: how many red cards were given in total? The top match, with the highest score on this slide, is the definition of the red-card variable. A relevant definition is not a total, and this codebook doesn't contain the records needed to calculate one. That takes the data, plus decisions about which players and seasons count and whether a second yellow card counts as a red.
So use the codebook to understand the variables, and use the records to calculate the quantity. Real systems often combine both operations. You choose which one your question needs, and you check what comes back.
TRANSITION
Agents can choose among operations like these and act on your files, so decide what they are allowed to do.
CAVEATS
Two operations on two different sources; real systems often combine them, so they are not exclusive kinds of tool. Left, the soccer study's codebook: a local embedding demonstration, separate from GenAI Studio. The codebook (the copy pinned in the Bertran, Fogliato and Wu repository at commit d489f03, SHA-256 926e289e…, identical to the saved copy) was split into its four paragraphs and 27 variable descriptions, one passage each, and embedded with the open Sentence-Transformers model all-MiniLM-L6-v2 (revision 1110a24; mean pooling, unit-length vectors) by codebook_retrieval.py; the scores are in soccer_codebook_retrieval.json (both linked below). Rerun October 21, 2026 with the saved and the pinned codebook: identical scores. Shown: skin-tone paragraph 0.67, rater2 0.52, rater1 0.51, meanExp 0.40, bias-measures paragraph 0.35; the other 26 scored lower (lowest, refNum 0.07). Cosine similarity measures how close two embeddings are; it is not the probability that a passage answers the question. 'Top 3' is a setting chosen for this example: those passages are selected as candidate context, and what a system does with the others depends on its design. GenAI Studio's Knowledge Bases use EmbeddingGemma 300M and their own chunking, so their scores would differ; no GenAI Studio Knowledge Base was created or queried. Retrieval quality and answer faithfulness need separate checks. Right, a different source: the AI study's released run-level results for the TV-news task (results.csv at commit d489f03; 4,194 rows; SHA-256 verified), queried with its real column names in tvnews_sql_funnel.sql (linked below). Import: every column TEXT as released, so the flags are the strings 'True' and 'False' (SQLite's TRUE is the integer 1 and matches none of them). Conditions: dataset = 'sample_anes-inconsistent-views' (1,270); sonnet_verdict IN ('Compliant', 'Minor issues') (700); COALESCE(warning, 'False') &lt;&gt; 'True' (688); hypothesis_supported = 'True' (122). 'Passed the AI screen' in the question means these two auditor categories, the same definition as slide 4; passing the auditor is not a demonstration of correctness. Warning values among the 700: 687 False, 12 True, 1 blank. Stated policy for 'no extraction warning flagged': keep runs whose warning is not 'True', so the blank is kept. COALESCE treats a missing warning as not flagged: if blanks are imported as NULL, a bare warning &lt;&gt; 'True' would silently drop the blank (687); the script gives the same counts in the sqlite3 shell (blanks as '') and in Python's sqlite3 (blanks as NULL; bertran2026_sql_count.json). Text comparison is case-sensitive in this implementation (SQLite's default BINARY collation): 'compliant' in lowercase matches 0 rows; other databases and collations can differ. Red cards: the codebook defines redCards as the 'number of red cards player received from referee' but contains no records. The soccer data are 146,028 player–referee pairs with counts accumulated over each player's encounters with that referee, so a total needs summing over pairs, a defined population (which players, leagues, and seasons), and a decision on second-yellow dismissals, recorded separately as yellowReds. The red-card question's top three were redCards (0.80), yellowReds (0.67), and yellowCards (0.62); none contains a total. The GenAI Studio tools-and-database guide gives the same rule: exact lookups belong in parameterized SQL; semantic retrieval finds reference passages when wording varies. The reproducibility files are published with the website's data folder; their links resolve once the website is published.
SOURCES
sentence-transformers, all-MiniLM-L6-v2 model card (Hugging Face)
https://huggingface.co/sentence-transformers/all-MiniLM-L6-v2
Open Sentence-Transformers model (Apache 2.0) that maps sentences and paragraphs to a 384-dimensional vector space for semantic search; fine-tuned with a contrastive objective on over 1 billion sentence pairs; input longer than 256 word pieces is truncated. Used on slide 13 to compute cosine similarities between the soccer codebook's 31 passages and two questions (revision 1110a24; codebook_retrieval.py, linked on slide 13; rerun with identical scores October 21, 2026). Model card saved October 13, 2026.
Soccer-study codebook (Silberzahn et al.), pinned copy in the Bertran, Fogliato and Wu repository (commit d489f03)
https://raw.githubusercontent.com/amazon-science/agentic-forking-path/d489f03b143fcaa9befb8cc443594ff63ec61eaa/data/soccer/codebook.txt
Documentation for the crowdsourced soccer data: four paragraphs (data sources, skin-tone ratings by two raters, bias measures) and 27 variable descriptions. It defines variables such as redCards ('number of red cards player received from referee') but contains no records. Stored in the repository as codebook.txt, an RTF document; SHA-256 926e289e…, identical to the saved copy (checked October 21, 2026).
Retrieval scores for slide 13: soccer_codebook_retrieval.json (this talk)
https://treese41528.github.io/ComputationalDataScience/AI_First_Year/data/soccer_codebook_retrieval.json
Output of codebook_retrieval.py: each passage's cosine similarity and rank for 'How did they measure players' skin tone?', with the top 3 marked as selected candidate context, and the top 3 for 'How many red cards were given in total?' (redCards 0.80, yellowReds 0.67, yellowCards 0.62). Records the model revision, weights hash, codebook URL and hash, and library versions.
Retrieval script for slide 13: codebook_retrieval.py (this talk)
https://treese41528.github.io/ComputationalDataScience/AI_First_Year/data/codebook_retrieval.py
Splits the soccer-study codebook into 31 passages (four paragraphs, 27 variable descriptions), embeds them and two questions with all-MiniLM-L6-v2 (revision 1110a24; weights checked by SHA-256), ranks passages by cosine similarity, and selects the top 3 as candidate context. A local demonstration, separate from GenAI Studio. Rerun October 21, 2026 with the saved and the pinned codebook: identical scores.
Bertran, Fogliato and Wu: released run-level results (GitHub, commit d489f03)
https://github.com/amazon-science/agentic-forking-path/tree/d489f03b143fcaa9befb8cc443594ff63ec61eaa/experiment_data
Authors' release of run-level results at commit d489f03 (results.csv: 4,194 rows, one per run with a final analysis; the README says runs without one are excluded and describes 4,196 runs; the paper reports 4,946 runs in total). SHA-256 verified; README, LICENSE, and NOTICE saved alongside. The TV-news slide shows support rates for the 1,270 anes-views runs before screening and the 700 that passed the AI screen (its earlier plot of 688 extracted estimates was removed on October 21; see its notes); slide 13 counts 688 of those 700 with SQL; the soccer slide counts 611 soccer runs. Each run's code, report, and transcript are in experiment_data/workspaces.
SQL script for slide 13: tvnews_sql_funnel.sql (this talk)
https://treese41528.github.io/ComputationalDataScience/AI_First_Year/data/tvnews_sql_funnel.sql
Runs in the sqlite3 shell on the released results.csv (commit d489f03; download URL and SHA-256 in the header). Documents the import schema (every column TEXT; flags are the strings 'True' and 'False'), the inclusion policy for the warning flag (a missing warning counts as not flagged; COALESCE(warning, 'False') keeps the one blank whether stored as '' or NULL), and case-sensitive comparison. Prints the slide's count (122), each stage (4,194; 1,270; 700; 688; 122), and the warning values among the 700 (687 False, 12 True, 1 blank).
SQL counts for slide 13: bertran2026_sql_count.json (this talk)
https://treese41528.github.io/ComputationalDataScience/AI_First_Year/data/bertran2026_sql_count.json
Written by extract_bertran_anes.py, which loads the four columns into Python's sqlite3 (empty fields as NULL), applies the same conditions, checks the result against the sqlite3-shell script, and records the stage counts, the warning values, and the lowercase check (0 rows).
Silberzahn et al., crowdsourced soccer data and codebook (OSF)
https://osf.io/fv8c3/
Original many-analyst dataset: all 2,053 players in the first male divisions of England, Germany, France, and Spain in the 2012–13 season; all 3,147 referees they played under in their professional careers; 146,028 player–referee dyads with matches together and red cards; skin tone rated from profile photos (1,586 players) by two raters blind to the question on a 5-point scale. Codebook copy from the Bertran, Fogliato and Wu repository (commit d489f03).
Reimers and Gurevych (2019), Sentence-BERT
https://arxiv.org/abs/1908.10084
EMNLP 2019 (arXiv 1908.10084). Sentence embeddings that can be compared using cosine similarity, making semantic similarity search practical (about 5 seconds instead of 65 hours for 10,000 sentences).
Lewis et al., Retrieval-Augmented Generation (2020)
https://arxiv.org/abs/2005.11401
Foundational retrieval-augmented generation research; retrieved context does not guarantee that generated claims are supported.
Purdue RCAC, GenAI Studio Workspace and Knowledge Bases
https://docs.rcac.purdue.edu/services/genai/workspace/
Knowledge Bases are document collections prepared with EmbeddingGemma 300M for semantic search and retrieval; custom models attach them for retrieval-augmented generation.
GenAI Studio capability guides (implementation notes, September 14, 2026)
Purdue_GenAI_Studio/index.html
Seven guides: access, structured extraction, Knowledge Bases, retrieval, tools and database lookups, evaluation, and a review interface. Their rule: exact lookups belong in SQL; similarity retrieval suggests candidates. Examples are teaching adaptations; the pages did not run authenticated calls.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coding agents act only within limits you set.
Planned time: 150 seconds. The PowerPoint shows complete diagrams; progressive reveals are in the React deck.
DELIVERY CUE
Read the definition, then the key idea: the agent proposes, software enforces. Step 2: walk the three rows: runs, asks, blocked; asking has an approval path, blocking does not; these are rules you set, not defaults. Step 3: injection can redirect the agent and misuse allowed actions (an unwanted edit inside the project); then the two checks, before approving and afterward. Land the band: set permissions, check actions, follow course rules.
VISUAL STEPS
1. What the agent proposes: read files, modify a file, contact an external service.
2. How the configured permissions produce run, ask, or block.
3. How untrusted content can redirect an agent, and what you check before and after.
TRANSCRIPT
Now the tools that act. A coding agent can choose tool actions, like reading files, changing code, or running commands, and use the results to decide what to do next. Claude Code and Codex are examples. The key idea: the agent proposes actions; software enforces the permissions.
Here is one illustrative configuration. These are rules you or your organization set, not defaults that every tool shares. The agent proposes three things. Read files in the selected project: allowed, so it runs. Modify a project file: approval required, so it asks, and you approve or decline. Contact an external service that isn't approved: not permitted, so it's blocked. Asking and blocking are different. An action that asks has an approval path; a blocked action is prohibited under the active policy, however the agent asks. Some tools can also send approval requests to another model instead of to you, so know which mode you are in.
Why does this matter? Prompt injection. Instructions inside an untrusted web page or file can try to redirect the agent, and they don't need to be hidden; the model only has to read them. Permissions still decide what can run, but an attack can misuse actions you already allowed. If edits inside the project are allowed, an injected instruction could produce an unwanted edit right there. OWASP describes an illustrative scenario: a web page being summarized carries instructions that make the AI leak a private conversation.
So check at two points. Before approving: what will it read, change, run, or send? Afterward: inspect the changes, test a result you expect, and keep a checkpoint you can return to. If something looks wrong, go back to that checkpoint.
Set the permissions before you start, check the agent's actions, and for coursework, follow your course's rules.
TRANSITION
With those limits in place, you are ready to try one of these tools yourself.
CAVEATS
Illustrative configuration, not any product's defaults and not an executed demonstration: no agent was run for this slide. Asks versus blocked: an action that asks has an approval path; a blocked action stays prohibited under the active policy (for example, a deny rule, a network allowlist that omits the service, or a policy that never prompts, such as Codex with approvals set to never or Claude Code's dontAsk mode). Approval requests need not go to a person: Codex can route them to a reviewer agent (auto_review), and Claude Code's Auto mode uses a classifier model. That is automated review, not human approval; enforcement is still done by software. Product details from official documentation, checked October 21, 2026. Codex: the sandbox mode sets what Codex can technically do when it runs model-generated commands (where it can write, whether commands reach the network), and the approval policy sets when it must stop and ask; 'By default, the agent runs with network access turned off.' In its Auto preset for version-controlled folders (workspace-write with on-request approvals), it can read, edit, and run commands in the working directory without asking, and asks before editing outside the workspace or running commands that need network access. The command network restriction does not filter web search, app or connector tool calls, MCP server connections, or the client's own model requests, which follow their own settings; Codex no longer supports the 'untrusted' approval policy. Claude Code: with v2.1.283 or later, interactive terminal and VS Code sessions start in Auto mode, where a second model, a classifier, reviews actions instead of you (on earlier versions, only on Pro, Max, and Team plans); non-interactive runs (claude -p) and the Agent SDK start in Manual mode, as does any session where Auto mode is unavailable. Manual mode (configuration value 'default') starts read-only and asks before editing files, running tests, or executing commands, except a built-in set of read-only commands (such as ls, cat, and git status) and actions you previously allowed ('Yes, and don't ask again' lasts per repository and command for Bash, and for the session for edits). Its optional sandbox, off by default, covers shell commands and the processes they start; Claude's file tools, MCP servers, hooks, and web tools run outside it and follow permission rules. 'Permission rules are enforced by Claude Code, not by the model.' Network limits do not mean the model runs locally: both tools send prompts and model outputs to the vendor's model service. Prompt injection: OWASP's LLM01:2025 says injections 'do not need to be human-visible/readable, as long as the content is parsed by the model'; its Scenario #2, a summarized web page whose instructions make a model leak a private conversation, is listed among example attack scenarios and is presented here as an illustration, not a documented incident or an independent security test. OWASP notes that fool-proof prevention is unclear and recommends human approval for high-risk actions. The learning-cost study shown on this slide before October 21 (Shen and Tamkin) is discussed earlier in the talk and is no longer repeated here.
SOURCES
OpenAI, Codex agent approvals and security (ChatGPT Learn)
https://learn.chatgpt.com/docs/agent-approvals-security
Sandbox mode ('what Codex can do technically ... when it executes model-generated commands') versus approval policy ('when Codex must ask you before it executes an action'). 'By default, the agent runs with network access turned off.' Auto preset (workspace-write, on-request): reads, edits, and runs commands in the working directory automatically; asks before editing outside the workspace or running commands that need network access. The command network proxy does not filter web search, app or connector calls, MCP connections, or the client's model requests. Approval requests route to the user by default, or to a reviewer agent with auto_review; the 'untrusted' policy is retired. Checked October 21, 2026; vendor documentation, not a security test.
Anthropic, Claude Code security
https://code.claude.com/docs/en/security
With Claude Code v2.1.283 or later, Auto mode is the built-in starting permission mode for interactive terminal and VS Code sessions, with a classifier model, not a person, reviewing actions (claude -p and Agent SDK runs start in Manual); Manual mode 'starts with read-only permissions. When it needs to edit files, run tests, or execute commands, it asks you first', and runs a built-in set of read-only commands without asking. In Manual mode most tools that make network requests require approval. Notes that no system is completely immune to attacks. Checked October 21, 2026; vendor documentation, not an independent evaluation.
Anthropic, Claude Code: choose a permission mode
https://code.claude.com/docs/en/permission-modes
'With Claude Code v2.1.283 or later, auto mode is the built-in starting permission mode for interactive terminal and VS Code sessions. On earlier versions, it's the built-in starting permission mode only on Pro, Max, and Team plans.' In auto mode 'a second model, the classifier, reviews actions instead of you.' claude -p and Agent SDK runs start in default (Manual) mode; a session starts in Manual when auto mode is unavailable. Checked October 21, 2026.
OpenAI, Codex sandbox (ChatGPT Learn)
https://learn.chatgpt.com/docs/sandboxing
'The sandbox defines technical boundaries. The approval policy decides when the agent must stop and ask before crossing them.' The sandbox applies to spawned commands, not only to built-in file operations; modes are read-only, workspace-write (the default for local work), and danger-full-access. Checked October 21, 2026.
Anthropic, Claude Code sandboxing
https://code.claude.com/docs/en/sandboxing
'The sandbox covers shell commands only. Claude's file tools, MCP servers, and hooks run outside it.' 'The sandbox is off by default.' Restricts the network to allowed domains and limits reads and writes for shell commands; the OS-enforced boundary holds regardless of what the model chose to run; not a complete isolation boundary. Checked October 21, 2026.
Anthropic, Claude Code permissions
https://code.claude.com/docs/en/permissions
'Permission rules are enforced by Claude Code, not by the model.' Modes include default (Manual), acceptEdits, plan, auto, dontAsk, and bypassPermissions; read-only commands run without a prompt in every mode; 'Yes, and don't ask again' persists per repository and command for Bash and until session end for edits. Checked October 21, 2026.
OWASP GenAI Security Project, LLM01:2025 Prompt Injection
https://genai.owasp.org/llmrisk/llm01-prompt-injection/
Prompt injections 'do not need to be human-visible/readable, as long as the content is parsed by the model'; indirect injections arrive through external sources such as websites or files. Example attack scenario #2: summarizing a web page with hidden instructions leads to exfiltration of the private conversation. 'It is unclear if there are fool-proof methods of prevention'; recommends human approval for high-risk actions. Checked October 21, 2026.
OpenAI, Codex CLI
https://learn.chatgpt.com/docs/codex/cli
Vendor documentation retrieved October 12, 2026 (developers.openai.com now redirects to learn.chatgpt.com): a terminal agent that inspects, edits and runs code in a local repository; recommends Git checkpoints before and after a task.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one new way to use AI this semester.
Planned time: 110 seconds. The PowerPoint shows complete diagrams; progressive reveals are in the React deck.
DELIVERY CUE
Offer the three routes as choices, not requirements. Stress the API key and the data rules. Then the statistician’s test. End with the pointers: CS/SCI 173 now, Chapter 6 later.
TRANSCRIPT
You do not have to wait for an internship. Pick one route and try it on something small.
In GenAI Studio, send one prompt to two models side by side and compare them. Then send the same prompt from a short Python script through the API. Keep your API key in an environment variable, never in your code, and check that the current rules fit the data you plan to use.
Or run a small open-weight model on your own computer with Ollama or llama.cpp. You will learn what your hardware can handle and how an application talks to a model.
Or try a coding agent on a personal project, with approvals on, reading every change. Some have free tiers; most capable use requires a subscription.
Whatever you try, test it like a statistician: write ten or twenty questions whose answers you can check, run each a few times, and record the model, date, and settings. That small evaluation is a skill employers value.
Where next? Remember the AI working competency your class needs to graduate; in the College of Science, the course is CS/SCI 173. When you are ready to go deeper, Chapter 6 of the Computational Data Science text covers embeddings, retrieval, tool use, and evaluation for data science.
TRANSITION
Trying a tool is a start. A project you care about can take you further.
CAVEATS
Service documentation rechecked October 12, 2026 (RCAC pages updated September 29). Log in at genai.rcac.purdue.edu: sign in through CILogon, choose Purdue University Main Campus, and complete Purdue SSO; access requires a valid Purdue account. GenAI Studio's API allows 20 requests per minute per user; structured output uses response_format for vLLM-backed models and format for Ollama-backed models. Ollama also has cloud options; llama.cpp serves an OpenAI-compatible API locally. Coding-agent plans and free tiers change often. The AI competency requirement applies from the fall 2026 incoming class; course options vary by college and plan of study. The GenAI Studio SDK and capability guides are optional follow-up materials for students who want to build. The evaluation advice (small checkable sets, repeated runs, recorded settings) is the speaker's synthesis.
SOURCES
Purdue RCAC, GenAI Studio overview and data classification (updated September 29, 2026)
https://docs.rcac.purdue.edu/services/genai/
'GenAI Studio is authorized for use with public and sensitive data (L2), as defined in Purdue's Data Classification and Handling Procedures. It is not authorized for restricted data, including data regulated by FERPA or HIPAA.' 'An external service called by a Workspace Tool, or an MCP server, may receive tool arguments or conversation context outside GenAI Studio. GenAI Studio's authorization does not extend to these external integrations.' Purdue-managed; content is not used to train the hosted models; a pilot with limited safety measures. On October 21, 2026 the live page did not respond; RCAC's official documentation repository (PurdueRCAC/RCAC-Docs) showed no change since its September 29 'GenAI data classification update', and its source is saved alongside (2026_rcac_genai_overview_source.md).
Purdue GenAI Studio: sign in (genai.rcac.purdue.edu)
https://genai.rcac.purdue.edu/
The official sign-in page for Purdue GenAI Studio (Purdue SSO through CILogon), linked from RCAC's GenAI Studio documentation and listed in Purdue's AI tools handout; the saved copy is RCAC's overview page, which links to it. The page did not respond from the build machine on October 21, 2026; sign in from a browser on Purdue's network or with your Purdue account.
Purdue RCAC, GenAI Studio API guide (updated September 29, 2026)
https://docs.rcac.purdue.edu/services/genai/api/
OpenAI-compatible chat-completions requests with GenAI Studio's own base URL, model IDs and limits. Keep the key in an environment variable; 20 requests per minute per user; structured output differs by serving backend; custom models carry attached Knowledge Bases through the API. Model list checked through the API on October 12, 2026 (dozens of open-weight models, including gpt-oss, Qwen, Gemma, Llama and DeepSeek families).
Purdue RCAC, GenAI Studio chat interface (updated September 29, 2026)
https://docs.rcac.purdue.edu/services/genai/chat-interface/
One prompt can go to several models side by side; temperature and a system prompt can be set for a chat; one-time attachments differ from reusable Knowledge Bases.
ggml-org, llama.cpp
https://github.com/ggml-org/llama.cpp
MIT-licensed local inference for open-weight models on CPUs and GPUs, with quantization and an OpenAI-compatible server. What runs well depends on the hardware and the model.
Ollama documentation, FAQ
https://docs.ollama.com/faq
Serving software with local and cloud options. 'Ollama runs locally. We don’t see your prompts or data when you run locally.' Cloud-hosted models and web search send prompts to Ollama's servers ('we process your prompts and responses to provide the service but do not store or log that content and never train on it'); local-only mode ('disable_ollama_cloud' in server.json or OLLAMA_NO_CLOUD=1) turns off cloud models and web search. Checked September 10, October 13, and October 21, 2026 (same statements).
Anthropic, Claude Code overview
https://code.claude.com/docs/en/overview
Vendor documentation retrieved October 12, 2026: an agentic coding assistant that reads a codebase, edits files and runs commands from the terminal, IDE, desktop or web. Most surfaces require a Claude subscription or Anthropic Console account.
OpenAI, Codex CLI
https://learn.chatgpt.com/docs/codex/cli
Vendor documentation retrieved October 12, 2026 (developers.openai.com now redirects to learn.chatgpt.com): a terminal agent that inspects, edits and runs code in a local repository; recommends Git checkpoints before and after a task.
OpenAI, Codex pricing (October 2026)
https://learn.chatgpt.com/docs/pricing
Free tier in the desktop app (subject to rollout), paid plans, or API-key usage. Plans change often; dated context only.
Purdue College of Science, AI Competency (CS/SCI 173)
https://www.purdue.edu/science/Current_Students/ai-competency.html
The College of Science course for the requirement: how AI systems work, hands-on use for text, image and data analysis, and a team project supported by RCAC. Students should confirm requirements in their own plan of study.
Purdue (August 19, 2026), AI competency graduation requirement
https://www.purdue.edu/newsroom/2026/Q3/purdues-ai-competency-graduation-requirement-begins-in-every-undergraduate-degree-program/
Beginning with the fall 2026 incoming class, every undergraduate completes an AI working competency in the core curriculum. Emphasizes critical thinking, responsible use and deciding whether AI fits a task, not operating particular tools.
Computational Data Science, Chapter 6: LLMs in Data Science Workflows
https://treese41528.github.io/ComputationalDataScience/Website/part4_llms_datascience/chapter6/index.html
Course chapter for later study: embeddings, retrieval-augmented generation, prompt engineering, tool use, reliability and responsible AI, with GenAI Studio examples. Teaching material, not empirical evidence.
GenAI Studio SDK, the instructor's Python package (GitHub)
https://github.com/treese41528/genai-studio-sdk
Open-source (MIT) Python SDK for Purdue's GenAI Studio gateway, written by the speaker and published on a personal GitHub account; not a Purdue or RCAC service. It runs on your computer and calls the GenAI Studio API: chat, embeddings, retrieval, and a tool-using agent framework. Its terminal agent, 'genai-studio agent', can read and edit code, run shell commands, search the web and arXiv, and use connected MCP tools, with approvals for risky actions and read-only, workspace-write, or full-access sandbox modes. Data sent to such tools leaves GenAI Studio, and RCAC states that GenAI Studio's authorization does not extend to external integrations. README rechecked October 21, 2026 (unchanged since July 3).
GenAI Studio capability guides (implementation notes, September 14, 2026)
Purdue_GenAI_Studio/index.html
Seven guides: access, structured extraction, Knowledge Bases, retrieval, tools and database lookups, evaluation, and a review interface. Their rule: exact lookups belong in SQL; similarity retrieval suggests candidates. Examples are teaching adaptations; the pages did not run authenticated calls.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something people can use. Learn as it grows.
Planned time: 150 seconds. The PowerPoint shows complete diagrams; progressive reveals are in the React deck.
DELIVERY CUE
Step 1: read the motivation, then the platform's purpose; point to the connected modules, the ideas under each, the share link, and the friends panel; AI helps build and share release 1. Step 2: walk the loop 1 to 4 and back to release 2; point to the forecasting module as the current focus and read the example cycle; mention the new-topic entry. Land on the band and course rules.
VISUAL STEPS
1. The platform: a proposed baseball strategy platform you could host and share, its connected modules, and the ideas behind each.
2. The learning loop: use and get feedback, connect, learn and experiment, improve and release, then back to a new release.
TRANSCRIPT
Here is one optional way to put all of this to work: build something people can use, and learn as it grows.
Start with a goal like this: I want to build a platform around something I care about, put it online, and send my friends a link. Say you like baseball. Picture a strategy platform where you and your friends can explore players, build lineups, predict matchups, simulate seasons, and save and share your scenarios. That is a big system: a data pipeline and database built on MLB's documented Statcast data, player comparisons, forecasts with uncertainty, a season simulator, lineup search, and a hosted application that ties them together. AI can help you build and share a first working version well beyond what you could build alone today.
Each capability rests on ideas you will meet here. Comparing players leads to vectors and similarity. Forecasting matchups leads to conditional probability, regression, and regularization. Simulating seasons leads to Monte Carlo methods. Lineup search leads to combinatorics and optimization. And hosting it is part of the learning: with AI's help, learn how to put the platform online, publish updates, and investigate problems when something breaks, and ask it to explain how the interface, server, database, and calculations fit together.
Then the loop. Use it and get feedback: what do your friends find confusing, slow, or missing? Connect one improvement to ideas: which part needs to change, and which course topics connect? Learn and experiment, in courses, books, documentation, and with AI. Then improve and release the next version. Each release brings new possibilities, feedback, and questions. A new course topic can start a cycle too: where could I use this in my platform?
For example, your first forecasts might swing to extremes for players with little data. That question leads to partial pooling, combining sparse player data with broader evidence. You study it, revise the forecasts, check them against later games, and feed them to the simulator.
The project improves, your map of what to learn grows, and so do your questions. A personal project can use a lot of AI help; coursework follows each course's rules.
TRANSITION
Whether you build a project or work through a course, the same four questions apply, and one of them matters most.
CAVEATS
Speaker's suggestion and a proposed project: nothing here has been built, run, or evaluated, and it is not a validated intervention. Personal-project framing: a personal project can use a lot of AI help; coursework follows each course's rules. Documented data versus proposed capabilities: Baseball Savant's Statcast CSV documentation (text saved October 13, 2026) lists pitch-level fields such as game_date, pitch_type, release_speed, batter and pitcher (MLB player IDs), events (the plate appearance's result), launch_speed, launch_angle, and estimated_ba_using_speedangle. Everything the platform does with those data is proposed. Components and course connections: data system, collecting, updating, joining, and checking historical data in a database (data management, SQL, data validation); player exploration, searchable profiles, visualizations, comparisons, and trends (vectors, distance and similarity, standardization, multivariate methods such as principal components); forecasting, player and matchup predictions with uncertainty, evaluated against later outcomes (conditional probability, regression, regularization, calibration); simulation, games and seasons under different lineups and assumptions (Monte Carlo simulation, random variables, dependence between events, variability of simulated totals); strategy, comparing or searching for lineups and decisions under constraints (combinatorics, constrained optimization, sensitivity to assumptions); the hosted application, saved scenarios, reports, tests, and shareable links (databases, application design, testing, hosting), optionally with an assistant that queries the project's own data and calculations (retrieval versus SQL, slide 13). MLB's expected batting average, P(hit | exit velocity, launch angle) from comparable batted balls, could be one small forecasting subcomponent; it no longer defines the project's scale. Hosting as learning, with an example prompt: 'Help me put this application online so my friends can use it. Explain how its interface, server, database, and calculations fit together. Trace what happens when someone opens the site and runs a simulation. Guide me through hosting it, explain the choices we make, and help me understand any errors we encounter.' AI can supply explanations, diagrams, examples, and comparisons, and help interpret the application's own behavior; check its explanations against documentation and the running system. Example cycle (illustrative, not implemented or measured): the first forecasting component gives extreme predictions to players with very little data; the student asks how the amount of evidence should affect a forecast; sampling variability and estimation connect to partial pooling or regularization, which combine sparse player data with broader evidence so that a few at-bats move a forecast less than many; the student studies and experiments with a simpler example; they revise the forecasting component, evaluate it on later games, and feed the revised predictions into the simulator; a new question follows about how forecasts should change against different pitchers. Refinement changes three things: the project, the student's map of relevant ideas, and the questions the student asks. Rebuilding a small component without AI remains an optional learning check; the main goal is to understand enough to make informed changes and extend the platform. The path continues slides 10 and 11: a course topic, further ideas beyond the course, then a useful capability in something the student cares about.
SOURCES
Baseball Savant (MLB), Statcast Search CSV documentation
https://baseballsavant.mlb.com/csv-docs
Public Statcast Search data are documented field by field, including launch_speed (exit velocity), launch_angle, events (the play's result), and estimated_ba_using_speedangle (MLB's estimated batting average from launch angle and exit velocity). Text snapshot saved October 13, 2026.
MLB.com, Statcast glossary: Expected Batting Average (xBA)
https://www.mlb.com/glossary/statcast/expected-batting-average
Official MLB definition: xBA measures the likelihood that a batted ball will become a hit, based on how often comparable balls (exit velocity, launch angle, and for some batted balls Sprint Speed) have become hits since Statcast was implemented league-wide in 2015. A conditional probability used in industry. Text snapshot saved October 13, 2026.
Computational Data Science, Chapter 6: LLMs in Data Science Workflows
https://treese41528.github.io/ComputationalDataScience/Website/part4_llms_datascience/chapter6/index.html
Course chapter for later study: embeddings, retrieval-augmented generation, prompt engineering, tool use, reliability and responsible AI, with GenAI Studio examples. Teaching material, not empirical evidence.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the thinking; let AI support your growth at Purdue.
Planned time: 120 seconds. The PowerPoint shows complete diagrams; progressive reveals are in the React deck.
DELIVERY CUE
Read the four questions left to right, one sentence each. Then slow down for the panel: the thinking is yours; days, not minutes; no quick fix. Then the action for this week. Close and take questions; allow five minutes.
TRANSCRIPT
Let me bring everything together with the four questions from the start.
What is the purpose? Match your AI use to what you need to learn, and write your own connections from courses to goals.
What is allowed? Follow your course's rules now and your employer's policy later, and share data only where a tool's terms allow it.
What must you do yourself? The thinking: try first, then get help with the gap, and build the expertise to check and steer AI, which I expect employers to value most.
How will you check it? The same data led AI analysts to different conclusions, so read the passage retrieval returns, check a query's conditions, and review every change an agent makes.
If you remember one thing, make it the thinking. Some of the most valuable time you will spend here is several days on one hard proof or one project that does not work yet. Trying, getting stuck, stepping away, and coming back is how you develop. You saw the evidence: trying problems before being taught built deeper understanding, and among students using AI, larger exam declines went with very short homework times, while those who kept putting in the time had small losses. So do not be quick to turn to AI for the quick fix. When you do ask, ask for help with the specific gap, after real effort.
Start this week. Pick one hard problem from your coursework and check what help is allowed. Stay with it over several days, then bring one precise question to an instructor or TA.
Keep the thinking yours, and let AI support your growth. Thank you. I am happy to take questions.
TRANSITION
CAVEATS
A summary of the talk's main points; each point's evidence and sources are on its own slide. The advice to give a hard proof or project days rather than minutes is the speaker's; no study in this talk measured multi-day effort. The panel's two evidence lines repeat findings shown earlier: Sinha and Kapur's meta-analysis of 53 studies (slide 9), where the benefit of struggling first depends on instructional design and no waiting time is prescribed, and Strömberg et al. (slide 6), where larger exam declines were associated with very short homework completion times and AI users whose homework time held up showed small losses (descriptive, not causal; the paper's abstract: 'AI users who maintain similar homework completion time as non-AI users experience small learning losses'). That employers will value this expertise most is the speaker's forecast (slide 9), not a finding.
SOURCES
Sinha and Kapur (2021), problem solving followed by instruction
https://journals.sagepub.com/doi/10.3102/00346543211019105
Meta-analysis: benefits depend on instructional design, age and domain. Supports purposeful attempts followed by appropriate instruction; no universal waiting time or AI-use prescription.
Strömberg, Lei and Wu (June 2026), The generative AI learning penalty (CEPR DP 21577)
https://cepr.org/publications/dp21577
Working paper. Staggered difference-in-differences with never-adopters as the comparison; one county in central China; samples differ by outcome (homework 18,345 students over 20 months; regular exams 26,811 over 30 months; entrance exams 8,341). Effects are percentages of the pooled pre-adoption mean. Months 6–10: homework +18%, homework time 64 to 45 minutes, closed-book monthly exams −20%. Entrance exams 24+ months after adoption: Gaokao −18%, Zhongkao −24% (about −7% averaged over all durations; weaker identification). Larger declines associated with very short homework times (descriptive). Self-reported adoption month. Saved copy supplied by the user (identical to the SSRN 6868618 file); an open copy of the same text is at conference.nber.org/conf_papers/f240545.pdf.
Additional research: six questions and talk refinements
12_further_research_and_talk_updates.html
Claim-focused review of 13 supplemental sources. No direct validation found for new post-AI junior-DS screens against later job performance; search is not exhaustive.
Evidence and service collection: September 10, 2026; sources added or rechecked through October 13, 2026. Foundations and course review: September 20, 2026. Slides, figures, and transcript revised October 13, 2026 for one flow across the four opening questions; appropriate AI use throughout Purdue remains the theme. Numerical citations were checked against the saved primary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openai.com/index/gpt-6-astra/" TargetMode="External"/><Relationship Id="rId3" Type="http://schemas.openxmlformats.org/officeDocument/2006/relationships/hyperlink" Target="https://www.anthropic.com/claude/fable" TargetMode="External"/><Relationship Id="rId4" Type="http://schemas.openxmlformats.org/officeDocument/2006/relationships/hyperlink" Target="https://naceweb.org/docs/default-source/default-document-library/2026/publication/research-report/2026-job-outlook-report-spring-update.pdf#page=10" TargetMode="External"/><Relationship Id="rId5" Type="http://schemas.openxmlformats.org/officeDocument/2006/relationships/hyperlink" Target="https://naceweb.org/docs/default-source/default-document-library/2026/publication/research-report/2026-job-outlook-report-spring-update.pdf#page=24" TargetMode="External"/><Relationship Id="rId6" Type="http://schemas.openxmlformats.org/officeDocument/2006/relationships/hyperlink" Target="https://naceweb.org/docs/default-source/default-document-library/2026/publication/research-report/2026-job-outlook-report-spring-update.pdf#page=40" TargetMode="External"/><Relationship Id="rId7" Type="http://schemas.openxmlformats.org/officeDocument/2006/relationships/hyperlink" Target="https://digitaleconomy.stanford.edu/publication/canaries-in-the-coal-mine-six-facts-about-the-recent-employment-effects-of-artificial-intelligence/" TargetMode="External"/><Relationship Id="rId8" Type="http://schemas.openxmlformats.org/officeDocument/2006/relationships/hyperlink" Target="https://budgetlab.yale.edu/research/tracking-impact-ai-labor-market" TargetMode="External"/><Relationship Id="rId9" Type="http://schemas.openxmlformats.org/officeDocument/2006/relationships/hyperlink" Target="https://openai.com/index/gpt-6-astra/" TargetMode="External"/><Relationship Id="rId10" Type="http://schemas.openxmlformats.org/officeDocument/2006/relationships/hyperlink" Target="https://www.anthropic.com/claude/fable" TargetMode="External"/><Relationship Id="rId11" Type="http://schemas.openxmlformats.org/officeDocument/2006/relationships/hyperlink" Target="https://naceweb.org/docs/default-source/default-document-library/2026/publication/research-report/2026-job-outlook-report-spring-update.pdf" TargetMode="External"/><Relationship Id="rId12" Type="http://schemas.openxmlformats.org/officeDocument/2006/relationships/hyperlink" Target="https://digitaleconomy.stanford.edu/publication/canaries-in-the-coal-mine-six-facts-about-the-recent-employment-effects-of-artificial-intelligence/" TargetMode="External"/><Relationship Id="rId13" Type="http://schemas.openxmlformats.org/officeDocument/2006/relationships/hyperlink" Target="https://budgetlab.yale.edu/research/tracking-impact-ai-labor-market" TargetMode="External"/><Relationship Id="rId1" Type="http://schemas.openxmlformats.org/officeDocument/2006/relationships/image" Target="../media/image-2-1.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sf.io/fv8c3/" TargetMode="External"/><Relationship Id="rId3" Type="http://schemas.openxmlformats.org/officeDocument/2006/relationships/hyperlink" Target="https://doi.org/10.1177/2515245917747646" TargetMode="External"/><Relationship Id="rId4" Type="http://schemas.openxmlformats.org/officeDocument/2006/relationships/hyperlink" Target="https://doi.org/10.1073/pnas.2606495123" TargetMode="External"/><Relationship Id="rId5" Type="http://schemas.openxmlformats.org/officeDocument/2006/relationships/hyperlink" Target="https://github.com/amazon-science/agentic-forking-path/tree/d489f03b143fcaa9befb8cc443594ff63ec61eaa/experiment_data" TargetMode="External"/><Relationship Id="rId6" Type="http://schemas.openxmlformats.org/officeDocument/2006/relationships/hyperlink" Target="https://doi.org/10.1177/2515245917747646" TargetMode="External"/><Relationship Id="rId7" Type="http://schemas.openxmlformats.org/officeDocument/2006/relationships/hyperlink" Target="https://doi.org/10.1073/pnas.2606495123" TargetMode="External"/><Relationship Id="rId8" Type="http://schemas.openxmlformats.org/officeDocument/2006/relationships/hyperlink" Target="https://github.com/amazon-science/agentic-forking-path/tree/d489f03b143fcaa9befb8cc443594ff63ec61eaa/experiment_data" TargetMode="External"/><Relationship Id="rId9" Type="http://schemas.openxmlformats.org/officeDocument/2006/relationships/hyperlink" Target="https://osf.io/fv8c3/" TargetMode="External"/><Relationship Id="rId1" Type="http://schemas.openxmlformats.org/officeDocument/2006/relationships/image" Target="../media/image-3-1.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amazon-science/agentic-forking-path/tree/d489f03b143fcaa9befb8cc443594ff63ec61eaa/experiment_data" TargetMode="External"/><Relationship Id="rId3" Type="http://schemas.openxmlformats.org/officeDocument/2006/relationships/hyperlink" Target="https://github.com/amazon-science/agentic-forking-path/blob/d489f03b143fcaa9befb8cc443594ff63ec61eaa/prompts/data_scientist_2xoverfit_with_file_outputs.txt" TargetMode="External"/><Relationship Id="rId4" Type="http://schemas.openxmlformats.org/officeDocument/2006/relationships/hyperlink" Target="https://github.com/amazon-science/agentic-forking-path/tree/d489f03b143fcaa9befb8cc443594ff63ec61eaa/experiment_data" TargetMode="External"/><Relationship Id="rId5" Type="http://schemas.openxmlformats.org/officeDocument/2006/relationships/hyperlink" Target="https://doi.org/10.1073/pnas.2606495123" TargetMode="External"/><Relationship Id="rId6" Type="http://schemas.openxmlformats.org/officeDocument/2006/relationships/hyperlink" Target="https://doi.org/10.1073/pnas.2606495123" TargetMode="External"/><Relationship Id="rId7" Type="http://schemas.openxmlformats.org/officeDocument/2006/relationships/hyperlink" Target="https://github.com/amazon-science/agentic-forking-path/tree/d489f03b143fcaa9befb8cc443594ff63ec61eaa/experiment_data" TargetMode="External"/><Relationship Id="rId8" Type="http://schemas.openxmlformats.org/officeDocument/2006/relationships/hyperlink" Target="https://github.com/amazon-science/agentic-forking-path/blob/d489f03b143fcaa9befb8cc443594ff63ec61eaa/prompts/data_scientist_2xoverfit_with_file_outputs.txt" TargetMode="External"/><Relationship Id="rId1" Type="http://schemas.openxmlformats.org/officeDocument/2006/relationships/image" Target="../media/image-4-1.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metr.org/blog/2026-02-24-uplift-update/" TargetMode="External"/><Relationship Id="rId3" Type="http://schemas.openxmlformats.org/officeDocument/2006/relationships/hyperlink" Target="https://metr.org/Early_2025_AI_Experienced_OS_Devs_Study-paper.pdf" TargetMode="External"/><Relationship Id="rId4" Type="http://schemas.openxmlformats.org/officeDocument/2006/relationships/hyperlink" Target="https://metr.org/blog/2026-02-24-uplift-update/" TargetMode="External"/><Relationship Id="rId5" Type="http://schemas.openxmlformats.org/officeDocument/2006/relationships/hyperlink" Target="https://metr.org/Early_2025_AI_Experienced_OS_Devs_Study-paper.pdf" TargetMode="External"/><Relationship Id="rId6" Type="http://schemas.openxmlformats.org/officeDocument/2006/relationships/hyperlink" Target="https://metr.org/blog/2026-02-24-uplift-update/" TargetMode="External"/><Relationship Id="rId1" Type="http://schemas.openxmlformats.org/officeDocument/2006/relationships/image" Target="../media/image-5-1.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cepr.org/publications/dp21577" TargetMode="External"/><Relationship Id="rId3" Type="http://schemas.openxmlformats.org/officeDocument/2006/relationships/hyperlink" Target="https://arxiv.org/abs/2605.21629" TargetMode="External"/><Relationship Id="rId4" Type="http://schemas.openxmlformats.org/officeDocument/2006/relationships/hyperlink" Target="https://doi.org/10.26300/y3f8-vh05" TargetMode="External"/><Relationship Id="rId5" Type="http://schemas.openxmlformats.org/officeDocument/2006/relationships/hyperlink" Target="https://arxiv.org/abs/2609.23958" TargetMode="External"/><Relationship Id="rId6" Type="http://schemas.openxmlformats.org/officeDocument/2006/relationships/hyperlink" Target="https://cepr.org/publications/dp21577" TargetMode="External"/><Relationship Id="rId7" Type="http://schemas.openxmlformats.org/officeDocument/2006/relationships/hyperlink" Target="https://arxiv.org/abs/2605.21629" TargetMode="External"/><Relationship Id="rId8" Type="http://schemas.openxmlformats.org/officeDocument/2006/relationships/hyperlink" Target="https://doi.org/10.26300/y3f8-vh05" TargetMode="External"/><Relationship Id="rId9" Type="http://schemas.openxmlformats.org/officeDocument/2006/relationships/hyperlink" Target="https://arxiv.org/abs/2609.23958" TargetMode="External"/><Relationship Id="rId1" Type="http://schemas.openxmlformats.org/officeDocument/2006/relationships/image" Target="../media/image-6-1.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docs.iza.org/dp18513.pdf" TargetMode="External"/><Relationship Id="rId3" Type="http://schemas.openxmlformats.org/officeDocument/2006/relationships/hyperlink" Target="https://arxiv.org/abs/2609.23958" TargetMode="External"/><Relationship Id="rId4" Type="http://schemas.openxmlformats.org/officeDocument/2006/relationships/hyperlink" Target="https://docs.iza.org/dp18513.pdf" TargetMode="External"/><Relationship Id="rId5" Type="http://schemas.openxmlformats.org/officeDocument/2006/relationships/hyperlink" Target="https://arxiv.org/abs/2609.23958"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purdue.edu/teaching-learning/instructors/ai.php" TargetMode="External"/><Relationship Id="rId3" Type="http://schemas.openxmlformats.org/officeDocument/2006/relationships/hyperlink" Target="https://www.amstat.org/your-career/ethical-guidelines-for-statistical-practice" TargetMode="External"/><Relationship Id="rId4" Type="http://schemas.openxmlformats.org/officeDocument/2006/relationships/hyperlink" Target="https://www.purdue.edu/teaching-learning/instructors/ai.php" TargetMode="External"/><Relationship Id="rId5" Type="http://schemas.openxmlformats.org/officeDocument/2006/relationships/hyperlink" Target="https://www.amstat.org/your-career/ethical-guidelines-for-statistical-practice" TargetMode="External"/><Relationship Id="rId1" Type="http://schemas.openxmlformats.org/officeDocument/2006/relationships/image" Target="../media/image-8-1.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gallup.com/workplace/712736/organizational-adoption-jumps-six-points.aspx" TargetMode="External"/><Relationship Id="rId3" Type="http://schemas.openxmlformats.org/officeDocument/2006/relationships/hyperlink" Target="https://www.gallup.com/workplace/704225/rising-adoption-spurs-workforce-changes.aspx" TargetMode="External"/><Relationship Id="rId4" Type="http://schemas.openxmlformats.org/officeDocument/2006/relationships/hyperlink" Target="https://digitaleconomy.stanford.edu/publication/canaries-in-the-coal-mine-six-facts-about-the-recent-employment-effects-of-artificial-intelligence/" TargetMode="External"/><Relationship Id="rId5" Type="http://schemas.openxmlformats.org/officeDocument/2006/relationships/hyperlink" Target="https://doi.org/10.1148/radiol.222176" TargetMode="External"/><Relationship Id="rId6" Type="http://schemas.openxmlformats.org/officeDocument/2006/relationships/hyperlink" Target="https://journals.sagepub.com/doi/10.3102/00346543211019105" TargetMode="External"/><Relationship Id="rId7" Type="http://schemas.openxmlformats.org/officeDocument/2006/relationships/hyperlink" Target="https://doi.org/10.1103/PhysRevSTPER.6.010104" TargetMode="External"/><Relationship Id="rId8" Type="http://schemas.openxmlformats.org/officeDocument/2006/relationships/hyperlink" Target="https://doi.org/10.1016/j.learninstruc.2025.102142" TargetMode="External"/><Relationship Id="rId9" Type="http://schemas.openxmlformats.org/officeDocument/2006/relationships/hyperlink" Target="https://www.gallup.com/workplace/712736/organizational-adoption-jumps-six-points.aspx" TargetMode="External"/><Relationship Id="rId10" Type="http://schemas.openxmlformats.org/officeDocument/2006/relationships/hyperlink" Target="https://www.gallup.com/workplace/704225/rising-adoption-spurs-workforce-changes.aspx" TargetMode="External"/><Relationship Id="rId11" Type="http://schemas.openxmlformats.org/officeDocument/2006/relationships/hyperlink" Target="https://digitaleconomy.stanford.edu/publication/canaries-in-the-coal-mine-six-facts-about-the-recent-employment-effects-of-artificial-intelligence/" TargetMode="External"/><Relationship Id="rId12" Type="http://schemas.openxmlformats.org/officeDocument/2006/relationships/hyperlink" Target="https://doi.org/10.1148/radiol.222176" TargetMode="External"/><Relationship Id="rId13" Type="http://schemas.openxmlformats.org/officeDocument/2006/relationships/hyperlink" Target="https://journals.sagepub.com/doi/10.3102/00346543211019105" TargetMode="External"/><Relationship Id="rId14" Type="http://schemas.openxmlformats.org/officeDocument/2006/relationships/hyperlink" Target="https://doi.org/10.1103/PhysRevSTPER.6.010104" TargetMode="External"/><Relationship Id="rId15" Type="http://schemas.openxmlformats.org/officeDocument/2006/relationships/hyperlink" Target="https://doi.org/10.1016/j.learninstruc.2025.102142" TargetMode="External"/><Relationship Id="rId16" Type="http://schemas.openxmlformats.org/officeDocument/2006/relationships/hyperlink" Target="https://doi.org/10.1126/science.adj0998" TargetMode="External"/><Relationship Id="rId1" Type="http://schemas.openxmlformats.org/officeDocument/2006/relationships/image" Target="../media/image-9-1.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purdue.edu/science/archive/docs/current-students/majors/dsst-f25-dpg1.pdf" TargetMode="External"/><Relationship Id="rId3" Type="http://schemas.openxmlformats.org/officeDocument/2006/relationships/hyperlink" Target="https://jmlr.org/papers/v18/17-468.html" TargetMode="External"/><Relationship Id="rId4" Type="http://schemas.openxmlformats.org/officeDocument/2006/relationships/hyperlink" Target="https://doi.org/10.1038/323533a0" TargetMode="External"/><Relationship Id="rId5" Type="http://schemas.openxmlformats.org/officeDocument/2006/relationships/hyperlink" Target="https://web.stanford.edu/~jurafsky/slp3/3.pdf" TargetMode="External"/><Relationship Id="rId6" Type="http://schemas.openxmlformats.org/officeDocument/2006/relationships/hyperlink" Target="https://cdn.openai.com/research-covers/language-unsupervised/language_understanding_paper.pdf" TargetMode="External"/><Relationship Id="rId7" Type="http://schemas.openxmlformats.org/officeDocument/2006/relationships/hyperlink" Target="https://arxiv.org/abs/1908.10084" TargetMode="External"/><Relationship Id="rId8" Type="http://schemas.openxmlformats.org/officeDocument/2006/relationships/hyperlink" Target="https://arxiv.org/abs/1908.10084" TargetMode="External"/><Relationship Id="rId9" Type="http://schemas.openxmlformats.org/officeDocument/2006/relationships/hyperlink" Target="https://arxiv.org/abs/2107.07511" TargetMode="External"/><Relationship Id="rId10" Type="http://schemas.openxmlformats.org/officeDocument/2006/relationships/hyperlink" Target="https://arxiv.org/abs/2306.10193" TargetMode="External"/><Relationship Id="rId11" Type="http://schemas.openxmlformats.org/officeDocument/2006/relationships/hyperlink" Target="https://www.purdue.edu/science/archive/docs/current-students/majors/dsst-f25-dpg1.pdf" TargetMode="External"/><Relationship Id="rId12" Type="http://schemas.openxmlformats.org/officeDocument/2006/relationships/hyperlink" Target="https://jmlr.org/papers/v18/17-468.html" TargetMode="External"/><Relationship Id="rId13" Type="http://schemas.openxmlformats.org/officeDocument/2006/relationships/hyperlink" Target="https://doi.org/10.1038/323533a0" TargetMode="External"/><Relationship Id="rId14" Type="http://schemas.openxmlformats.org/officeDocument/2006/relationships/hyperlink" Target="https://web.stanford.edu/~jurafsky/slp3/3.pdf" TargetMode="External"/><Relationship Id="rId15" Type="http://schemas.openxmlformats.org/officeDocument/2006/relationships/hyperlink" Target="https://cdn.openai.com/research-covers/language-unsupervised/language_understanding_paper.pdf" TargetMode="External"/><Relationship Id="rId16" Type="http://schemas.openxmlformats.org/officeDocument/2006/relationships/hyperlink" Target="https://arxiv.org/abs/1908.10084" TargetMode="External"/><Relationship Id="rId17" Type="http://schemas.openxmlformats.org/officeDocument/2006/relationships/hyperlink" Target="https://arxiv.org/abs/2107.07511" TargetMode="External"/><Relationship Id="rId18" Type="http://schemas.openxmlformats.org/officeDocument/2006/relationships/hyperlink" Target="https://arxiv.org/abs/2306.10193" TargetMode="External"/><Relationship Id="rId19" Type="http://schemas.openxmlformats.org/officeDocument/2006/relationships/hyperlink" Target="https://www.math.purdue.edu/academic/courses/Course-Description.html" TargetMode="External"/><Relationship Id="rId1" Type="http://schemas.openxmlformats.org/officeDocument/2006/relationships/image" Target="../media/image-10-1.png"/><Relationship Id="rId20" Type="http://schemas.openxmlformats.org/officeDocument/2006/relationships/slideLayout" Target="../slideLayouts/slideLayout1.xml"/><Relationship Id="rId2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stat.purdue.edu/academic_programs/undergraduate/index.php?semester=Fall&amp;year=2026" TargetMode="External"/><Relationship Id="rId3" Type="http://schemas.openxmlformats.org/officeDocument/2006/relationships/hyperlink" Target="https://theanalyst.com/articles/what-is-expected-goals-xg" TargetMode="External"/><Relationship Id="rId4" Type="http://schemas.openxmlformats.org/officeDocument/2006/relationships/hyperlink" Target="https://s3.wp.wsu.edu/uploads/sites/2445/2019/09/Canning-Harackiewicz-2015-Motivation-Science.pdf" TargetMode="External"/><Relationship Id="rId5" Type="http://schemas.openxmlformats.org/officeDocument/2006/relationships/hyperlink" Target="https://www.stat.purdue.edu/academic_programs/undergraduate/index.php?semester=Fall&amp;year=2026" TargetMode="External"/><Relationship Id="rId6" Type="http://schemas.openxmlformats.org/officeDocument/2006/relationships/hyperlink" Target="https://theanalyst.com/articles/what-is-expected-goals-xg" TargetMode="External"/><Relationship Id="rId7" Type="http://schemas.openxmlformats.org/officeDocument/2006/relationships/hyperlink" Target="https://s3.wp.wsu.edu/uploads/sites/2445/2019/09/Canning-Harackiewicz-2015-Motivation-Science.pdf" TargetMode="External"/><Relationship Id="rId1" Type="http://schemas.openxmlformats.org/officeDocument/2006/relationships/image" Target="../media/image-11-1.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help.openai.com/en/articles/5722486-how-your-data-is-used-to-improve-model-performance" TargetMode="External"/><Relationship Id="rId3" Type="http://schemas.openxmlformats.org/officeDocument/2006/relationships/hyperlink" Target="https://ai.google.dev/gemini-api/terms" TargetMode="External"/><Relationship Id="rId4" Type="http://schemas.openxmlformats.org/officeDocument/2006/relationships/hyperlink" Target="https://code.claude.com/docs/en/overview" TargetMode="External"/><Relationship Id="rId5" Type="http://schemas.openxmlformats.org/officeDocument/2006/relationships/hyperlink" Target="https://learn.chatgpt.com/docs/codex/cli" TargetMode="External"/><Relationship Id="rId6" Type="http://schemas.openxmlformats.org/officeDocument/2006/relationships/hyperlink" Target="https://www.purdue.edu/ai/enterprise-ai-toolkit/" TargetMode="External"/><Relationship Id="rId7" Type="http://schemas.openxmlformats.org/officeDocument/2006/relationships/hyperlink" Target="https://www.purdue.edu/ai/enterprise-ai-toolkit/" TargetMode="External"/><Relationship Id="rId8" Type="http://schemas.openxmlformats.org/officeDocument/2006/relationships/hyperlink" Target="https://www.purdue.edu/ai/wp-content/uploads/2026/10/AITools.pdf" TargetMode="External"/><Relationship Id="rId9" Type="http://schemas.openxmlformats.org/officeDocument/2006/relationships/hyperlink" Target="https://www.purdue.edu/ai/enterprise-ai-toolkit/" TargetMode="External"/><Relationship Id="rId10" Type="http://schemas.openxmlformats.org/officeDocument/2006/relationships/hyperlink" Target="https://genai.rcac.purdue.edu/" TargetMode="External"/><Relationship Id="rId11" Type="http://schemas.openxmlformats.org/officeDocument/2006/relationships/hyperlink" Target="https://docs.rcac.purdue.edu/services/genai/" TargetMode="External"/><Relationship Id="rId12" Type="http://schemas.openxmlformats.org/officeDocument/2006/relationships/hyperlink" Target="https://docs.rcac.purdue.edu/services/genai/api/" TargetMode="External"/><Relationship Id="rId13" Type="http://schemas.openxmlformats.org/officeDocument/2006/relationships/hyperlink" Target="https://github.com/treese41528/genai-studio-sdk" TargetMode="External"/><Relationship Id="rId14" Type="http://schemas.openxmlformats.org/officeDocument/2006/relationships/hyperlink" Target="https://github.com/ggml-org/llama.cpp" TargetMode="External"/><Relationship Id="rId15" Type="http://schemas.openxmlformats.org/officeDocument/2006/relationships/hyperlink" Target="https://docs.ollama.com/faq" TargetMode="External"/><Relationship Id="rId16" Type="http://schemas.openxmlformats.org/officeDocument/2006/relationships/hyperlink" Target="https://github.com/ggml-org/llama.cpp" TargetMode="External"/><Relationship Id="rId17" Type="http://schemas.openxmlformats.org/officeDocument/2006/relationships/hyperlink" Target="https://docs.ollama.com/capabilities/tool-calling" TargetMode="External"/><Relationship Id="rId18" Type="http://schemas.openxmlformats.org/officeDocument/2006/relationships/hyperlink" Target="https://www.purdue.edu/ai/wp-content/uploads/2026/10/AITools.pdf" TargetMode="External"/><Relationship Id="rId19" Type="http://schemas.openxmlformats.org/officeDocument/2006/relationships/hyperlink" Target="https://www.purdue.edu/ai/enterprise-ai-toolkit/" TargetMode="External"/><Relationship Id="rId20" Type="http://schemas.openxmlformats.org/officeDocument/2006/relationships/hyperlink" Target="https://www.purdue.edu/ai/wp-content/uploads/2026/10/AITools.pdf" TargetMode="External"/><Relationship Id="rId21" Type="http://schemas.openxmlformats.org/officeDocument/2006/relationships/hyperlink" Target="https://docs.rcac.purdue.edu/services/genai/" TargetMode="External"/><Relationship Id="rId22" Type="http://schemas.openxmlformats.org/officeDocument/2006/relationships/hyperlink" Target="https://docs.ollama.com/faq" TargetMode="External"/><Relationship Id="rId23" Type="http://schemas.openxmlformats.org/officeDocument/2006/relationships/hyperlink" Target="https://help.openai.com/en/articles/5722486-how-your-data-is-used-to-improve-model-performance" TargetMode="External"/><Relationship Id="rId24" Type="http://schemas.openxmlformats.org/officeDocument/2006/relationships/hyperlink" Target="https://ai.google.dev/gemini-api/terms" TargetMode="External"/><Relationship Id="rId25" Type="http://schemas.openxmlformats.org/officeDocument/2006/relationships/hyperlink" Target="https://code.claude.com/docs/en/overview" TargetMode="External"/><Relationship Id="rId26" Type="http://schemas.openxmlformats.org/officeDocument/2006/relationships/hyperlink" Target="https://learn.chatgpt.com/docs/codex/cli" TargetMode="External"/><Relationship Id="rId27" Type="http://schemas.openxmlformats.org/officeDocument/2006/relationships/hyperlink" Target="https://www.purdue.edu/ai/enterprise-ai-toolkit/" TargetMode="External"/><Relationship Id="rId28" Type="http://schemas.openxmlformats.org/officeDocument/2006/relationships/hyperlink" Target="https://www.purdue.edu/ai/wp-content/uploads/2026/10/AITools.pdf" TargetMode="External"/><Relationship Id="rId29" Type="http://schemas.openxmlformats.org/officeDocument/2006/relationships/hyperlink" Target="https://docs.rcac.purdue.edu/services/genai/" TargetMode="External"/><Relationship Id="rId30" Type="http://schemas.openxmlformats.org/officeDocument/2006/relationships/hyperlink" Target="https://docs.rcac.purdue.edu/services/genai/api/" TargetMode="External"/><Relationship Id="rId31" Type="http://schemas.openxmlformats.org/officeDocument/2006/relationships/hyperlink" Target="https://github.com/treese41528/genai-studio-sdk" TargetMode="External"/><Relationship Id="rId32" Type="http://schemas.openxmlformats.org/officeDocument/2006/relationships/hyperlink" Target="https://github.com/ggml-org/llama.cpp" TargetMode="External"/><Relationship Id="rId33" Type="http://schemas.openxmlformats.org/officeDocument/2006/relationships/hyperlink" Target="https://docs.ollama.com/faq" TargetMode="External"/><Relationship Id="rId34" Type="http://schemas.openxmlformats.org/officeDocument/2006/relationships/hyperlink" Target="https://docs.ollama.com/capabilities/tool-calling" TargetMode="External"/><Relationship Id="rId1" Type="http://schemas.openxmlformats.org/officeDocument/2006/relationships/image" Target="../media/image-12-1.png"/><Relationship Id="rId35" Type="http://schemas.openxmlformats.org/officeDocument/2006/relationships/slideLayout" Target="../slideLayouts/slideLayout1.xml"/><Relationship Id="rId3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huggingface.co/sentence-transformers/all-MiniLM-L6-v2" TargetMode="External"/><Relationship Id="rId3" Type="http://schemas.openxmlformats.org/officeDocument/2006/relationships/hyperlink" Target="https://raw.githubusercontent.com/amazon-science/agentic-forking-path/d489f03b143fcaa9befb8cc443594ff63ec61eaa/data/soccer/codebook.txt" TargetMode="External"/><Relationship Id="rId4" Type="http://schemas.openxmlformats.org/officeDocument/2006/relationships/hyperlink" Target="https://treese41528.github.io/ComputationalDataScience/AI_First_Year/data/soccer_codebook_retrieval.json" TargetMode="External"/><Relationship Id="rId5" Type="http://schemas.openxmlformats.org/officeDocument/2006/relationships/hyperlink" Target="https://github.com/amazon-science/agentic-forking-path/tree/d489f03b143fcaa9befb8cc443594ff63ec61eaa/experiment_data" TargetMode="External"/><Relationship Id="rId6" Type="http://schemas.openxmlformats.org/officeDocument/2006/relationships/hyperlink" Target="https://treese41528.github.io/ComputationalDataScience/AI_First_Year/data/tvnews_sql_funnel.sql" TargetMode="External"/><Relationship Id="rId7" Type="http://schemas.openxmlformats.org/officeDocument/2006/relationships/hyperlink" Target="https://treese41528.github.io/ComputationalDataScience/AI_First_Year/data/soccer_codebook_retrieval.json" TargetMode="External"/><Relationship Id="rId8" Type="http://schemas.openxmlformats.org/officeDocument/2006/relationships/hyperlink" Target="https://huggingface.co/sentence-transformers/all-MiniLM-L6-v2" TargetMode="External"/><Relationship Id="rId9" Type="http://schemas.openxmlformats.org/officeDocument/2006/relationships/hyperlink" Target="https://raw.githubusercontent.com/amazon-science/agentic-forking-path/d489f03b143fcaa9befb8cc443594ff63ec61eaa/data/soccer/codebook.txt" TargetMode="External"/><Relationship Id="rId10" Type="http://schemas.openxmlformats.org/officeDocument/2006/relationships/hyperlink" Target="https://treese41528.github.io/ComputationalDataScience/AI_First_Year/data/soccer_codebook_retrieval.json" TargetMode="External"/><Relationship Id="rId11" Type="http://schemas.openxmlformats.org/officeDocument/2006/relationships/hyperlink" Target="https://github.com/amazon-science/agentic-forking-path/tree/d489f03b143fcaa9befb8cc443594ff63ec61eaa/experiment_data" TargetMode="External"/><Relationship Id="rId12" Type="http://schemas.openxmlformats.org/officeDocument/2006/relationships/hyperlink" Target="https://treese41528.github.io/ComputationalDataScience/AI_First_Year/data/tvnews_sql_funnel.sql" TargetMode="External"/><Relationship Id="rId1" Type="http://schemas.openxmlformats.org/officeDocument/2006/relationships/image" Target="../media/image-13-1.pn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learn.chatgpt.com/docs/agent-approvals-security" TargetMode="External"/><Relationship Id="rId3" Type="http://schemas.openxmlformats.org/officeDocument/2006/relationships/hyperlink" Target="https://code.claude.com/docs/en/security" TargetMode="External"/><Relationship Id="rId4" Type="http://schemas.openxmlformats.org/officeDocument/2006/relationships/hyperlink" Target="https://learn.chatgpt.com/docs/sandboxing" TargetMode="External"/><Relationship Id="rId5" Type="http://schemas.openxmlformats.org/officeDocument/2006/relationships/hyperlink" Target="https://code.claude.com/docs/en/sandboxing" TargetMode="External"/><Relationship Id="rId6" Type="http://schemas.openxmlformats.org/officeDocument/2006/relationships/hyperlink" Target="https://genai.owasp.org/llmrisk/llm01-prompt-injection/"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code.claude.com/docs/en/security" TargetMode="External"/><Relationship Id="rId9" Type="http://schemas.openxmlformats.org/officeDocument/2006/relationships/hyperlink" Target="https://learn.chatgpt.com/docs/sandboxing" TargetMode="External"/><Relationship Id="rId10" Type="http://schemas.openxmlformats.org/officeDocument/2006/relationships/hyperlink" Target="https://code.claude.com/docs/en/sandboxing" TargetMode="External"/><Relationship Id="rId11" Type="http://schemas.openxmlformats.org/officeDocument/2006/relationships/hyperlink" Target="https://genai.owasp.org/llmrisk/llm01-prompt-injection/" TargetMode="External"/><Relationship Id="rId1" Type="http://schemas.openxmlformats.org/officeDocument/2006/relationships/image" Target="../media/image-14-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genai.rcac.purdue.edu/" TargetMode="External"/><Relationship Id="rId3" Type="http://schemas.openxmlformats.org/officeDocument/2006/relationships/hyperlink" Target="https://docs.rcac.purdue.edu/services/genai/api/" TargetMode="External"/><Relationship Id="rId4" Type="http://schemas.openxmlformats.org/officeDocument/2006/relationships/hyperlink" Target="https://docs.rcac.purdue.edu/services/genai/" TargetMode="External"/><Relationship Id="rId5" Type="http://schemas.openxmlformats.org/officeDocument/2006/relationships/hyperlink" Target="https://github.com/ggml-org/llama.cpp" TargetMode="External"/><Relationship Id="rId6" Type="http://schemas.openxmlformats.org/officeDocument/2006/relationships/hyperlink" Target="https://docs.ollama.com/faq" TargetMode="External"/><Relationship Id="rId7" Type="http://schemas.openxmlformats.org/officeDocument/2006/relationships/hyperlink" Target="https://learn.chatgpt.com/docs/agent-approvals-security" TargetMode="External"/><Relationship Id="rId8" Type="http://schemas.openxmlformats.org/officeDocument/2006/relationships/hyperlink" Target="https://www.purdue.edu/science/Current_Students/ai-competency.html" TargetMode="External"/><Relationship Id="rId9" Type="http://schemas.openxmlformats.org/officeDocument/2006/relationships/hyperlink" Target="https://treese41528.github.io/ComputationalDataScience/Website/part4_llms_datascience/chapter6/index.html" TargetMode="External"/><Relationship Id="rId10" Type="http://schemas.openxmlformats.org/officeDocument/2006/relationships/hyperlink" Target="https://docs.rcac.purdue.edu/services/genai/" TargetMode="External"/><Relationship Id="rId11" Type="http://schemas.openxmlformats.org/officeDocument/2006/relationships/hyperlink" Target="https://docs.rcac.purdue.edu/services/genai/api/" TargetMode="External"/><Relationship Id="rId12" Type="http://schemas.openxmlformats.org/officeDocument/2006/relationships/hyperlink" Target="https://github.com/ggml-org/llama.cpp" TargetMode="External"/><Relationship Id="rId13" Type="http://schemas.openxmlformats.org/officeDocument/2006/relationships/hyperlink" Target="https://learn.chatgpt.com/docs/agent-approvals-security" TargetMode="External"/><Relationship Id="rId14" Type="http://schemas.openxmlformats.org/officeDocument/2006/relationships/hyperlink" Target="https://www.purdue.edu/science/Current_Students/ai-competency.html" TargetMode="External"/><Relationship Id="rId15" Type="http://schemas.openxmlformats.org/officeDocument/2006/relationships/hyperlink" Target="https://treese41528.github.io/ComputationalDataScience/Website/part4_llms_datascience/chapter6/index.html" TargetMode="External"/><Relationship Id="rId1" Type="http://schemas.openxmlformats.org/officeDocument/2006/relationships/image" Target="../media/image-15-1.png"/><Relationship Id="rId16" Type="http://schemas.openxmlformats.org/officeDocument/2006/relationships/slideLayout" Target="../slideLayouts/slideLayout1.xml"/><Relationship Id="rId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baseballsavant.mlb.com/csv-docs" TargetMode="External"/><Relationship Id="rId3" Type="http://schemas.openxmlformats.org/officeDocument/2006/relationships/hyperlink" Target="https://baseballsavant.mlb.com/csv-docs"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journals.sagepub.com/doi/10.3102/00346543211019105" TargetMode="External"/><Relationship Id="rId3" Type="http://schemas.openxmlformats.org/officeDocument/2006/relationships/hyperlink" Target="https://cepr.org/publications/dp21577" TargetMode="External"/><Relationship Id="rId4" Type="http://schemas.openxmlformats.org/officeDocument/2006/relationships/hyperlink" Target="https://journals.sagepub.com/doi/10.3102/00346543211019105" TargetMode="External"/><Relationship Id="rId5" Type="http://schemas.openxmlformats.org/officeDocument/2006/relationships/hyperlink" Target="https://cepr.org/publications/dp21577"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 AI appropriately as you grow at Purdu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Learn to use AI as part of your Purdue education.">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10370820" y="1330881"/>
            <a:ext cx="144780" cy="12192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437620" y="1330881"/>
            <a:ext cx="144780" cy="12192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3893820" y="3557230"/>
            <a:ext cx="167640" cy="137160"/>
          </a:xfrm>
          <a:prstGeom prst="rect">
            <a:avLst/>
          </a:prstGeom>
          <a:solidFill>
            <a:srgbClr val="FFFFFF">
              <a:alpha val="0"/>
            </a:srgbClr>
          </a:solidFill>
          <a:ln w="12700">
            <a:solidFill>
              <a:srgbClr val="FFFFFF">
                <a:alpha val="0"/>
              </a:srgbClr>
            </a:solidFill>
            <a:prstDash val="solid"/>
          </a:ln>
        </p:spPr>
      </p:sp>
      <p:sp>
        <p:nvSpPr>
          <p:cNvPr id="6" name="Shape 3">
            <a:hlinkClick r:id="rId5" tooltip="[3]"/>
          </p:cNvPr>
          <p:cNvSpPr/>
          <p:nvPr/>
        </p:nvSpPr>
        <p:spPr>
          <a:xfrm>
            <a:off x="4754880" y="4159210"/>
            <a:ext cx="167640" cy="137160"/>
          </a:xfrm>
          <a:prstGeom prst="rect">
            <a:avLst/>
          </a:prstGeom>
          <a:solidFill>
            <a:srgbClr val="FFFFFF">
              <a:alpha val="0"/>
            </a:srgbClr>
          </a:solidFill>
          <a:ln w="12700">
            <a:solidFill>
              <a:srgbClr val="FFFFFF">
                <a:alpha val="0"/>
              </a:srgbClr>
            </a:solidFill>
            <a:prstDash val="solid"/>
          </a:ln>
        </p:spPr>
      </p:sp>
      <p:sp>
        <p:nvSpPr>
          <p:cNvPr id="7" name="Shape 4">
            <a:hlinkClick r:id="rId6" tooltip="[3]"/>
          </p:cNvPr>
          <p:cNvSpPr/>
          <p:nvPr/>
        </p:nvSpPr>
        <p:spPr>
          <a:xfrm>
            <a:off x="4953000" y="4374833"/>
            <a:ext cx="167640" cy="137160"/>
          </a:xfrm>
          <a:prstGeom prst="rect">
            <a:avLst/>
          </a:prstGeom>
          <a:solidFill>
            <a:srgbClr val="FFFFFF">
              <a:alpha val="0"/>
            </a:srgbClr>
          </a:solidFill>
          <a:ln w="12700">
            <a:solidFill>
              <a:srgbClr val="FFFFFF">
                <a:alpha val="0"/>
              </a:srgbClr>
            </a:solidFill>
            <a:prstDash val="solid"/>
          </a:ln>
        </p:spPr>
      </p:sp>
      <p:sp>
        <p:nvSpPr>
          <p:cNvPr id="8" name="Shape 5">
            <a:hlinkClick r:id="rId7" tooltip="[4]"/>
          </p:cNvPr>
          <p:cNvSpPr/>
          <p:nvPr/>
        </p:nvSpPr>
        <p:spPr>
          <a:xfrm>
            <a:off x="8450580" y="3377327"/>
            <a:ext cx="167640" cy="13716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11193780" y="3730823"/>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1] OpenAI, Astra (2026) ↗"/>
          </p:cNvPr>
          <p:cNvSpPr/>
          <p:nvPr/>
        </p:nvSpPr>
        <p:spPr>
          <a:xfrm>
            <a:off x="1188720" y="6401633"/>
            <a:ext cx="134874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2] Anthropic, Fable (2026) ↗"/>
          </p:cNvPr>
          <p:cNvSpPr/>
          <p:nvPr/>
        </p:nvSpPr>
        <p:spPr>
          <a:xfrm>
            <a:off x="2659380" y="6401633"/>
            <a:ext cx="1447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3] NACE (2026), pp. 10, 24, 40 ↗"/>
          </p:cNvPr>
          <p:cNvSpPr/>
          <p:nvPr/>
        </p:nvSpPr>
        <p:spPr>
          <a:xfrm>
            <a:off x="4229100" y="6401633"/>
            <a:ext cx="170688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4] Brynjolfsson et al. (2026) ↗"/>
          </p:cNvPr>
          <p:cNvSpPr/>
          <p:nvPr/>
        </p:nvSpPr>
        <p:spPr>
          <a:xfrm>
            <a:off x="6057900" y="6401633"/>
            <a:ext cx="156210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5] Yale Budget Lab (2026) ↗"/>
          </p:cNvPr>
          <p:cNvSpPr/>
          <p:nvPr/>
        </p:nvSpPr>
        <p:spPr>
          <a:xfrm>
            <a:off x="774192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Human teams and AI analysts split on the same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4]"/>
          </p:cNvPr>
          <p:cNvSpPr/>
          <p:nvPr/>
        </p:nvSpPr>
        <p:spPr>
          <a:xfrm>
            <a:off x="8515731" y="20820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3255378" y="234874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3592662" y="3156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3]"/>
          </p:cNvPr>
          <p:cNvSpPr/>
          <p:nvPr/>
        </p:nvSpPr>
        <p:spPr>
          <a:xfrm>
            <a:off x="6316111" y="31564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Silberzahn et al. (2018) ↗"/>
          </p:cNvPr>
          <p:cNvSpPr/>
          <p:nvPr/>
        </p:nvSpPr>
        <p:spPr>
          <a:xfrm>
            <a:off x="1188720" y="6401633"/>
            <a:ext cx="143256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Bertran et al., PNAS (2026) ↗"/>
          </p:cNvPr>
          <p:cNvSpPr/>
          <p:nvPr/>
        </p:nvSpPr>
        <p:spPr>
          <a:xfrm>
            <a:off x="2743200" y="6401633"/>
            <a:ext cx="16611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Data: released runs (GitHub) ↗"/>
          </p:cNvPr>
          <p:cNvSpPr/>
          <p:nvPr/>
        </p:nvSpPr>
        <p:spPr>
          <a:xfrm>
            <a:off x="4526280" y="6401633"/>
            <a:ext cx="17145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Silberzahn et al., soccer data (OSF) ↗"/>
          </p:cNvPr>
          <p:cNvSpPr/>
          <p:nvPr/>
        </p:nvSpPr>
        <p:spPr>
          <a:xfrm>
            <a:off x="6362700" y="6401633"/>
            <a:ext cx="201930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heck what drives an AI analysis’s verdic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3672985" y="175438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3]"/>
          </p:cNvPr>
          <p:cNvSpPr/>
          <p:nvPr/>
        </p:nvSpPr>
        <p:spPr>
          <a:xfrm>
            <a:off x="11071631" y="29812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11374450" y="432994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p:cNvPr>
          <p:cNvSpPr/>
          <p:nvPr/>
        </p:nvSpPr>
        <p:spPr>
          <a:xfrm>
            <a:off x="11384280" y="12895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Bertran et al., PNAS (2026)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Data: released runs (GitHub) ↗"/>
          </p:cNvPr>
          <p:cNvSpPr/>
          <p:nvPr/>
        </p:nvSpPr>
        <p:spPr>
          <a:xfrm>
            <a:off x="2971800" y="6401633"/>
            <a:ext cx="171450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Strong CS prompt (GitHub) ↗"/>
          </p:cNvPr>
          <p:cNvSpPr/>
          <p:nvPr/>
        </p:nvSpPr>
        <p:spPr>
          <a:xfrm>
            <a:off x="4808220" y="6401633"/>
            <a:ext cx="16306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Judge AI’s help by measurement, not impression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2]"/>
          </p:cNvPr>
          <p:cNvSpPr/>
          <p:nvPr/>
        </p:nvSpPr>
        <p:spPr>
          <a:xfrm>
            <a:off x="5395753" y="4085344"/>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p:cNvPr>
          <p:cNvSpPr/>
          <p:nvPr/>
        </p:nvSpPr>
        <p:spPr>
          <a:xfrm>
            <a:off x="4869241" y="18610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2]"/>
          </p:cNvPr>
          <p:cNvSpPr/>
          <p:nvPr/>
        </p:nvSpPr>
        <p:spPr>
          <a:xfrm>
            <a:off x="10043389" y="18610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METR (2025) ↗"/>
          </p:cNvPr>
          <p:cNvSpPr/>
          <p:nvPr/>
        </p:nvSpPr>
        <p:spPr>
          <a:xfrm>
            <a:off x="1188720" y="6401633"/>
            <a:ext cx="97536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METR update (2026) ↗"/>
          </p:cNvPr>
          <p:cNvSpPr/>
          <p:nvPr/>
        </p:nvSpPr>
        <p:spPr>
          <a:xfrm>
            <a:off x="2286000" y="6401633"/>
            <a:ext cx="13563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Measure what students can do after AI help.">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69280" y="16172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11384280" y="16172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814347" y="5061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455021" y="50614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1] Strömberg et al. (2026) ↗"/>
          </p:cNvPr>
          <p:cNvSpPr/>
          <p:nvPr/>
        </p:nvSpPr>
        <p:spPr>
          <a:xfrm>
            <a:off x="1188720" y="6401633"/>
            <a:ext cx="145542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2] Rismanchian et al. (2026) ↗"/>
          </p:cNvPr>
          <p:cNvSpPr/>
          <p:nvPr/>
        </p:nvSpPr>
        <p:spPr>
          <a:xfrm>
            <a:off x="2766060" y="6401633"/>
            <a:ext cx="15468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3] Liu, Sweet et al. (2026) ↗"/>
          </p:cNvPr>
          <p:cNvSpPr/>
          <p:nvPr/>
        </p:nvSpPr>
        <p:spPr>
          <a:xfrm>
            <a:off x="4434840" y="6401633"/>
            <a:ext cx="144780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4] Yang et al. (2026) ↗"/>
          </p:cNvPr>
          <p:cNvSpPr/>
          <p:nvPr/>
        </p:nvSpPr>
        <p:spPr>
          <a:xfrm>
            <a:off x="600456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 AI for guided practice, then test yourself.">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942832" y="16553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864267" y="16553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1] Gallegos (2026) ↗"/>
          </p:cNvPr>
          <p:cNvSpPr/>
          <p:nvPr/>
        </p:nvSpPr>
        <p:spPr>
          <a:xfrm>
            <a:off x="1188720" y="6401633"/>
            <a:ext cx="10896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Yang et al. (2026) ↗"/>
          </p:cNvPr>
          <p:cNvSpPr/>
          <p:nvPr/>
        </p:nvSpPr>
        <p:spPr>
          <a:xfrm>
            <a:off x="2400300" y="6401633"/>
            <a:ext cx="11658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heck the rules before using AI or sharing data.">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947160" y="13212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7978140" y="4537591"/>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Purdue teaching guidance ↗"/>
          </p:cNvPr>
          <p:cNvSpPr/>
          <p:nvPr/>
        </p:nvSpPr>
        <p:spPr>
          <a:xfrm>
            <a:off x="1188720" y="6401633"/>
            <a:ext cx="15849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ASA ethical guidance ↗"/>
          </p:cNvPr>
          <p:cNvSpPr/>
          <p:nvPr/>
        </p:nvSpPr>
        <p:spPr>
          <a:xfrm>
            <a:off x="2895600" y="6401633"/>
            <a:ext cx="131826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uild understanding—and match AI help to the task.">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263399" y="22573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485187" y="22573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6457386" y="225730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8884311" y="225730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3675332" y="319456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3309206" y="352984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7]"/>
          </p:cNvPr>
          <p:cNvSpPr/>
          <p:nvPr/>
        </p:nvSpPr>
        <p:spPr>
          <a:xfrm>
            <a:off x="7417879" y="300406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1] Gallup (July 2026) ↗"/>
          </p:cNvPr>
          <p:cNvSpPr/>
          <p:nvPr/>
        </p:nvSpPr>
        <p:spPr>
          <a:xfrm>
            <a:off x="1188720" y="6226373"/>
            <a:ext cx="118110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2] Gallup (April 2026) ↗"/>
          </p:cNvPr>
          <p:cNvSpPr/>
          <p:nvPr/>
        </p:nvSpPr>
        <p:spPr>
          <a:xfrm>
            <a:off x="2491740" y="6226373"/>
            <a:ext cx="121158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3] Brynjolfsson et al. (2026) ↗"/>
          </p:cNvPr>
          <p:cNvSpPr/>
          <p:nvPr/>
        </p:nvSpPr>
        <p:spPr>
          <a:xfrm>
            <a:off x="3825240" y="6226373"/>
            <a:ext cx="156210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4] Dratsch et al. (2023) ↗"/>
          </p:cNvPr>
          <p:cNvSpPr/>
          <p:nvPr/>
        </p:nvSpPr>
        <p:spPr>
          <a:xfrm>
            <a:off x="5509260" y="6226373"/>
            <a:ext cx="133350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5] Sinha &amp; Kapur (2021) ↗"/>
          </p:cNvPr>
          <p:cNvSpPr/>
          <p:nvPr/>
        </p:nvSpPr>
        <p:spPr>
          <a:xfrm>
            <a:off x="6964680" y="6226373"/>
            <a:ext cx="135636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6] Palazzo et al. (2010) ↗"/>
          </p:cNvPr>
          <p:cNvSpPr/>
          <p:nvPr/>
        </p:nvSpPr>
        <p:spPr>
          <a:xfrm>
            <a:off x="8442960" y="6226373"/>
            <a:ext cx="132588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7] Tetzlaff et al. (2025) ↗"/>
          </p:cNvPr>
          <p:cNvSpPr/>
          <p:nvPr/>
        </p:nvSpPr>
        <p:spPr>
          <a:xfrm>
            <a:off x="609600" y="6401633"/>
            <a:ext cx="1325880" cy="160020"/>
          </a:xfrm>
          <a:prstGeom prst="rect">
            <a:avLst/>
          </a:prstGeom>
          <a:solidFill>
            <a:srgbClr val="FFFFFF">
              <a:alpha val="0"/>
            </a:srgbClr>
          </a:solidFill>
          <a:ln w="12700">
            <a:solidFill>
              <a:srgbClr val="FFFFFF">
                <a:alpha val="0"/>
              </a:srgbClr>
            </a:solidFill>
            <a:prstDash val="solid"/>
          </a:ln>
        </p:spPr>
      </p:sp>
      <p:sp>
        <p:nvSpPr>
          <p:cNvPr id="17" name="Shape 14">
            <a:hlinkClick r:id="rId16" tooltip="[8] Eloundou et al. (2024) ↗"/>
          </p:cNvPr>
          <p:cNvSpPr/>
          <p:nvPr/>
        </p:nvSpPr>
        <p:spPr>
          <a:xfrm>
            <a:off x="2057400" y="6401633"/>
            <a:ext cx="14020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onnect what you learn to something you care abou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2737317" y="169342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345628" y="23944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10239680" y="23944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5433693" y="321742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10893857" y="30650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6]"/>
          </p:cNvPr>
          <p:cNvSpPr/>
          <p:nvPr/>
        </p:nvSpPr>
        <p:spPr>
          <a:xfrm>
            <a:off x="6152884" y="404038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6]"/>
          </p:cNvPr>
          <p:cNvSpPr/>
          <p:nvPr/>
        </p:nvSpPr>
        <p:spPr>
          <a:xfrm>
            <a:off x="9082202" y="404038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7]"/>
          </p:cNvPr>
          <p:cNvSpPr/>
          <p:nvPr/>
        </p:nvSpPr>
        <p:spPr>
          <a:xfrm>
            <a:off x="6403558" y="486334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8]"/>
          </p:cNvPr>
          <p:cNvSpPr/>
          <p:nvPr/>
        </p:nvSpPr>
        <p:spPr>
          <a:xfrm>
            <a:off x="9570949" y="4863346"/>
            <a:ext cx="198120" cy="152400"/>
          </a:xfrm>
          <a:prstGeom prst="rect">
            <a:avLst/>
          </a:prstGeom>
          <a:solidFill>
            <a:srgbClr val="FFFFFF">
              <a:alpha val="0"/>
            </a:srgbClr>
          </a:solidFill>
          <a:ln w="12700">
            <a:solidFill>
              <a:srgbClr val="FFFFFF">
                <a:alpha val="0"/>
              </a:srgbClr>
            </a:solidFill>
            <a:prstDash val="solid"/>
          </a:ln>
        </p:spPr>
      </p:sp>
      <p:sp>
        <p:nvSpPr>
          <p:cNvPr id="12" name="Shape 9">
            <a:hlinkClick r:id="rId11" tooltip="[1] Purdue DS–Statistics plan (2025–26) ↗"/>
          </p:cNvPr>
          <p:cNvSpPr/>
          <p:nvPr/>
        </p:nvSpPr>
        <p:spPr>
          <a:xfrm>
            <a:off x="1188720" y="6226373"/>
            <a:ext cx="214884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2] Baydin et al. (2018) ↗"/>
          </p:cNvPr>
          <p:cNvSpPr/>
          <p:nvPr/>
        </p:nvSpPr>
        <p:spPr>
          <a:xfrm>
            <a:off x="3459480" y="6226373"/>
            <a:ext cx="12725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3] Rumelhart et al., Nature (1986) ↗"/>
          </p:cNvPr>
          <p:cNvSpPr/>
          <p:nvPr/>
        </p:nvSpPr>
        <p:spPr>
          <a:xfrm>
            <a:off x="4853940" y="6226373"/>
            <a:ext cx="184404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4] Jurafsky &amp; Martin, ch. 3 ↗"/>
          </p:cNvPr>
          <p:cNvSpPr/>
          <p:nvPr/>
        </p:nvSpPr>
        <p:spPr>
          <a:xfrm>
            <a:off x="6819900" y="6226373"/>
            <a:ext cx="147828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5] Radford et al., GPT (2018) ↗"/>
          </p:cNvPr>
          <p:cNvSpPr/>
          <p:nvPr/>
        </p:nvSpPr>
        <p:spPr>
          <a:xfrm>
            <a:off x="8420100" y="6226373"/>
            <a:ext cx="1630680" cy="160020"/>
          </a:xfrm>
          <a:prstGeom prst="rect">
            <a:avLst/>
          </a:prstGeom>
          <a:solidFill>
            <a:srgbClr val="FFFFFF">
              <a:alpha val="0"/>
            </a:srgbClr>
          </a:solidFill>
          <a:ln w="12700">
            <a:solidFill>
              <a:srgbClr val="FFFFFF">
                <a:alpha val="0"/>
              </a:srgbClr>
            </a:solidFill>
            <a:prstDash val="solid"/>
          </a:ln>
        </p:spPr>
      </p:sp>
      <p:sp>
        <p:nvSpPr>
          <p:cNvPr id="17" name="Shape 14">
            <a:hlinkClick r:id="rId16" tooltip="[6] Reimers &amp; Gurevych (2019) ↗"/>
          </p:cNvPr>
          <p:cNvSpPr/>
          <p:nvPr/>
        </p:nvSpPr>
        <p:spPr>
          <a:xfrm>
            <a:off x="609600" y="6401633"/>
            <a:ext cx="1668780" cy="160020"/>
          </a:xfrm>
          <a:prstGeom prst="rect">
            <a:avLst/>
          </a:prstGeom>
          <a:solidFill>
            <a:srgbClr val="FFFFFF">
              <a:alpha val="0"/>
            </a:srgbClr>
          </a:solidFill>
          <a:ln w="12700">
            <a:solidFill>
              <a:srgbClr val="FFFFFF">
                <a:alpha val="0"/>
              </a:srgbClr>
            </a:solidFill>
            <a:prstDash val="solid"/>
          </a:ln>
        </p:spPr>
      </p:sp>
      <p:sp>
        <p:nvSpPr>
          <p:cNvPr id="18" name="Shape 15">
            <a:hlinkClick r:id="rId17" tooltip="[7] Angelopoulos &amp; Bates (2022) ↗"/>
          </p:cNvPr>
          <p:cNvSpPr/>
          <p:nvPr/>
        </p:nvSpPr>
        <p:spPr>
          <a:xfrm>
            <a:off x="2400300" y="6401633"/>
            <a:ext cx="1775460" cy="160020"/>
          </a:xfrm>
          <a:prstGeom prst="rect">
            <a:avLst/>
          </a:prstGeom>
          <a:solidFill>
            <a:srgbClr val="FFFFFF">
              <a:alpha val="0"/>
            </a:srgbClr>
          </a:solidFill>
          <a:ln w="12700">
            <a:solidFill>
              <a:srgbClr val="FFFFFF">
                <a:alpha val="0"/>
              </a:srgbClr>
            </a:solidFill>
            <a:prstDash val="solid"/>
          </a:ln>
        </p:spPr>
      </p:sp>
      <p:sp>
        <p:nvSpPr>
          <p:cNvPr id="19" name="Shape 16">
            <a:hlinkClick r:id="rId18" tooltip="[8] Quach et al. (2024) ↗"/>
          </p:cNvPr>
          <p:cNvSpPr/>
          <p:nvPr/>
        </p:nvSpPr>
        <p:spPr>
          <a:xfrm>
            <a:off x="4297680" y="6401633"/>
            <a:ext cx="1257300" cy="160020"/>
          </a:xfrm>
          <a:prstGeom prst="rect">
            <a:avLst/>
          </a:prstGeom>
          <a:solidFill>
            <a:srgbClr val="FFFFFF">
              <a:alpha val="0"/>
            </a:srgbClr>
          </a:solidFill>
          <a:ln w="12700">
            <a:solidFill>
              <a:srgbClr val="FFFFFF">
                <a:alpha val="0"/>
              </a:srgbClr>
            </a:solidFill>
            <a:prstDash val="solid"/>
          </a:ln>
        </p:spPr>
      </p:sp>
      <p:sp>
        <p:nvSpPr>
          <p:cNvPr id="20" name="Shape 17">
            <a:hlinkClick r:id="rId19" tooltip="[9] Purdue MA course descriptions ↗"/>
          </p:cNvPr>
          <p:cNvSpPr/>
          <p:nvPr/>
        </p:nvSpPr>
        <p:spPr>
          <a:xfrm>
            <a:off x="5676900" y="6401633"/>
            <a:ext cx="18440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 AI to connect your courses to your goal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6355080" y="240970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479176" y="35146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10395661" y="405562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1] Purdue STAT course descriptions ↗"/>
          </p:cNvPr>
          <p:cNvSpPr/>
          <p:nvPr/>
        </p:nvSpPr>
        <p:spPr>
          <a:xfrm>
            <a:off x="1188720" y="6401633"/>
            <a:ext cx="1943100" cy="160020"/>
          </a:xfrm>
          <a:prstGeom prst="rect">
            <a:avLst/>
          </a:prstGeom>
          <a:solidFill>
            <a:srgbClr val="FFFFFF">
              <a:alpha val="0"/>
            </a:srgbClr>
          </a:solidFill>
          <a:ln w="12700">
            <a:solidFill>
              <a:srgbClr val="FFFFFF">
                <a:alpha val="0"/>
              </a:srgbClr>
            </a:solidFill>
            <a:prstDash val="solid"/>
          </a:ln>
        </p:spPr>
      </p:sp>
      <p:sp>
        <p:nvSpPr>
          <p:cNvPr id="7" name="Shape 4">
            <a:hlinkClick r:id="rId6" tooltip="[2] Opta Analyst (2023), xG ↗"/>
          </p:cNvPr>
          <p:cNvSpPr/>
          <p:nvPr/>
        </p:nvSpPr>
        <p:spPr>
          <a:xfrm>
            <a:off x="3253740" y="6401633"/>
            <a:ext cx="1501140" cy="160020"/>
          </a:xfrm>
          <a:prstGeom prst="rect">
            <a:avLst/>
          </a:prstGeom>
          <a:solidFill>
            <a:srgbClr val="FFFFFF">
              <a:alpha val="0"/>
            </a:srgbClr>
          </a:solidFill>
          <a:ln w="12700">
            <a:solidFill>
              <a:srgbClr val="FFFFFF">
                <a:alpha val="0"/>
              </a:srgbClr>
            </a:solidFill>
            <a:prstDash val="solid"/>
          </a:ln>
        </p:spPr>
      </p:sp>
      <p:sp>
        <p:nvSpPr>
          <p:cNvPr id="8" name="Shape 5">
            <a:hlinkClick r:id="rId7" tooltip="[3] Canning &amp; Harackiewicz (2015) ↗"/>
          </p:cNvPr>
          <p:cNvSpPr/>
          <p:nvPr/>
        </p:nvSpPr>
        <p:spPr>
          <a:xfrm>
            <a:off x="4876800" y="6401633"/>
            <a:ext cx="18592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Know what the tool can do—and what you may shar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3367674" y="23487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5288440" y="218110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6998924" y="250876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7220712" y="250876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3904641" y="294310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5]"/>
          </p:cNvPr>
          <p:cNvSpPr/>
          <p:nvPr/>
        </p:nvSpPr>
        <p:spPr>
          <a:xfrm>
            <a:off x="5776722" y="294310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6]"/>
          </p:cNvPr>
          <p:cNvSpPr/>
          <p:nvPr/>
        </p:nvSpPr>
        <p:spPr>
          <a:xfrm>
            <a:off x="5998502" y="2943106"/>
            <a:ext cx="198120" cy="152400"/>
          </a:xfrm>
          <a:prstGeom prst="rect">
            <a:avLst/>
          </a:prstGeom>
          <a:solidFill>
            <a:srgbClr val="FFFFFF">
              <a:alpha val="0"/>
            </a:srgbClr>
          </a:solidFill>
          <a:ln w="12700">
            <a:solidFill>
              <a:srgbClr val="FFFFFF">
                <a:alpha val="0"/>
              </a:srgbClr>
            </a:solidFill>
            <a:prstDash val="solid"/>
          </a:ln>
        </p:spPr>
      </p:sp>
      <p:sp>
        <p:nvSpPr>
          <p:cNvPr id="10" name="Shape 7">
            <a:hlinkClick r:id="rId9" tooltip="[5]"/>
          </p:cNvPr>
          <p:cNvSpPr/>
          <p:nvPr/>
        </p:nvSpPr>
        <p:spPr>
          <a:xfrm>
            <a:off x="8017467" y="2943106"/>
            <a:ext cx="198120" cy="152400"/>
          </a:xfrm>
          <a:prstGeom prst="rect">
            <a:avLst/>
          </a:prstGeom>
          <a:solidFill>
            <a:srgbClr val="FFFFFF">
              <a:alpha val="0"/>
            </a:srgbClr>
          </a:solidFill>
          <a:ln w="12700">
            <a:solidFill>
              <a:srgbClr val="FFFFFF">
                <a:alpha val="0"/>
              </a:srgbClr>
            </a:solidFill>
            <a:prstDash val="solid"/>
          </a:ln>
        </p:spPr>
      </p:sp>
      <p:sp>
        <p:nvSpPr>
          <p:cNvPr id="11" name="Shape 8">
            <a:hlinkClick r:id="rId10" tooltip="Log in: genai.rcac.purdue.edu ↗"/>
          </p:cNvPr>
          <p:cNvSpPr/>
          <p:nvPr/>
        </p:nvSpPr>
        <p:spPr>
          <a:xfrm>
            <a:off x="2499360" y="3910846"/>
            <a:ext cx="1546860" cy="106680"/>
          </a:xfrm>
          <a:prstGeom prst="rect">
            <a:avLst/>
          </a:prstGeom>
          <a:solidFill>
            <a:srgbClr val="FFFFFF">
              <a:alpha val="0"/>
            </a:srgbClr>
          </a:solidFill>
          <a:ln w="12700">
            <a:solidFill>
              <a:srgbClr val="FFFFFF">
                <a:alpha val="0"/>
              </a:srgbClr>
            </a:solidFill>
            <a:prstDash val="solid"/>
          </a:ln>
        </p:spPr>
      </p:sp>
      <p:sp>
        <p:nvSpPr>
          <p:cNvPr id="12" name="Shape 9">
            <a:hlinkClick r:id="rId11" tooltip="[7]"/>
          </p:cNvPr>
          <p:cNvSpPr/>
          <p:nvPr/>
        </p:nvSpPr>
        <p:spPr>
          <a:xfrm>
            <a:off x="3701514" y="3705106"/>
            <a:ext cx="198120" cy="152400"/>
          </a:xfrm>
          <a:prstGeom prst="rect">
            <a:avLst/>
          </a:prstGeom>
          <a:solidFill>
            <a:srgbClr val="FFFFFF">
              <a:alpha val="0"/>
            </a:srgbClr>
          </a:solidFill>
          <a:ln w="12700">
            <a:solidFill>
              <a:srgbClr val="FFFFFF">
                <a:alpha val="0"/>
              </a:srgbClr>
            </a:solidFill>
            <a:prstDash val="solid"/>
          </a:ln>
        </p:spPr>
      </p:sp>
      <p:sp>
        <p:nvSpPr>
          <p:cNvPr id="13" name="Shape 10">
            <a:hlinkClick r:id="rId12" tooltip="[8]"/>
          </p:cNvPr>
          <p:cNvSpPr/>
          <p:nvPr/>
        </p:nvSpPr>
        <p:spPr>
          <a:xfrm>
            <a:off x="5683430" y="3705106"/>
            <a:ext cx="198120" cy="152400"/>
          </a:xfrm>
          <a:prstGeom prst="rect">
            <a:avLst/>
          </a:prstGeom>
          <a:solidFill>
            <a:srgbClr val="FFFFFF">
              <a:alpha val="0"/>
            </a:srgbClr>
          </a:solidFill>
          <a:ln w="12700">
            <a:solidFill>
              <a:srgbClr val="FFFFFF">
                <a:alpha val="0"/>
              </a:srgbClr>
            </a:solidFill>
            <a:prstDash val="solid"/>
          </a:ln>
        </p:spPr>
      </p:sp>
      <p:sp>
        <p:nvSpPr>
          <p:cNvPr id="14" name="Shape 11">
            <a:hlinkClick r:id="rId13" tooltip="[9]"/>
          </p:cNvPr>
          <p:cNvSpPr/>
          <p:nvPr/>
        </p:nvSpPr>
        <p:spPr>
          <a:xfrm>
            <a:off x="7941792" y="3705106"/>
            <a:ext cx="198120" cy="152400"/>
          </a:xfrm>
          <a:prstGeom prst="rect">
            <a:avLst/>
          </a:prstGeom>
          <a:solidFill>
            <a:srgbClr val="FFFFFF">
              <a:alpha val="0"/>
            </a:srgbClr>
          </a:solidFill>
          <a:ln w="12700">
            <a:solidFill>
              <a:srgbClr val="FFFFFF">
                <a:alpha val="0"/>
              </a:srgbClr>
            </a:solidFill>
            <a:prstDash val="solid"/>
          </a:ln>
        </p:spPr>
      </p:sp>
      <p:sp>
        <p:nvSpPr>
          <p:cNvPr id="15" name="Shape 12">
            <a:hlinkClick r:id="rId14" tooltip="[10]"/>
          </p:cNvPr>
          <p:cNvSpPr/>
          <p:nvPr/>
        </p:nvSpPr>
        <p:spPr>
          <a:xfrm>
            <a:off x="2867642" y="4794766"/>
            <a:ext cx="289560" cy="152400"/>
          </a:xfrm>
          <a:prstGeom prst="rect">
            <a:avLst/>
          </a:prstGeom>
          <a:solidFill>
            <a:srgbClr val="FFFFFF">
              <a:alpha val="0"/>
            </a:srgbClr>
          </a:solidFill>
          <a:ln w="12700">
            <a:solidFill>
              <a:srgbClr val="FFFFFF">
                <a:alpha val="0"/>
              </a:srgbClr>
            </a:solidFill>
            <a:prstDash val="solid"/>
          </a:ln>
        </p:spPr>
      </p:sp>
      <p:sp>
        <p:nvSpPr>
          <p:cNvPr id="16" name="Shape 13">
            <a:hlinkClick r:id="rId15" tooltip="[11]"/>
          </p:cNvPr>
          <p:cNvSpPr/>
          <p:nvPr/>
        </p:nvSpPr>
        <p:spPr>
          <a:xfrm>
            <a:off x="3181350" y="4794766"/>
            <a:ext cx="289560" cy="152400"/>
          </a:xfrm>
          <a:prstGeom prst="rect">
            <a:avLst/>
          </a:prstGeom>
          <a:solidFill>
            <a:srgbClr val="FFFFFF">
              <a:alpha val="0"/>
            </a:srgbClr>
          </a:solidFill>
          <a:ln w="12700">
            <a:solidFill>
              <a:srgbClr val="FFFFFF">
                <a:alpha val="0"/>
              </a:srgbClr>
            </a:solidFill>
            <a:prstDash val="solid"/>
          </a:ln>
        </p:spPr>
      </p:sp>
      <p:sp>
        <p:nvSpPr>
          <p:cNvPr id="17" name="Shape 14">
            <a:hlinkClick r:id="rId16" tooltip="[10]"/>
          </p:cNvPr>
          <p:cNvSpPr/>
          <p:nvPr/>
        </p:nvSpPr>
        <p:spPr>
          <a:xfrm>
            <a:off x="5336088" y="4467106"/>
            <a:ext cx="289560" cy="152400"/>
          </a:xfrm>
          <a:prstGeom prst="rect">
            <a:avLst/>
          </a:prstGeom>
          <a:solidFill>
            <a:srgbClr val="FFFFFF">
              <a:alpha val="0"/>
            </a:srgbClr>
          </a:solidFill>
          <a:ln w="12700">
            <a:solidFill>
              <a:srgbClr val="FFFFFF">
                <a:alpha val="0"/>
              </a:srgbClr>
            </a:solidFill>
            <a:prstDash val="solid"/>
          </a:ln>
        </p:spPr>
      </p:sp>
      <p:sp>
        <p:nvSpPr>
          <p:cNvPr id="18" name="Shape 15">
            <a:hlinkClick r:id="rId17" tooltip="[12]"/>
          </p:cNvPr>
          <p:cNvSpPr/>
          <p:nvPr/>
        </p:nvSpPr>
        <p:spPr>
          <a:xfrm>
            <a:off x="7582753" y="4467106"/>
            <a:ext cx="289560" cy="152400"/>
          </a:xfrm>
          <a:prstGeom prst="rect">
            <a:avLst/>
          </a:prstGeom>
          <a:solidFill>
            <a:srgbClr val="FFFFFF">
              <a:alpha val="0"/>
            </a:srgbClr>
          </a:solidFill>
          <a:ln w="12700">
            <a:solidFill>
              <a:srgbClr val="FFFFFF">
                <a:alpha val="0"/>
              </a:srgbClr>
            </a:solidFill>
            <a:prstDash val="solid"/>
          </a:ln>
        </p:spPr>
      </p:sp>
      <p:sp>
        <p:nvSpPr>
          <p:cNvPr id="19" name="Shape 16">
            <a:hlinkClick r:id="rId18" tooltip="[6]"/>
          </p:cNvPr>
          <p:cNvSpPr/>
          <p:nvPr/>
        </p:nvSpPr>
        <p:spPr>
          <a:xfrm>
            <a:off x="11032617" y="2447806"/>
            <a:ext cx="198120" cy="152400"/>
          </a:xfrm>
          <a:prstGeom prst="rect">
            <a:avLst/>
          </a:prstGeom>
          <a:solidFill>
            <a:srgbClr val="FFFFFF">
              <a:alpha val="0"/>
            </a:srgbClr>
          </a:solidFill>
          <a:ln w="12700">
            <a:solidFill>
              <a:srgbClr val="FFFFFF">
                <a:alpha val="0"/>
              </a:srgbClr>
            </a:solidFill>
            <a:prstDash val="solid"/>
          </a:ln>
        </p:spPr>
      </p:sp>
      <p:sp>
        <p:nvSpPr>
          <p:cNvPr id="20" name="Shape 17">
            <a:hlinkClick r:id="rId19" tooltip="[5]"/>
          </p:cNvPr>
          <p:cNvSpPr/>
          <p:nvPr/>
        </p:nvSpPr>
        <p:spPr>
          <a:xfrm>
            <a:off x="9922992" y="3362206"/>
            <a:ext cx="198120" cy="152400"/>
          </a:xfrm>
          <a:prstGeom prst="rect">
            <a:avLst/>
          </a:prstGeom>
          <a:solidFill>
            <a:srgbClr val="FFFFFF">
              <a:alpha val="0"/>
            </a:srgbClr>
          </a:solidFill>
          <a:ln w="12700">
            <a:solidFill>
              <a:srgbClr val="FFFFFF">
                <a:alpha val="0"/>
              </a:srgbClr>
            </a:solidFill>
            <a:prstDash val="solid"/>
          </a:ln>
        </p:spPr>
      </p:sp>
      <p:sp>
        <p:nvSpPr>
          <p:cNvPr id="21" name="Shape 18">
            <a:hlinkClick r:id="rId20" tooltip="[6]"/>
          </p:cNvPr>
          <p:cNvSpPr/>
          <p:nvPr/>
        </p:nvSpPr>
        <p:spPr>
          <a:xfrm>
            <a:off x="10144811" y="3362206"/>
            <a:ext cx="198120" cy="152400"/>
          </a:xfrm>
          <a:prstGeom prst="rect">
            <a:avLst/>
          </a:prstGeom>
          <a:solidFill>
            <a:srgbClr val="FFFFFF">
              <a:alpha val="0"/>
            </a:srgbClr>
          </a:solidFill>
          <a:ln w="12700">
            <a:solidFill>
              <a:srgbClr val="FFFFFF">
                <a:alpha val="0"/>
              </a:srgbClr>
            </a:solidFill>
            <a:prstDash val="solid"/>
          </a:ln>
        </p:spPr>
      </p:sp>
      <p:sp>
        <p:nvSpPr>
          <p:cNvPr id="22" name="Shape 19">
            <a:hlinkClick r:id="rId21" tooltip="[7]"/>
          </p:cNvPr>
          <p:cNvSpPr/>
          <p:nvPr/>
        </p:nvSpPr>
        <p:spPr>
          <a:xfrm>
            <a:off x="9485376" y="4124206"/>
            <a:ext cx="198120" cy="152400"/>
          </a:xfrm>
          <a:prstGeom prst="rect">
            <a:avLst/>
          </a:prstGeom>
          <a:solidFill>
            <a:srgbClr val="FFFFFF">
              <a:alpha val="0"/>
            </a:srgbClr>
          </a:solidFill>
          <a:ln w="12700">
            <a:solidFill>
              <a:srgbClr val="FFFFFF">
                <a:alpha val="0"/>
              </a:srgbClr>
            </a:solidFill>
            <a:prstDash val="solid"/>
          </a:ln>
        </p:spPr>
      </p:sp>
      <p:sp>
        <p:nvSpPr>
          <p:cNvPr id="23" name="Shape 20">
            <a:hlinkClick r:id="rId22" tooltip="[11]"/>
          </p:cNvPr>
          <p:cNvSpPr/>
          <p:nvPr/>
        </p:nvSpPr>
        <p:spPr>
          <a:xfrm>
            <a:off x="9012250" y="4810006"/>
            <a:ext cx="289560" cy="152400"/>
          </a:xfrm>
          <a:prstGeom prst="rect">
            <a:avLst/>
          </a:prstGeom>
          <a:solidFill>
            <a:srgbClr val="FFFFFF">
              <a:alpha val="0"/>
            </a:srgbClr>
          </a:solidFill>
          <a:ln w="12700">
            <a:solidFill>
              <a:srgbClr val="FFFFFF">
                <a:alpha val="0"/>
              </a:srgbClr>
            </a:solidFill>
            <a:prstDash val="solid"/>
          </a:ln>
        </p:spPr>
      </p:sp>
      <p:sp>
        <p:nvSpPr>
          <p:cNvPr id="24" name="Shape 21">
            <a:hlinkClick r:id="rId23" tooltip="[1] OpenAI data use ↗"/>
          </p:cNvPr>
          <p:cNvSpPr/>
          <p:nvPr/>
        </p:nvSpPr>
        <p:spPr>
          <a:xfrm>
            <a:off x="1188720" y="6226373"/>
            <a:ext cx="1127760" cy="160020"/>
          </a:xfrm>
          <a:prstGeom prst="rect">
            <a:avLst/>
          </a:prstGeom>
          <a:solidFill>
            <a:srgbClr val="FFFFFF">
              <a:alpha val="0"/>
            </a:srgbClr>
          </a:solidFill>
          <a:ln w="12700">
            <a:solidFill>
              <a:srgbClr val="FFFFFF">
                <a:alpha val="0"/>
              </a:srgbClr>
            </a:solidFill>
            <a:prstDash val="solid"/>
          </a:ln>
        </p:spPr>
      </p:sp>
      <p:sp>
        <p:nvSpPr>
          <p:cNvPr id="25" name="Shape 22">
            <a:hlinkClick r:id="rId24" tooltip="[2] Gemini API terms ↗"/>
          </p:cNvPr>
          <p:cNvSpPr/>
          <p:nvPr/>
        </p:nvSpPr>
        <p:spPr>
          <a:xfrm>
            <a:off x="2438400" y="6226373"/>
            <a:ext cx="1135380" cy="160020"/>
          </a:xfrm>
          <a:prstGeom prst="rect">
            <a:avLst/>
          </a:prstGeom>
          <a:solidFill>
            <a:srgbClr val="FFFFFF">
              <a:alpha val="0"/>
            </a:srgbClr>
          </a:solidFill>
          <a:ln w="12700">
            <a:solidFill>
              <a:srgbClr val="FFFFFF">
                <a:alpha val="0"/>
              </a:srgbClr>
            </a:solidFill>
            <a:prstDash val="solid"/>
          </a:ln>
        </p:spPr>
      </p:sp>
      <p:sp>
        <p:nvSpPr>
          <p:cNvPr id="26" name="Shape 23">
            <a:hlinkClick r:id="rId25" tooltip="[3] Claude Code docs ↗"/>
          </p:cNvPr>
          <p:cNvSpPr/>
          <p:nvPr/>
        </p:nvSpPr>
        <p:spPr>
          <a:xfrm>
            <a:off x="3695700" y="6226373"/>
            <a:ext cx="1188720" cy="160020"/>
          </a:xfrm>
          <a:prstGeom prst="rect">
            <a:avLst/>
          </a:prstGeom>
          <a:solidFill>
            <a:srgbClr val="FFFFFF">
              <a:alpha val="0"/>
            </a:srgbClr>
          </a:solidFill>
          <a:ln w="12700">
            <a:solidFill>
              <a:srgbClr val="FFFFFF">
                <a:alpha val="0"/>
              </a:srgbClr>
            </a:solidFill>
            <a:prstDash val="solid"/>
          </a:ln>
        </p:spPr>
      </p:sp>
      <p:sp>
        <p:nvSpPr>
          <p:cNvPr id="27" name="Shape 24">
            <a:hlinkClick r:id="rId26" tooltip="[4] Codex docs ↗"/>
          </p:cNvPr>
          <p:cNvSpPr/>
          <p:nvPr/>
        </p:nvSpPr>
        <p:spPr>
          <a:xfrm>
            <a:off x="5006340" y="6226373"/>
            <a:ext cx="868680" cy="160020"/>
          </a:xfrm>
          <a:prstGeom prst="rect">
            <a:avLst/>
          </a:prstGeom>
          <a:solidFill>
            <a:srgbClr val="FFFFFF">
              <a:alpha val="0"/>
            </a:srgbClr>
          </a:solidFill>
          <a:ln w="12700">
            <a:solidFill>
              <a:srgbClr val="FFFFFF">
                <a:alpha val="0"/>
              </a:srgbClr>
            </a:solidFill>
            <a:prstDash val="solid"/>
          </a:ln>
        </p:spPr>
      </p:sp>
      <p:sp>
        <p:nvSpPr>
          <p:cNvPr id="28" name="Shape 25">
            <a:hlinkClick r:id="rId27" tooltip="[5] Purdue AI toolkit ↗"/>
          </p:cNvPr>
          <p:cNvSpPr/>
          <p:nvPr/>
        </p:nvSpPr>
        <p:spPr>
          <a:xfrm>
            <a:off x="5996940" y="6226373"/>
            <a:ext cx="1127760" cy="160020"/>
          </a:xfrm>
          <a:prstGeom prst="rect">
            <a:avLst/>
          </a:prstGeom>
          <a:solidFill>
            <a:srgbClr val="FFFFFF">
              <a:alpha val="0"/>
            </a:srgbClr>
          </a:solidFill>
          <a:ln w="12700">
            <a:solidFill>
              <a:srgbClr val="FFFFFF">
                <a:alpha val="0"/>
              </a:srgbClr>
            </a:solidFill>
            <a:prstDash val="solid"/>
          </a:ln>
        </p:spPr>
      </p:sp>
      <p:sp>
        <p:nvSpPr>
          <p:cNvPr id="29" name="Shape 26">
            <a:hlinkClick r:id="rId28" tooltip="[6] Purdue AI tools list (Oct. 2026) ↗"/>
          </p:cNvPr>
          <p:cNvSpPr/>
          <p:nvPr/>
        </p:nvSpPr>
        <p:spPr>
          <a:xfrm>
            <a:off x="7246620" y="6226373"/>
            <a:ext cx="1851660" cy="160020"/>
          </a:xfrm>
          <a:prstGeom prst="rect">
            <a:avLst/>
          </a:prstGeom>
          <a:solidFill>
            <a:srgbClr val="FFFFFF">
              <a:alpha val="0"/>
            </a:srgbClr>
          </a:solidFill>
          <a:ln w="12700">
            <a:solidFill>
              <a:srgbClr val="FFFFFF">
                <a:alpha val="0"/>
              </a:srgbClr>
            </a:solidFill>
            <a:prstDash val="solid"/>
          </a:ln>
        </p:spPr>
      </p:sp>
      <p:sp>
        <p:nvSpPr>
          <p:cNvPr id="30" name="Shape 27">
            <a:hlinkClick r:id="rId29" tooltip="[7] Purdue RCAC, GenAI Studio (Sept. 29) ↗"/>
          </p:cNvPr>
          <p:cNvSpPr/>
          <p:nvPr/>
        </p:nvSpPr>
        <p:spPr>
          <a:xfrm>
            <a:off x="609600" y="6401633"/>
            <a:ext cx="2209800" cy="160020"/>
          </a:xfrm>
          <a:prstGeom prst="rect">
            <a:avLst/>
          </a:prstGeom>
          <a:solidFill>
            <a:srgbClr val="FFFFFF">
              <a:alpha val="0"/>
            </a:srgbClr>
          </a:solidFill>
          <a:ln w="12700">
            <a:solidFill>
              <a:srgbClr val="FFFFFF">
                <a:alpha val="0"/>
              </a:srgbClr>
            </a:solidFill>
            <a:prstDash val="solid"/>
          </a:ln>
        </p:spPr>
      </p:sp>
      <p:sp>
        <p:nvSpPr>
          <p:cNvPr id="31" name="Shape 28">
            <a:hlinkClick r:id="rId30" tooltip="[8] Purdue RCAC, API guide ↗"/>
          </p:cNvPr>
          <p:cNvSpPr/>
          <p:nvPr/>
        </p:nvSpPr>
        <p:spPr>
          <a:xfrm>
            <a:off x="2941320" y="6401633"/>
            <a:ext cx="1508760" cy="160020"/>
          </a:xfrm>
          <a:prstGeom prst="rect">
            <a:avLst/>
          </a:prstGeom>
          <a:solidFill>
            <a:srgbClr val="FFFFFF">
              <a:alpha val="0"/>
            </a:srgbClr>
          </a:solidFill>
          <a:ln w="12700">
            <a:solidFill>
              <a:srgbClr val="FFFFFF">
                <a:alpha val="0"/>
              </a:srgbClr>
            </a:solidFill>
            <a:prstDash val="solid"/>
          </a:ln>
        </p:spPr>
      </p:sp>
      <p:sp>
        <p:nvSpPr>
          <p:cNvPr id="32" name="Shape 29">
            <a:hlinkClick r:id="rId31" tooltip="[9] GenAI Studio SDK (GitHub) ↗"/>
          </p:cNvPr>
          <p:cNvSpPr/>
          <p:nvPr/>
        </p:nvSpPr>
        <p:spPr>
          <a:xfrm>
            <a:off x="4572000" y="6401633"/>
            <a:ext cx="1653540" cy="160020"/>
          </a:xfrm>
          <a:prstGeom prst="rect">
            <a:avLst/>
          </a:prstGeom>
          <a:solidFill>
            <a:srgbClr val="FFFFFF">
              <a:alpha val="0"/>
            </a:srgbClr>
          </a:solidFill>
          <a:ln w="12700">
            <a:solidFill>
              <a:srgbClr val="FFFFFF">
                <a:alpha val="0"/>
              </a:srgbClr>
            </a:solidFill>
            <a:prstDash val="solid"/>
          </a:ln>
        </p:spPr>
      </p:sp>
      <p:sp>
        <p:nvSpPr>
          <p:cNvPr id="33" name="Shape 30">
            <a:hlinkClick r:id="rId32" tooltip="[10] llama.cpp ↗"/>
          </p:cNvPr>
          <p:cNvSpPr/>
          <p:nvPr/>
        </p:nvSpPr>
        <p:spPr>
          <a:xfrm>
            <a:off x="6347460" y="6401633"/>
            <a:ext cx="807720" cy="160020"/>
          </a:xfrm>
          <a:prstGeom prst="rect">
            <a:avLst/>
          </a:prstGeom>
          <a:solidFill>
            <a:srgbClr val="FFFFFF">
              <a:alpha val="0"/>
            </a:srgbClr>
          </a:solidFill>
          <a:ln w="12700">
            <a:solidFill>
              <a:srgbClr val="FFFFFF">
                <a:alpha val="0"/>
              </a:srgbClr>
            </a:solidFill>
            <a:prstDash val="solid"/>
          </a:ln>
        </p:spPr>
      </p:sp>
      <p:sp>
        <p:nvSpPr>
          <p:cNvPr id="34" name="Shape 31">
            <a:hlinkClick r:id="rId33" tooltip="[11] Ollama FAQ ↗"/>
          </p:cNvPr>
          <p:cNvSpPr/>
          <p:nvPr/>
        </p:nvSpPr>
        <p:spPr>
          <a:xfrm>
            <a:off x="7277100" y="6401633"/>
            <a:ext cx="952500" cy="160020"/>
          </a:xfrm>
          <a:prstGeom prst="rect">
            <a:avLst/>
          </a:prstGeom>
          <a:solidFill>
            <a:srgbClr val="FFFFFF">
              <a:alpha val="0"/>
            </a:srgbClr>
          </a:solidFill>
          <a:ln w="12700">
            <a:solidFill>
              <a:srgbClr val="FFFFFF">
                <a:alpha val="0"/>
              </a:srgbClr>
            </a:solidFill>
            <a:prstDash val="solid"/>
          </a:ln>
        </p:spPr>
      </p:sp>
      <p:sp>
        <p:nvSpPr>
          <p:cNvPr id="35" name="Shape 32">
            <a:hlinkClick r:id="rId34" tooltip="[12] Ollama tool calling ↗"/>
          </p:cNvPr>
          <p:cNvSpPr/>
          <p:nvPr/>
        </p:nvSpPr>
        <p:spPr>
          <a:xfrm>
            <a:off x="8351520" y="6401633"/>
            <a:ext cx="1272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Match the question to the source and the tool.">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336477" y="198298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269366" y="276022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4362450" y="276022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10806912" y="198298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9604096" y="451282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3]"/>
          </p:cNvPr>
          <p:cNvSpPr/>
          <p:nvPr/>
        </p:nvSpPr>
        <p:spPr>
          <a:xfrm>
            <a:off x="7563444" y="4832866"/>
            <a:ext cx="198120" cy="152400"/>
          </a:xfrm>
          <a:prstGeom prst="rect">
            <a:avLst/>
          </a:prstGeom>
          <a:solidFill>
            <a:srgbClr val="FFFFFF">
              <a:alpha val="0"/>
            </a:srgbClr>
          </a:solidFill>
          <a:ln w="12700">
            <a:solidFill>
              <a:srgbClr val="FFFFFF">
                <a:alpha val="0"/>
              </a:srgbClr>
            </a:solidFill>
            <a:prstDash val="solid"/>
          </a:ln>
        </p:spPr>
      </p:sp>
      <p:sp>
        <p:nvSpPr>
          <p:cNvPr id="9" name="Shape 6">
            <a:hlinkClick r:id="rId8" tooltip="[1] all-MiniLM-L6-v2 model card ↗"/>
          </p:cNvPr>
          <p:cNvSpPr/>
          <p:nvPr/>
        </p:nvSpPr>
        <p:spPr>
          <a:xfrm>
            <a:off x="1188720" y="6401633"/>
            <a:ext cx="173736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2] Soccer-study codebook (GitHub, d489f03) ↗"/>
          </p:cNvPr>
          <p:cNvSpPr/>
          <p:nvPr/>
        </p:nvSpPr>
        <p:spPr>
          <a:xfrm>
            <a:off x="3048000" y="6401633"/>
            <a:ext cx="242316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3] Retrieval scores (this talk) ↗"/>
          </p:cNvPr>
          <p:cNvSpPr/>
          <p:nvPr/>
        </p:nvSpPr>
        <p:spPr>
          <a:xfrm>
            <a:off x="5593080" y="6401633"/>
            <a:ext cx="157734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4] Data: released runs (GitHub) ↗"/>
          </p:cNvPr>
          <p:cNvSpPr/>
          <p:nvPr/>
        </p:nvSpPr>
        <p:spPr>
          <a:xfrm>
            <a:off x="7292340" y="6401633"/>
            <a:ext cx="171450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5] SQL script (this talk) ↗"/>
          </p:cNvPr>
          <p:cNvSpPr/>
          <p:nvPr/>
        </p:nvSpPr>
        <p:spPr>
          <a:xfrm>
            <a:off x="9128760" y="6401633"/>
            <a:ext cx="128778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Let coding agents act only within limits you set.">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9058275" y="163246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9302115" y="1632466"/>
            <a:ext cx="198120" cy="152400"/>
          </a:xfrm>
          <a:prstGeom prst="rect">
            <a:avLst/>
          </a:prstGeom>
          <a:solidFill>
            <a:srgbClr val="FFFFFF">
              <a:alpha val="0"/>
            </a:srgbClr>
          </a:solidFill>
          <a:ln w="12700">
            <a:solidFill>
              <a:srgbClr val="FFFFFF">
                <a:alpha val="0"/>
              </a:srgbClr>
            </a:solidFill>
            <a:prstDash val="solid"/>
          </a:ln>
        </p:spPr>
      </p:sp>
      <p:sp>
        <p:nvSpPr>
          <p:cNvPr id="5" name="Shape 2">
            <a:hlinkClick r:id="rId4" tooltip="[3]"/>
          </p:cNvPr>
          <p:cNvSpPr/>
          <p:nvPr/>
        </p:nvSpPr>
        <p:spPr>
          <a:xfrm>
            <a:off x="5371201" y="3811786"/>
            <a:ext cx="198120" cy="152400"/>
          </a:xfrm>
          <a:prstGeom prst="rect">
            <a:avLst/>
          </a:prstGeom>
          <a:solidFill>
            <a:srgbClr val="FFFFFF">
              <a:alpha val="0"/>
            </a:srgbClr>
          </a:solidFill>
          <a:ln w="12700">
            <a:solidFill>
              <a:srgbClr val="FFFFFF">
                <a:alpha val="0"/>
              </a:srgbClr>
            </a:solidFill>
            <a:prstDash val="solid"/>
          </a:ln>
        </p:spPr>
      </p:sp>
      <p:sp>
        <p:nvSpPr>
          <p:cNvPr id="6" name="Shape 3">
            <a:hlinkClick r:id="rId5" tooltip="[4]"/>
          </p:cNvPr>
          <p:cNvSpPr/>
          <p:nvPr/>
        </p:nvSpPr>
        <p:spPr>
          <a:xfrm>
            <a:off x="5615041" y="3811786"/>
            <a:ext cx="198120" cy="152400"/>
          </a:xfrm>
          <a:prstGeom prst="rect">
            <a:avLst/>
          </a:prstGeom>
          <a:solidFill>
            <a:srgbClr val="FFFFFF">
              <a:alpha val="0"/>
            </a:srgbClr>
          </a:solidFill>
          <a:ln w="12700">
            <a:solidFill>
              <a:srgbClr val="FFFFFF">
                <a:alpha val="0"/>
              </a:srgbClr>
            </a:solidFill>
            <a:prstDash val="solid"/>
          </a:ln>
        </p:spPr>
      </p:sp>
      <p:sp>
        <p:nvSpPr>
          <p:cNvPr id="7" name="Shape 4">
            <a:hlinkClick r:id="rId6" tooltip="[5]"/>
          </p:cNvPr>
          <p:cNvSpPr/>
          <p:nvPr/>
        </p:nvSpPr>
        <p:spPr>
          <a:xfrm>
            <a:off x="5360922" y="4916686"/>
            <a:ext cx="198120" cy="152400"/>
          </a:xfrm>
          <a:prstGeom prst="rect">
            <a:avLst/>
          </a:prstGeom>
          <a:solidFill>
            <a:srgbClr val="FFFFFF">
              <a:alpha val="0"/>
            </a:srgbClr>
          </a:solidFill>
          <a:ln w="12700">
            <a:solidFill>
              <a:srgbClr val="FFFFFF">
                <a:alpha val="0"/>
              </a:srgbClr>
            </a:solidFill>
            <a:prstDash val="solid"/>
          </a:ln>
        </p:spPr>
      </p:sp>
      <p:sp>
        <p:nvSpPr>
          <p:cNvPr id="8" name="Shape 5">
            <a:hlinkClick r:id="rId7" tooltip="[1] Codex approvals &amp; security ↗"/>
          </p:cNvPr>
          <p:cNvSpPr/>
          <p:nvPr/>
        </p:nvSpPr>
        <p:spPr>
          <a:xfrm>
            <a:off x="1188720" y="6401633"/>
            <a:ext cx="1661160" cy="160020"/>
          </a:xfrm>
          <a:prstGeom prst="rect">
            <a:avLst/>
          </a:prstGeom>
          <a:solidFill>
            <a:srgbClr val="FFFFFF">
              <a:alpha val="0"/>
            </a:srgbClr>
          </a:solidFill>
          <a:ln w="12700">
            <a:solidFill>
              <a:srgbClr val="FFFFFF">
                <a:alpha val="0"/>
              </a:srgbClr>
            </a:solidFill>
            <a:prstDash val="solid"/>
          </a:ln>
        </p:spPr>
      </p:sp>
      <p:sp>
        <p:nvSpPr>
          <p:cNvPr id="9" name="Shape 6">
            <a:hlinkClick r:id="rId8" tooltip="[2] Claude Code security docs ↗"/>
          </p:cNvPr>
          <p:cNvSpPr/>
          <p:nvPr/>
        </p:nvSpPr>
        <p:spPr>
          <a:xfrm>
            <a:off x="2971800" y="6401633"/>
            <a:ext cx="1615440" cy="160020"/>
          </a:xfrm>
          <a:prstGeom prst="rect">
            <a:avLst/>
          </a:prstGeom>
          <a:solidFill>
            <a:srgbClr val="FFFFFF">
              <a:alpha val="0"/>
            </a:srgbClr>
          </a:solidFill>
          <a:ln w="12700">
            <a:solidFill>
              <a:srgbClr val="FFFFFF">
                <a:alpha val="0"/>
              </a:srgbClr>
            </a:solidFill>
            <a:prstDash val="solid"/>
          </a:ln>
        </p:spPr>
      </p:sp>
      <p:sp>
        <p:nvSpPr>
          <p:cNvPr id="10" name="Shape 7">
            <a:hlinkClick r:id="rId9" tooltip="[3] Codex sandbox ↗"/>
          </p:cNvPr>
          <p:cNvSpPr/>
          <p:nvPr/>
        </p:nvSpPr>
        <p:spPr>
          <a:xfrm>
            <a:off x="4709160" y="6401633"/>
            <a:ext cx="1051560" cy="160020"/>
          </a:xfrm>
          <a:prstGeom prst="rect">
            <a:avLst/>
          </a:prstGeom>
          <a:solidFill>
            <a:srgbClr val="FFFFFF">
              <a:alpha val="0"/>
            </a:srgbClr>
          </a:solidFill>
          <a:ln w="12700">
            <a:solidFill>
              <a:srgbClr val="FFFFFF">
                <a:alpha val="0"/>
              </a:srgbClr>
            </a:solidFill>
            <a:prstDash val="solid"/>
          </a:ln>
        </p:spPr>
      </p:sp>
      <p:sp>
        <p:nvSpPr>
          <p:cNvPr id="11" name="Shape 8">
            <a:hlinkClick r:id="rId10" tooltip="[4] Claude Code sandboxing ↗"/>
          </p:cNvPr>
          <p:cNvSpPr/>
          <p:nvPr/>
        </p:nvSpPr>
        <p:spPr>
          <a:xfrm>
            <a:off x="5882640" y="6401633"/>
            <a:ext cx="15240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5] OWASP, Prompt Injection ↗"/>
          </p:cNvPr>
          <p:cNvSpPr/>
          <p:nvPr/>
        </p:nvSpPr>
        <p:spPr>
          <a:xfrm>
            <a:off x="7528560" y="6401633"/>
            <a:ext cx="15773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Try one new way to use AI this semester.">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Log in: genai.rcac.purdue.edu ↗"/>
          </p:cNvPr>
          <p:cNvSpPr/>
          <p:nvPr/>
        </p:nvSpPr>
        <p:spPr>
          <a:xfrm>
            <a:off x="609600" y="3646051"/>
            <a:ext cx="2148840" cy="205740"/>
          </a:xfrm>
          <a:prstGeom prst="rect">
            <a:avLst/>
          </a:prstGeom>
          <a:solidFill>
            <a:srgbClr val="FFFFFF">
              <a:alpha val="0"/>
            </a:srgbClr>
          </a:solidFill>
          <a:ln w="12700">
            <a:solidFill>
              <a:srgbClr val="FFFFFF">
                <a:alpha val="0"/>
              </a:srgbClr>
            </a:solidFill>
            <a:prstDash val="solid"/>
          </a:ln>
        </p:spPr>
      </p:sp>
      <p:sp>
        <p:nvSpPr>
          <p:cNvPr id="4" name="Shape 1">
            <a:hlinkClick r:id="rId3" tooltip="API guide ↗"/>
          </p:cNvPr>
          <p:cNvSpPr/>
          <p:nvPr/>
        </p:nvSpPr>
        <p:spPr>
          <a:xfrm>
            <a:off x="2926080" y="3646051"/>
            <a:ext cx="830580" cy="205740"/>
          </a:xfrm>
          <a:prstGeom prst="rect">
            <a:avLst/>
          </a:prstGeom>
          <a:solidFill>
            <a:srgbClr val="FFFFFF">
              <a:alpha val="0"/>
            </a:srgbClr>
          </a:solidFill>
          <a:ln w="12700">
            <a:solidFill>
              <a:srgbClr val="FFFFFF">
                <a:alpha val="0"/>
              </a:srgbClr>
            </a:solidFill>
            <a:prstDash val="solid"/>
          </a:ln>
        </p:spPr>
      </p:sp>
      <p:sp>
        <p:nvSpPr>
          <p:cNvPr id="5" name="Shape 2">
            <a:hlinkClick r:id="rId4" tooltip="[1]"/>
          </p:cNvPr>
          <p:cNvSpPr/>
          <p:nvPr/>
        </p:nvSpPr>
        <p:spPr>
          <a:xfrm>
            <a:off x="2887980" y="4124563"/>
            <a:ext cx="144780" cy="121920"/>
          </a:xfrm>
          <a:prstGeom prst="rect">
            <a:avLst/>
          </a:prstGeom>
          <a:solidFill>
            <a:srgbClr val="FFFFFF">
              <a:alpha val="0"/>
            </a:srgbClr>
          </a:solidFill>
          <a:ln w="12700">
            <a:solidFill>
              <a:srgbClr val="FFFFFF">
                <a:alpha val="0"/>
              </a:srgbClr>
            </a:solidFill>
            <a:prstDash val="solid"/>
          </a:ln>
        </p:spPr>
      </p:sp>
      <p:sp>
        <p:nvSpPr>
          <p:cNvPr id="6" name="Shape 3">
            <a:hlinkClick r:id="rId5" tooltip="llama.cpp ↗"/>
          </p:cNvPr>
          <p:cNvSpPr/>
          <p:nvPr/>
        </p:nvSpPr>
        <p:spPr>
          <a:xfrm>
            <a:off x="4348401" y="3425309"/>
            <a:ext cx="800100" cy="205740"/>
          </a:xfrm>
          <a:prstGeom prst="rect">
            <a:avLst/>
          </a:prstGeom>
          <a:solidFill>
            <a:srgbClr val="FFFFFF">
              <a:alpha val="0"/>
            </a:srgbClr>
          </a:solidFill>
          <a:ln w="12700">
            <a:solidFill>
              <a:srgbClr val="FFFFFF">
                <a:alpha val="0"/>
              </a:srgbClr>
            </a:solidFill>
            <a:prstDash val="solid"/>
          </a:ln>
        </p:spPr>
      </p:sp>
      <p:sp>
        <p:nvSpPr>
          <p:cNvPr id="7" name="Shape 4">
            <a:hlinkClick r:id="rId6" tooltip="Ollama ↗"/>
          </p:cNvPr>
          <p:cNvSpPr/>
          <p:nvPr/>
        </p:nvSpPr>
        <p:spPr>
          <a:xfrm>
            <a:off x="5316141" y="3425309"/>
            <a:ext cx="647700" cy="205740"/>
          </a:xfrm>
          <a:prstGeom prst="rect">
            <a:avLst/>
          </a:prstGeom>
          <a:solidFill>
            <a:srgbClr val="FFFFFF">
              <a:alpha val="0"/>
            </a:srgbClr>
          </a:solidFill>
          <a:ln w="12700">
            <a:solidFill>
              <a:srgbClr val="FFFFFF">
                <a:alpha val="0"/>
              </a:srgbClr>
            </a:solidFill>
            <a:prstDash val="solid"/>
          </a:ln>
        </p:spPr>
      </p:sp>
      <p:sp>
        <p:nvSpPr>
          <p:cNvPr id="8" name="Shape 5">
            <a:hlinkClick r:id="rId7" tooltip="How agent approvals work ↗"/>
          </p:cNvPr>
          <p:cNvSpPr/>
          <p:nvPr/>
        </p:nvSpPr>
        <p:spPr>
          <a:xfrm>
            <a:off x="8087320" y="3646051"/>
            <a:ext cx="3494961" cy="205740"/>
          </a:xfrm>
          <a:prstGeom prst="rect">
            <a:avLst/>
          </a:prstGeom>
          <a:solidFill>
            <a:srgbClr val="FFFFFF">
              <a:alpha val="0"/>
            </a:srgbClr>
          </a:solidFill>
          <a:ln w="12700">
            <a:solidFill>
              <a:srgbClr val="FFFFFF">
                <a:alpha val="0"/>
              </a:srgbClr>
            </a:solidFill>
            <a:prstDash val="solid"/>
          </a:ln>
        </p:spPr>
      </p:sp>
      <p:sp>
        <p:nvSpPr>
          <p:cNvPr id="9" name="Shape 6">
            <a:hlinkClick r:id="rId8" tooltip="[5]"/>
          </p:cNvPr>
          <p:cNvSpPr/>
          <p:nvPr/>
        </p:nvSpPr>
        <p:spPr>
          <a:xfrm>
            <a:off x="6476405" y="4692968"/>
            <a:ext cx="167640" cy="137160"/>
          </a:xfrm>
          <a:prstGeom prst="rect">
            <a:avLst/>
          </a:prstGeom>
          <a:solidFill>
            <a:srgbClr val="FFFFFF">
              <a:alpha val="0"/>
            </a:srgbClr>
          </a:solidFill>
          <a:ln w="12700">
            <a:solidFill>
              <a:srgbClr val="FFFFFF">
                <a:alpha val="0"/>
              </a:srgbClr>
            </a:solidFill>
            <a:prstDash val="solid"/>
          </a:ln>
        </p:spPr>
      </p:sp>
      <p:sp>
        <p:nvSpPr>
          <p:cNvPr id="10" name="Shape 7">
            <a:hlinkClick r:id="rId9" tooltip="[6]"/>
          </p:cNvPr>
          <p:cNvSpPr/>
          <p:nvPr/>
        </p:nvSpPr>
        <p:spPr>
          <a:xfrm>
            <a:off x="9349145" y="4692968"/>
            <a:ext cx="167640" cy="137160"/>
          </a:xfrm>
          <a:prstGeom prst="rect">
            <a:avLst/>
          </a:prstGeom>
          <a:solidFill>
            <a:srgbClr val="FFFFFF">
              <a:alpha val="0"/>
            </a:srgbClr>
          </a:solidFill>
          <a:ln w="12700">
            <a:solidFill>
              <a:srgbClr val="FFFFFF">
                <a:alpha val="0"/>
              </a:srgbClr>
            </a:solidFill>
            <a:prstDash val="solid"/>
          </a:ln>
        </p:spPr>
      </p:sp>
      <p:sp>
        <p:nvSpPr>
          <p:cNvPr id="11" name="Shape 8">
            <a:hlinkClick r:id="rId10" tooltip="[1] Purdue RCAC, GenAI Studio (Sept. 29) ↗"/>
          </p:cNvPr>
          <p:cNvSpPr/>
          <p:nvPr/>
        </p:nvSpPr>
        <p:spPr>
          <a:xfrm>
            <a:off x="1188720" y="6226373"/>
            <a:ext cx="2209800" cy="160020"/>
          </a:xfrm>
          <a:prstGeom prst="rect">
            <a:avLst/>
          </a:prstGeom>
          <a:solidFill>
            <a:srgbClr val="FFFFFF">
              <a:alpha val="0"/>
            </a:srgbClr>
          </a:solidFill>
          <a:ln w="12700">
            <a:solidFill>
              <a:srgbClr val="FFFFFF">
                <a:alpha val="0"/>
              </a:srgbClr>
            </a:solidFill>
            <a:prstDash val="solid"/>
          </a:ln>
        </p:spPr>
      </p:sp>
      <p:sp>
        <p:nvSpPr>
          <p:cNvPr id="12" name="Shape 9">
            <a:hlinkClick r:id="rId11" tooltip="[2] Purdue RCAC, API guide ↗"/>
          </p:cNvPr>
          <p:cNvSpPr/>
          <p:nvPr/>
        </p:nvSpPr>
        <p:spPr>
          <a:xfrm>
            <a:off x="3520440" y="6226373"/>
            <a:ext cx="1508760" cy="160020"/>
          </a:xfrm>
          <a:prstGeom prst="rect">
            <a:avLst/>
          </a:prstGeom>
          <a:solidFill>
            <a:srgbClr val="FFFFFF">
              <a:alpha val="0"/>
            </a:srgbClr>
          </a:solidFill>
          <a:ln w="12700">
            <a:solidFill>
              <a:srgbClr val="FFFFFF">
                <a:alpha val="0"/>
              </a:srgbClr>
            </a:solidFill>
            <a:prstDash val="solid"/>
          </a:ln>
        </p:spPr>
      </p:sp>
      <p:sp>
        <p:nvSpPr>
          <p:cNvPr id="13" name="Shape 10">
            <a:hlinkClick r:id="rId12" tooltip="[3] llama.cpp ↗"/>
          </p:cNvPr>
          <p:cNvSpPr/>
          <p:nvPr/>
        </p:nvSpPr>
        <p:spPr>
          <a:xfrm>
            <a:off x="5151120" y="6226373"/>
            <a:ext cx="739140" cy="160020"/>
          </a:xfrm>
          <a:prstGeom prst="rect">
            <a:avLst/>
          </a:prstGeom>
          <a:solidFill>
            <a:srgbClr val="FFFFFF">
              <a:alpha val="0"/>
            </a:srgbClr>
          </a:solidFill>
          <a:ln w="12700">
            <a:solidFill>
              <a:srgbClr val="FFFFFF">
                <a:alpha val="0"/>
              </a:srgbClr>
            </a:solidFill>
            <a:prstDash val="solid"/>
          </a:ln>
        </p:spPr>
      </p:sp>
      <p:sp>
        <p:nvSpPr>
          <p:cNvPr id="14" name="Shape 11">
            <a:hlinkClick r:id="rId13" tooltip="[4] Codex approvals &amp; security ↗"/>
          </p:cNvPr>
          <p:cNvSpPr/>
          <p:nvPr/>
        </p:nvSpPr>
        <p:spPr>
          <a:xfrm>
            <a:off x="6012180" y="6226373"/>
            <a:ext cx="1661160" cy="160020"/>
          </a:xfrm>
          <a:prstGeom prst="rect">
            <a:avLst/>
          </a:prstGeom>
          <a:solidFill>
            <a:srgbClr val="FFFFFF">
              <a:alpha val="0"/>
            </a:srgbClr>
          </a:solidFill>
          <a:ln w="12700">
            <a:solidFill>
              <a:srgbClr val="FFFFFF">
                <a:alpha val="0"/>
              </a:srgbClr>
            </a:solidFill>
            <a:prstDash val="solid"/>
          </a:ln>
        </p:spPr>
      </p:sp>
      <p:sp>
        <p:nvSpPr>
          <p:cNvPr id="15" name="Shape 12">
            <a:hlinkClick r:id="rId14" tooltip="[5] Purdue Science, CS/SCI 173 ↗"/>
          </p:cNvPr>
          <p:cNvSpPr/>
          <p:nvPr/>
        </p:nvSpPr>
        <p:spPr>
          <a:xfrm>
            <a:off x="7795260" y="6226373"/>
            <a:ext cx="1691640" cy="160020"/>
          </a:xfrm>
          <a:prstGeom prst="rect">
            <a:avLst/>
          </a:prstGeom>
          <a:solidFill>
            <a:srgbClr val="FFFFFF">
              <a:alpha val="0"/>
            </a:srgbClr>
          </a:solidFill>
          <a:ln w="12700">
            <a:solidFill>
              <a:srgbClr val="FFFFFF">
                <a:alpha val="0"/>
              </a:srgbClr>
            </a:solidFill>
            <a:prstDash val="solid"/>
          </a:ln>
        </p:spPr>
      </p:sp>
      <p:sp>
        <p:nvSpPr>
          <p:cNvPr id="16" name="Shape 13">
            <a:hlinkClick r:id="rId15" tooltip="[6] Computational Data Science, Ch. 6 ↗"/>
          </p:cNvPr>
          <p:cNvSpPr/>
          <p:nvPr/>
        </p:nvSpPr>
        <p:spPr>
          <a:xfrm>
            <a:off x="609600" y="6401633"/>
            <a:ext cx="20345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uild something people can use. Learn as it grows.">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1694406" y="3644146"/>
            <a:ext cx="198120" cy="152400"/>
          </a:xfrm>
          <a:prstGeom prst="rect">
            <a:avLst/>
          </a:prstGeom>
          <a:solidFill>
            <a:srgbClr val="FFFFFF">
              <a:alpha val="0"/>
            </a:srgbClr>
          </a:solidFill>
          <a:ln w="12700">
            <a:solidFill>
              <a:srgbClr val="FFFFFF">
                <a:alpha val="0"/>
              </a:srgbClr>
            </a:solidFill>
            <a:prstDash val="solid"/>
          </a:ln>
        </p:spPr>
      </p:sp>
      <p:sp>
        <p:nvSpPr>
          <p:cNvPr id="4" name="Shape 1">
            <a:hlinkClick r:id="rId3" tooltip="[1] Baseball Savant CSV fields ↗"/>
          </p:cNvPr>
          <p:cNvSpPr/>
          <p:nvPr/>
        </p:nvSpPr>
        <p:spPr>
          <a:xfrm>
            <a:off x="1188720" y="6401633"/>
            <a:ext cx="161544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You do the thinking; let AI support your growth at Purdue.">    </p:cNvPr>
          <p:cNvPicPr>
            <a:picLocks noChangeAspect="1"/>
          </p:cNvPicPr>
          <p:nvPr/>
        </p:nvPicPr>
        <p:blipFill>
          <a:blip r:embed="rId1"/>
          <a:stretch>
            <a:fillRect/>
          </a:stretch>
        </p:blipFill>
        <p:spPr>
          <a:xfrm>
            <a:off x="0" y="0"/>
            <a:ext cx="12192000" cy="6858000"/>
          </a:xfrm>
          <a:prstGeom prst="rect">
            <a:avLst/>
          </a:prstGeom>
        </p:spPr>
      </p:pic>
      <p:sp>
        <p:nvSpPr>
          <p:cNvPr id="3" name="Shape 0">
            <a:hlinkClick r:id="rId2" tooltip="[1]"/>
          </p:cNvPr>
          <p:cNvSpPr/>
          <p:nvPr/>
        </p:nvSpPr>
        <p:spPr>
          <a:xfrm>
            <a:off x="5692140" y="4524137"/>
            <a:ext cx="167640" cy="137160"/>
          </a:xfrm>
          <a:prstGeom prst="rect">
            <a:avLst/>
          </a:prstGeom>
          <a:solidFill>
            <a:srgbClr val="FFFFFF">
              <a:alpha val="0"/>
            </a:srgbClr>
          </a:solidFill>
          <a:ln w="12700">
            <a:solidFill>
              <a:srgbClr val="FFFFFF">
                <a:alpha val="0"/>
              </a:srgbClr>
            </a:solidFill>
            <a:prstDash val="solid"/>
          </a:ln>
        </p:spPr>
      </p:sp>
      <p:sp>
        <p:nvSpPr>
          <p:cNvPr id="4" name="Shape 1">
            <a:hlinkClick r:id="rId3" tooltip="[2]"/>
          </p:cNvPr>
          <p:cNvSpPr/>
          <p:nvPr/>
        </p:nvSpPr>
        <p:spPr>
          <a:xfrm>
            <a:off x="2537460" y="4705469"/>
            <a:ext cx="167640" cy="137160"/>
          </a:xfrm>
          <a:prstGeom prst="rect">
            <a:avLst/>
          </a:prstGeom>
          <a:solidFill>
            <a:srgbClr val="FFFFFF">
              <a:alpha val="0"/>
            </a:srgbClr>
          </a:solidFill>
          <a:ln w="12700">
            <a:solidFill>
              <a:srgbClr val="FFFFFF">
                <a:alpha val="0"/>
              </a:srgbClr>
            </a:solidFill>
            <a:prstDash val="solid"/>
          </a:ln>
        </p:spPr>
      </p:sp>
      <p:sp>
        <p:nvSpPr>
          <p:cNvPr id="5" name="Shape 2">
            <a:hlinkClick r:id="rId4" tooltip="[1] Sinha &amp; Kapur (2021) ↗"/>
          </p:cNvPr>
          <p:cNvSpPr/>
          <p:nvPr/>
        </p:nvSpPr>
        <p:spPr>
          <a:xfrm>
            <a:off x="1188720" y="6401633"/>
            <a:ext cx="1356360" cy="160020"/>
          </a:xfrm>
          <a:prstGeom prst="rect">
            <a:avLst/>
          </a:prstGeom>
          <a:solidFill>
            <a:srgbClr val="FFFFFF">
              <a:alpha val="0"/>
            </a:srgbClr>
          </a:solidFill>
          <a:ln w="12700">
            <a:solidFill>
              <a:srgbClr val="FFFFFF">
                <a:alpha val="0"/>
              </a:srgbClr>
            </a:solidFill>
            <a:prstDash val="solid"/>
          </a:ln>
        </p:spPr>
      </p:sp>
      <p:sp>
        <p:nvSpPr>
          <p:cNvPr id="6" name="Shape 3">
            <a:hlinkClick r:id="rId5" tooltip="[2] Strömberg et al. (2026) ↗"/>
          </p:cNvPr>
          <p:cNvSpPr/>
          <p:nvPr/>
        </p:nvSpPr>
        <p:spPr>
          <a:xfrm>
            <a:off x="2667000" y="6401633"/>
            <a:ext cx="1455420" cy="160020"/>
          </a:xfrm>
          <a:prstGeom prst="rect">
            <a:avLst/>
          </a:prstGeom>
          <a:solidFill>
            <a:srgbClr val="FFFFFF">
              <a:alpha val="0"/>
            </a:srgbClr>
          </a:solidFill>
          <a:ln w="12700">
            <a:solidFill>
              <a:srgbClr val="FFFFFF">
                <a:alpha val="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Using AI appropriately throughout your Purdue education</dc:title>
  <dc:subject>Match AI use to the learning goal, demonstrated understanding, and the rules of the setting throughout Purdue</dc:subject>
  <dc:creator>Purdue AI talk</dc:creator>
  <cp:lastModifiedBy>Purdue AI talk</cp:lastModifiedBy>
  <cp:revision>1</cp:revision>
  <dcterms:created xsi:type="dcterms:W3CDTF">2026-10-21T23:12:50Z</dcterms:created>
  <dcterms:modified xsi:type="dcterms:W3CDTF">2026-10-21T23:12:50Z</dcterms:modified>
</cp:coreProperties>
</file>